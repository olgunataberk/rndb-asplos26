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9.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handoutMasterIdLst>
    <p:handoutMasterId r:id="rId30"/>
  </p:handoutMasterIdLst>
  <p:sldIdLst>
    <p:sldId id="256" r:id="rId2"/>
    <p:sldId id="257" r:id="rId3"/>
    <p:sldId id="258" r:id="rId4"/>
    <p:sldId id="259" r:id="rId5"/>
    <p:sldId id="260" r:id="rId6"/>
    <p:sldId id="262" r:id="rId7"/>
    <p:sldId id="263" r:id="rId8"/>
    <p:sldId id="282" r:id="rId9"/>
    <p:sldId id="264" r:id="rId10"/>
    <p:sldId id="283" r:id="rId11"/>
    <p:sldId id="265" r:id="rId12"/>
    <p:sldId id="266" r:id="rId13"/>
    <p:sldId id="267" r:id="rId14"/>
    <p:sldId id="268" r:id="rId15"/>
    <p:sldId id="261" r:id="rId16"/>
    <p:sldId id="269" r:id="rId17"/>
    <p:sldId id="270" r:id="rId18"/>
    <p:sldId id="271" r:id="rId19"/>
    <p:sldId id="272" r:id="rId20"/>
    <p:sldId id="273" r:id="rId21"/>
    <p:sldId id="274" r:id="rId22"/>
    <p:sldId id="275" r:id="rId23"/>
    <p:sldId id="276" r:id="rId24"/>
    <p:sldId id="278" r:id="rId25"/>
    <p:sldId id="279" r:id="rId26"/>
    <p:sldId id="277" r:id="rId27"/>
    <p:sldId id="280"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84658" autoAdjust="0"/>
  </p:normalViewPr>
  <p:slideViewPr>
    <p:cSldViewPr snapToGrid="0" snapToObjects="1">
      <p:cViewPr varScale="1">
        <p:scale>
          <a:sx n="136" d="100"/>
          <a:sy n="136" d="100"/>
        </p:scale>
        <p:origin x="14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ASR (%)</c:v>
                </c:pt>
              </c:strCache>
            </c:strRef>
          </c:tx>
          <c:spPr>
            <a:solidFill>
              <a:srgbClr val="F59E0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HK" sz="900" b="0" i="0" u="none" strike="noStrike" kern="1200" baseline="0">
                    <a:solidFill>
                      <a:srgbClr val="FFFFFF"/>
                    </a:solidFill>
                    <a:latin typeface="Arial"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ResNet-20</c:v>
                </c:pt>
                <c:pt idx="1">
                  <c:v>ResNet-32</c:v>
                </c:pt>
                <c:pt idx="2">
                  <c:v>ResNet-44</c:v>
                </c:pt>
                <c:pt idx="3">
                  <c:v>ResNet-56</c:v>
                </c:pt>
                <c:pt idx="4">
                  <c:v>MobileNetV2</c:v>
                </c:pt>
                <c:pt idx="5">
                  <c:v>ShuffleNetV2</c:v>
                </c:pt>
              </c:strCache>
            </c:strRef>
          </c:cat>
          <c:val>
            <c:numRef>
              <c:f>Sheet1!$B$2:$B$7</c:f>
              <c:numCache>
                <c:formatCode>General</c:formatCode>
                <c:ptCount val="6"/>
                <c:pt idx="0">
                  <c:v>99.07</c:v>
                </c:pt>
                <c:pt idx="1">
                  <c:v>98.13</c:v>
                </c:pt>
                <c:pt idx="2">
                  <c:v>97.27</c:v>
                </c:pt>
                <c:pt idx="3">
                  <c:v>99.17</c:v>
                </c:pt>
                <c:pt idx="4">
                  <c:v>92.19</c:v>
                </c:pt>
                <c:pt idx="5">
                  <c:v>99.65</c:v>
                </c:pt>
              </c:numCache>
            </c:numRef>
          </c:val>
          <c:extLst>
            <c:ext xmlns:c16="http://schemas.microsoft.com/office/drawing/2014/chart" uri="{C3380CC4-5D6E-409C-BE32-E72D297353CC}">
              <c16:uniqueId val="{00000000-1BCA-4A9A-8E5F-EAFDDDA75D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max val="100"/>
          <c:min val="85"/>
        </c:scaling>
        <c:delete val="0"/>
        <c:axPos val="b"/>
        <c:majorGridlines>
          <c:spPr>
            <a:ln w="6350" cap="flat" cmpd="sng" algn="ctr">
              <a:solidFill>
                <a:srgbClr val="1E3A5F"/>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d16f52c6-921a-49db-b693-5449cb0d0a7e}"/>
      </c:ext>
    </c:extLst>
  </c:chart>
  <c:spPr>
    <a:solidFill>
      <a:srgbClr val="162035"/>
    </a:solidFill>
    <a:ln>
      <a:noFill/>
    </a:ln>
    <a:effectLst/>
  </c:spPr>
  <c:txPr>
    <a:bodyPr/>
    <a:lstStyle/>
    <a:p>
      <a:pPr>
        <a:defRPr lang="zh-HK"/>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 Attack</c:v>
                </c:pt>
              </c:strCache>
            </c:strRef>
          </c:tx>
          <c:spPr>
            <a:solidFill>
              <a:srgbClr val="06B6D4"/>
            </a:solidFill>
            <a:effectLst/>
          </c:spPr>
          <c:invertIfNegative val="0"/>
          <c:cat>
            <c:strRef>
              <c:f>Sheet1!$A$2:$A$7</c:f>
              <c:strCache>
                <c:ptCount val="6"/>
                <c:pt idx="0">
                  <c:v>RN-20</c:v>
                </c:pt>
                <c:pt idx="1">
                  <c:v>RN-32</c:v>
                </c:pt>
                <c:pt idx="2">
                  <c:v>RN-44</c:v>
                </c:pt>
                <c:pt idx="3">
                  <c:v>RN-56</c:v>
                </c:pt>
                <c:pt idx="4">
                  <c:v>MNV2</c:v>
                </c:pt>
                <c:pt idx="5">
                  <c:v>SNV2</c:v>
                </c:pt>
              </c:strCache>
            </c:strRef>
          </c:cat>
          <c:val>
            <c:numRef>
              <c:f>Sheet1!$B$2:$B$7</c:f>
              <c:numCache>
                <c:formatCode>General</c:formatCode>
                <c:ptCount val="6"/>
                <c:pt idx="0">
                  <c:v>62.79</c:v>
                </c:pt>
                <c:pt idx="1">
                  <c:v>65.239999999999995</c:v>
                </c:pt>
                <c:pt idx="2">
                  <c:v>68.099999999999994</c:v>
                </c:pt>
                <c:pt idx="3">
                  <c:v>67.37</c:v>
                </c:pt>
                <c:pt idx="4">
                  <c:v>64.8</c:v>
                </c:pt>
                <c:pt idx="5">
                  <c:v>59.95</c:v>
                </c:pt>
              </c:numCache>
            </c:numRef>
          </c:val>
          <c:extLst>
            <c:ext xmlns:c16="http://schemas.microsoft.com/office/drawing/2014/chart" uri="{C3380CC4-5D6E-409C-BE32-E72D297353CC}">
              <c16:uniqueId val="{00000000-10DE-48B3-8BCB-8FAE2A763CEE}"/>
            </c:ext>
          </c:extLst>
        </c:ser>
        <c:ser>
          <c:idx val="1"/>
          <c:order val="1"/>
          <c:tx>
            <c:strRef>
              <c:f>Sheet1!$C$1</c:f>
              <c:strCache>
                <c:ptCount val="1"/>
                <c:pt idx="0">
                  <c:v>After Attack</c:v>
                </c:pt>
              </c:strCache>
            </c:strRef>
          </c:tx>
          <c:spPr>
            <a:solidFill>
              <a:srgbClr val="1E3A5F"/>
            </a:solidFill>
            <a:effectLst/>
          </c:spPr>
          <c:invertIfNegative val="0"/>
          <c:cat>
            <c:strRef>
              <c:f>Sheet1!$A$2:$A$7</c:f>
              <c:strCache>
                <c:ptCount val="6"/>
                <c:pt idx="0">
                  <c:v>RN-20</c:v>
                </c:pt>
                <c:pt idx="1">
                  <c:v>RN-32</c:v>
                </c:pt>
                <c:pt idx="2">
                  <c:v>RN-44</c:v>
                </c:pt>
                <c:pt idx="3">
                  <c:v>RN-56</c:v>
                </c:pt>
                <c:pt idx="4">
                  <c:v>MNV2</c:v>
                </c:pt>
                <c:pt idx="5">
                  <c:v>SNV2</c:v>
                </c:pt>
              </c:strCache>
            </c:strRef>
          </c:cat>
          <c:val>
            <c:numRef>
              <c:f>Sheet1!$C$2:$C$7</c:f>
              <c:numCache>
                <c:formatCode>General</c:formatCode>
                <c:ptCount val="6"/>
                <c:pt idx="0">
                  <c:v>61.95</c:v>
                </c:pt>
                <c:pt idx="1">
                  <c:v>64.349999999999994</c:v>
                </c:pt>
                <c:pt idx="2">
                  <c:v>67.930000000000007</c:v>
                </c:pt>
                <c:pt idx="3">
                  <c:v>67.41</c:v>
                </c:pt>
                <c:pt idx="4">
                  <c:v>64.06</c:v>
                </c:pt>
                <c:pt idx="5">
                  <c:v>58.27</c:v>
                </c:pt>
              </c:numCache>
            </c:numRef>
          </c:val>
          <c:extLst>
            <c:ext xmlns:c16="http://schemas.microsoft.com/office/drawing/2014/chart" uri="{C3380CC4-5D6E-409C-BE32-E72D297353CC}">
              <c16:uniqueId val="{00000001-10DE-48B3-8BCB-8FAE2A763CE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min val="50"/>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legend>
      <c:legendPos val="t"/>
      <c:overlay val="0"/>
      <c:txPr>
        <a:bodyPr rot="0" spcFirstLastPara="0" vertOverflow="ellipsis" vert="horz" wrap="square" anchor="ctr" anchorCtr="1"/>
        <a:lstStyle/>
        <a:p>
          <a:pPr>
            <a:defRPr lang="zh-HK" sz="900" b="0" i="0" u="none" strike="noStrike" kern="1200" baseline="0">
              <a:solidFill>
                <a:srgbClr val="E2E8F0"/>
              </a:solidFill>
              <a:latin typeface="+mn-lt"/>
              <a:ea typeface="+mn-ea"/>
              <a:cs typeface="+mn-cs"/>
            </a:defRPr>
          </a:pPr>
          <a:endParaRPr lang="en-US"/>
        </a:p>
      </c:txPr>
    </c:legend>
    <c:plotVisOnly val="1"/>
    <c:dispBlanksAs val="span"/>
    <c:showDLblsOverMax val="1"/>
    <c:extLst>
      <c:ext uri="{0b15fc19-7d7d-44ad-8c2d-2c3a37ce22c3}">
        <chartProps xmlns="https://web.wps.cn/et/2018/main" chartId="{26441685-65b7-4e22-83b2-775cb3b24bfd}"/>
      </c:ext>
    </c:extLst>
  </c:chart>
  <c:spPr>
    <a:solidFill>
      <a:srgbClr val="162035"/>
    </a:solidFill>
    <a:ln>
      <a:noFill/>
    </a:ln>
    <a:effectLst/>
  </c:spPr>
  <c:txPr>
    <a:bodyPr/>
    <a:lstStyle/>
    <a:p>
      <a:pPr>
        <a:defRPr lang="zh-HK"/>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ASR (%)</c:v>
                </c:pt>
              </c:strCache>
            </c:strRef>
          </c:tx>
          <c:spPr>
            <a:solidFill>
              <a:srgbClr val="3B82F6"/>
            </a:solidFill>
            <a:effectLst/>
          </c:spPr>
          <c:invertIfNegative val="0"/>
          <c:cat>
            <c:strRef>
              <c:f>Sheet1!$A$2:$A$4</c:f>
              <c:strCache>
                <c:ptCount val="3"/>
                <c:pt idx="0">
                  <c:v>TBT</c:v>
                </c:pt>
                <c:pt idx="1">
                  <c:v>ProFlip</c:v>
                </c:pt>
                <c:pt idx="2">
                  <c:v>Deep-TROJ</c:v>
                </c:pt>
              </c:strCache>
            </c:strRef>
          </c:cat>
          <c:val>
            <c:numRef>
              <c:f>Sheet1!$B$2:$B$4</c:f>
              <c:numCache>
                <c:formatCode>General</c:formatCode>
                <c:ptCount val="3"/>
                <c:pt idx="0">
                  <c:v>93.41</c:v>
                </c:pt>
                <c:pt idx="1">
                  <c:v>97.9</c:v>
                </c:pt>
                <c:pt idx="2">
                  <c:v>99.63</c:v>
                </c:pt>
              </c:numCache>
            </c:numRef>
          </c:val>
          <c:extLst>
            <c:ext xmlns:c16="http://schemas.microsoft.com/office/drawing/2014/chart" uri="{C3380CC4-5D6E-409C-BE32-E72D297353CC}">
              <c16:uniqueId val="{00000000-D126-4ED1-BA6E-FE9FA50316C8}"/>
            </c:ext>
          </c:extLst>
        </c:ser>
        <c:ser>
          <c:idx val="1"/>
          <c:order val="1"/>
          <c:tx>
            <c:strRef>
              <c:f>Sheet1!$C$1</c:f>
              <c:strCache>
                <c:ptCount val="1"/>
                <c:pt idx="0">
                  <c:v>Iterations</c:v>
                </c:pt>
              </c:strCache>
            </c:strRef>
          </c:tx>
          <c:spPr>
            <a:solidFill>
              <a:srgbClr val="F59E0B"/>
            </a:solidFill>
            <a:effectLst/>
          </c:spPr>
          <c:invertIfNegative val="0"/>
          <c:cat>
            <c:strRef>
              <c:f>Sheet1!$A$2:$A$4</c:f>
              <c:strCache>
                <c:ptCount val="3"/>
                <c:pt idx="0">
                  <c:v>TBT</c:v>
                </c:pt>
                <c:pt idx="1">
                  <c:v>ProFlip</c:v>
                </c:pt>
                <c:pt idx="2">
                  <c:v>Deep-TROJ</c:v>
                </c:pt>
              </c:strCache>
            </c:strRef>
          </c:cat>
          <c:val>
            <c:numRef>
              <c:f>Sheet1!$C$2:$C$4</c:f>
              <c:numCache>
                <c:formatCode>General</c:formatCode>
                <c:ptCount val="3"/>
                <c:pt idx="0">
                  <c:v>413</c:v>
                </c:pt>
                <c:pt idx="1">
                  <c:v>12</c:v>
                </c:pt>
                <c:pt idx="2">
                  <c:v>5</c:v>
                </c:pt>
              </c:numCache>
            </c:numRef>
          </c:val>
          <c:extLst>
            <c:ext xmlns:c16="http://schemas.microsoft.com/office/drawing/2014/chart" uri="{C3380CC4-5D6E-409C-BE32-E72D297353CC}">
              <c16:uniqueId val="{00000001-D126-4ED1-BA6E-FE9FA50316C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legend>
      <c:legendPos val="t"/>
      <c:overlay val="0"/>
      <c:txPr>
        <a:bodyPr rot="0" spcFirstLastPara="0" vertOverflow="ellipsis" vert="horz" wrap="square" anchor="ctr" anchorCtr="1"/>
        <a:lstStyle/>
        <a:p>
          <a:pPr>
            <a:defRPr lang="zh-HK" sz="900" b="0" i="0" u="none" strike="noStrike" kern="1200" baseline="0">
              <a:solidFill>
                <a:srgbClr val="E2E8F0"/>
              </a:solidFill>
              <a:latin typeface="+mn-lt"/>
              <a:ea typeface="+mn-ea"/>
              <a:cs typeface="+mn-cs"/>
            </a:defRPr>
          </a:pPr>
          <a:endParaRPr lang="en-US"/>
        </a:p>
      </c:txPr>
    </c:legend>
    <c:plotVisOnly val="1"/>
    <c:dispBlanksAs val="span"/>
    <c:showDLblsOverMax val="1"/>
    <c:extLst>
      <c:ext uri="{0b15fc19-7d7d-44ad-8c2d-2c3a37ce22c3}">
        <chartProps xmlns="https://web.wps.cn/et/2018/main" chartId="{d0f35776-7a01-438c-814e-23b61afedda5}"/>
      </c:ext>
    </c:extLst>
  </c:chart>
  <c:spPr>
    <a:solidFill>
      <a:srgbClr val="162035"/>
    </a:solidFill>
    <a:ln>
      <a:noFill/>
    </a:ln>
    <a:effectLst/>
  </c:spPr>
  <c:txPr>
    <a:bodyPr/>
    <a:lstStyle/>
    <a:p>
      <a:pPr>
        <a:defRPr lang="zh-HK"/>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ASR (%)</c:v>
                </c:pt>
              </c:strCache>
            </c:strRef>
          </c:tx>
          <c:spPr>
            <a:solidFill>
              <a:srgbClr val="8B5CF6"/>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HK" sz="900" b="0" i="0" u="none" strike="noStrike" kern="1200" baseline="0">
                    <a:solidFill>
                      <a:srgbClr val="FFFFFF"/>
                    </a:solidFill>
                    <a:latin typeface="Arial"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TBT</c:v>
                </c:pt>
                <c:pt idx="1">
                  <c:v>ProFlip</c:v>
                </c:pt>
                <c:pt idx="2">
                  <c:v>TrojViT</c:v>
                </c:pt>
                <c:pt idx="3">
                  <c:v>Deep-TROJ</c:v>
                </c:pt>
              </c:strCache>
            </c:strRef>
          </c:cat>
          <c:val>
            <c:numRef>
              <c:f>Sheet1!$B$2:$B$5</c:f>
              <c:numCache>
                <c:formatCode>General</c:formatCode>
                <c:ptCount val="4"/>
                <c:pt idx="0">
                  <c:v>94.69</c:v>
                </c:pt>
                <c:pt idx="1">
                  <c:v>95.87</c:v>
                </c:pt>
                <c:pt idx="2">
                  <c:v>99.96</c:v>
                </c:pt>
                <c:pt idx="3">
                  <c:v>100</c:v>
                </c:pt>
              </c:numCache>
            </c:numRef>
          </c:val>
          <c:extLst>
            <c:ext xmlns:c16="http://schemas.microsoft.com/office/drawing/2014/chart" uri="{C3380CC4-5D6E-409C-BE32-E72D297353CC}">
              <c16:uniqueId val="{00000000-9C86-4BDB-B583-45C20EAD7C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min val="93"/>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b657b277-46da-4476-adf7-132e6dfa7e76}"/>
      </c:ext>
    </c:extLst>
  </c:chart>
  <c:spPr>
    <a:solidFill>
      <a:srgbClr val="162035"/>
    </a:solidFill>
    <a:ln>
      <a:noFill/>
    </a:ln>
    <a:effectLst/>
  </c:spPr>
  <c:txPr>
    <a:bodyPr/>
    <a:lstStyle/>
    <a:p>
      <a:pPr>
        <a:defRPr lang="zh-HK"/>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ASR (%)</c:v>
                </c:pt>
              </c:strCache>
            </c:strRef>
          </c:tx>
          <c:spPr>
            <a:ln w="3175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dLbls>
            <c:numFmt formatCode="#,##0" sourceLinked="0"/>
            <c:spPr>
              <a:noFill/>
              <a:ln>
                <a:noFill/>
              </a:ln>
              <a:effectLst/>
            </c:spPr>
            <c:txPr>
              <a:bodyPr rot="0" spcFirstLastPara="0" vertOverflow="ellipsis" vert="horz" wrap="square" lIns="38100" tIns="19050" rIns="38100" bIns="19050" anchor="ctr" anchorCtr="1"/>
              <a:lstStyle/>
              <a:p>
                <a:pPr>
                  <a:defRPr lang="zh-HK" sz="1000" b="0" i="0" u="none" strike="noStrike" kern="1200" baseline="0">
                    <a:solidFill>
                      <a:srgbClr val="FFFFFF"/>
                    </a:solidFill>
                    <a:latin typeface="Arial" panose="020B0604020202020204"/>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7.91%</c:v>
                </c:pt>
                <c:pt idx="1">
                  <c:v>9.77%</c:v>
                </c:pt>
                <c:pt idx="2">
                  <c:v>11.82%</c:v>
                </c:pt>
                <c:pt idx="3">
                  <c:v>14.06%</c:v>
                </c:pt>
              </c:strCache>
            </c:strRef>
          </c:cat>
          <c:val>
            <c:numRef>
              <c:f>Sheet1!$B$2:$B$5</c:f>
              <c:numCache>
                <c:formatCode>General</c:formatCode>
                <c:ptCount val="4"/>
                <c:pt idx="0">
                  <c:v>91.29</c:v>
                </c:pt>
                <c:pt idx="1">
                  <c:v>95.16</c:v>
                </c:pt>
                <c:pt idx="2">
                  <c:v>97.96</c:v>
                </c:pt>
                <c:pt idx="3">
                  <c:v>99.07</c:v>
                </c:pt>
              </c:numCache>
            </c:numRef>
          </c:val>
          <c:smooth val="1"/>
          <c:extLst>
            <c:ext xmlns:c16="http://schemas.microsoft.com/office/drawing/2014/chart" uri="{C3380CC4-5D6E-409C-BE32-E72D297353CC}">
              <c16:uniqueId val="{00000000-3899-4AA7-B69F-E614399434F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max val="100"/>
          <c:min val="88"/>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cd58f49c-385b-4caa-9945-e6b9e8cf8661}"/>
      </c:ext>
    </c:extLst>
  </c:chart>
  <c:spPr>
    <a:solidFill>
      <a:srgbClr val="162035"/>
    </a:solidFill>
    <a:ln>
      <a:noFill/>
    </a:ln>
    <a:effectLst/>
  </c:spPr>
  <c:txPr>
    <a:bodyPr/>
    <a:lstStyle/>
    <a:p>
      <a:pPr>
        <a:defRPr lang="zh-HK"/>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ASR (%)</c:v>
                </c:pt>
              </c:strCache>
            </c:strRef>
          </c:tx>
          <c:spPr>
            <a:ln w="31750" cap="flat" cmpd="sng" algn="ctr">
              <a:solidFill>
                <a:srgbClr val="06B6D4"/>
              </a:solidFill>
              <a:prstDash val="solid"/>
              <a:round/>
            </a:ln>
            <a:effectLst/>
          </c:spPr>
          <c:marker>
            <c:symbol val="circle"/>
            <c:size val="6"/>
            <c:spPr>
              <a:solidFill>
                <a:srgbClr val="06B6D4"/>
              </a:solidFill>
              <a:ln w="9525" cap="flat" cmpd="sng" algn="ctr">
                <a:solidFill>
                  <a:srgbClr val="06B6D4"/>
                </a:solidFill>
                <a:prstDash val="solid"/>
                <a:round/>
              </a:ln>
              <a:effectLst/>
            </c:spPr>
          </c:marker>
          <c:cat>
            <c:strRef>
              <c:f>Sheet1!$A$2:$A$7</c:f>
              <c:strCache>
                <c:ptCount val="6"/>
                <c:pt idx="0">
                  <c:v>1</c:v>
                </c:pt>
                <c:pt idx="1">
                  <c:v>5</c:v>
                </c:pt>
                <c:pt idx="2">
                  <c:v>10</c:v>
                </c:pt>
                <c:pt idx="3">
                  <c:v>20</c:v>
                </c:pt>
                <c:pt idx="4">
                  <c:v>30</c:v>
                </c:pt>
                <c:pt idx="5">
                  <c:v>50</c:v>
                </c:pt>
              </c:strCache>
            </c:strRef>
          </c:cat>
          <c:val>
            <c:numRef>
              <c:f>Sheet1!$B$2:$B$7</c:f>
              <c:numCache>
                <c:formatCode>General</c:formatCode>
                <c:ptCount val="6"/>
                <c:pt idx="0">
                  <c:v>62</c:v>
                </c:pt>
                <c:pt idx="1">
                  <c:v>99</c:v>
                </c:pt>
                <c:pt idx="2">
                  <c:v>99.5</c:v>
                </c:pt>
                <c:pt idx="3">
                  <c:v>99.8</c:v>
                </c:pt>
                <c:pt idx="4">
                  <c:v>99.9</c:v>
                </c:pt>
                <c:pt idx="5">
                  <c:v>100</c:v>
                </c:pt>
              </c:numCache>
            </c:numRef>
          </c:val>
          <c:smooth val="0"/>
          <c:extLst>
            <c:ext xmlns:c16="http://schemas.microsoft.com/office/drawing/2014/chart" uri="{C3380CC4-5D6E-409C-BE32-E72D297353CC}">
              <c16:uniqueId val="{00000000-274D-4A13-ADC2-0106C523981E}"/>
            </c:ext>
          </c:extLst>
        </c:ser>
        <c:ser>
          <c:idx val="1"/>
          <c:order val="1"/>
          <c:tx>
            <c:strRef>
              <c:f>Sheet1!$C$1</c:f>
              <c:strCache>
                <c:ptCount val="1"/>
                <c:pt idx="0">
                  <c:v>ACC (%)</c:v>
                </c:pt>
              </c:strCache>
            </c:strRef>
          </c:tx>
          <c:spPr>
            <a:ln w="31750" cap="flat" cmpd="sng" algn="ctr">
              <a:solidFill>
                <a:srgbClr val="EF4444"/>
              </a:solidFill>
              <a:prstDash val="solid"/>
              <a:round/>
            </a:ln>
            <a:effectLst/>
          </c:spPr>
          <c:marker>
            <c:symbol val="circle"/>
            <c:size val="6"/>
            <c:spPr>
              <a:solidFill>
                <a:srgbClr val="EF4444"/>
              </a:solidFill>
              <a:ln w="9525" cap="flat" cmpd="sng" algn="ctr">
                <a:solidFill>
                  <a:srgbClr val="EF4444"/>
                </a:solidFill>
                <a:prstDash val="solid"/>
                <a:round/>
              </a:ln>
              <a:effectLst/>
            </c:spPr>
          </c:marker>
          <c:cat>
            <c:strRef>
              <c:f>Sheet1!$A$2:$A$7</c:f>
              <c:strCache>
                <c:ptCount val="6"/>
                <c:pt idx="0">
                  <c:v>1</c:v>
                </c:pt>
                <c:pt idx="1">
                  <c:v>5</c:v>
                </c:pt>
                <c:pt idx="2">
                  <c:v>10</c:v>
                </c:pt>
                <c:pt idx="3">
                  <c:v>20</c:v>
                </c:pt>
                <c:pt idx="4">
                  <c:v>30</c:v>
                </c:pt>
                <c:pt idx="5">
                  <c:v>50</c:v>
                </c:pt>
              </c:strCache>
            </c:strRef>
          </c:cat>
          <c:val>
            <c:numRef>
              <c:f>Sheet1!$C$2:$C$7</c:f>
              <c:numCache>
                <c:formatCode>General</c:formatCode>
                <c:ptCount val="6"/>
                <c:pt idx="0">
                  <c:v>92.4</c:v>
                </c:pt>
                <c:pt idx="1">
                  <c:v>92.3</c:v>
                </c:pt>
                <c:pt idx="2">
                  <c:v>92</c:v>
                </c:pt>
                <c:pt idx="3">
                  <c:v>91.5</c:v>
                </c:pt>
                <c:pt idx="4">
                  <c:v>90.2</c:v>
                </c:pt>
                <c:pt idx="5">
                  <c:v>88.5</c:v>
                </c:pt>
              </c:numCache>
            </c:numRef>
          </c:val>
          <c:smooth val="0"/>
          <c:extLst>
            <c:ext xmlns:c16="http://schemas.microsoft.com/office/drawing/2014/chart" uri="{C3380CC4-5D6E-409C-BE32-E72D297353CC}">
              <c16:uniqueId val="{00000001-274D-4A13-ADC2-0106C523981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legend>
      <c:legendPos val="b"/>
      <c:layout>
        <c:manualLayout>
          <c:xMode val="edge"/>
          <c:yMode val="edge"/>
          <c:x val="0.60119899785254105"/>
          <c:y val="1.5939910920225901E-2"/>
          <c:w val="0.39734923049391602"/>
          <c:h val="0.10653483655452201"/>
        </c:manualLayout>
      </c:layout>
      <c:overlay val="0"/>
      <c:txPr>
        <a:bodyPr rot="0" spcFirstLastPara="0" vertOverflow="ellipsis" vert="horz" wrap="square" anchor="ctr" anchorCtr="1"/>
        <a:lstStyle/>
        <a:p>
          <a:pPr>
            <a:defRPr lang="zh-HK" sz="900" b="0" i="0" u="none" strike="noStrike" kern="1200" baseline="0">
              <a:solidFill>
                <a:srgbClr val="E2E8F0"/>
              </a:solidFill>
              <a:latin typeface="+mn-lt"/>
              <a:ea typeface="+mn-ea"/>
              <a:cs typeface="+mn-cs"/>
            </a:defRPr>
          </a:pPr>
          <a:endParaRPr lang="en-US"/>
        </a:p>
      </c:txPr>
    </c:legend>
    <c:plotVisOnly val="1"/>
    <c:dispBlanksAs val="span"/>
    <c:showDLblsOverMax val="1"/>
    <c:extLst>
      <c:ext uri="{0b15fc19-7d7d-44ad-8c2d-2c3a37ce22c3}">
        <chartProps xmlns="https://web.wps.cn/et/2018/main" chartId="{c55da4a4-a657-4cc4-a746-98f2471ea9fc}"/>
      </c:ext>
    </c:extLst>
  </c:chart>
  <c:spPr>
    <a:solidFill>
      <a:srgbClr val="162035"/>
    </a:solidFill>
    <a:ln>
      <a:noFill/>
    </a:ln>
    <a:effectLst/>
  </c:spPr>
  <c:txPr>
    <a:bodyPr/>
    <a:lstStyle/>
    <a:p>
      <a:pPr>
        <a:defRPr lang="zh-HK"/>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ASR per Class</c:v>
                </c:pt>
              </c:strCache>
            </c:strRef>
          </c:tx>
          <c:spPr>
            <a:solidFill>
              <a:srgbClr val="8B5CF6"/>
            </a:solidFill>
            <a:effectLst/>
          </c:spPr>
          <c:invertIfNegative val="0"/>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99</c:v>
                </c:pt>
                <c:pt idx="1">
                  <c:v>100</c:v>
                </c:pt>
                <c:pt idx="2">
                  <c:v>98</c:v>
                </c:pt>
                <c:pt idx="3">
                  <c:v>99</c:v>
                </c:pt>
                <c:pt idx="4">
                  <c:v>100</c:v>
                </c:pt>
                <c:pt idx="5">
                  <c:v>97</c:v>
                </c:pt>
                <c:pt idx="6">
                  <c:v>99</c:v>
                </c:pt>
                <c:pt idx="7">
                  <c:v>100</c:v>
                </c:pt>
                <c:pt idx="8">
                  <c:v>85</c:v>
                </c:pt>
                <c:pt idx="9">
                  <c:v>100</c:v>
                </c:pt>
              </c:numCache>
            </c:numRef>
          </c:val>
          <c:extLst>
            <c:ext xmlns:c16="http://schemas.microsoft.com/office/drawing/2014/chart" uri="{C3380CC4-5D6E-409C-BE32-E72D297353CC}">
              <c16:uniqueId val="{00000000-CD2C-419B-858E-8F7ECA186C3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min val="80"/>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10b02273-d083-4818-9f94-4bde6e5c8465}"/>
      </c:ext>
    </c:extLst>
  </c:chart>
  <c:spPr>
    <a:solidFill>
      <a:srgbClr val="162035"/>
    </a:solidFill>
    <a:ln>
      <a:noFill/>
    </a:ln>
    <a:effectLst/>
  </c:spPr>
  <c:txPr>
    <a:bodyPr/>
    <a:lstStyle/>
    <a:p>
      <a:pPr>
        <a:defRPr lang="zh-HK"/>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 Target Blocks</c:v>
                </c:pt>
              </c:strCache>
            </c:strRef>
          </c:tx>
          <c:spPr>
            <a:solidFill>
              <a:srgbClr val="22C55E"/>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HK" sz="1100" b="0" i="0" u="none" strike="noStrike" kern="1200" baseline="0">
                    <a:solidFill>
                      <a:srgbClr val="FFFFFF"/>
                    </a:solidFill>
                    <a:latin typeface="Arial"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Layer 17</c:v>
                </c:pt>
                <c:pt idx="1">
                  <c:v>Layer 18</c:v>
                </c:pt>
                <c:pt idx="2">
                  <c:v>Layer 19</c:v>
                </c:pt>
              </c:strCache>
            </c:strRef>
          </c:cat>
          <c:val>
            <c:numRef>
              <c:f>Sheet1!$B$2:$B$4</c:f>
              <c:numCache>
                <c:formatCode>General</c:formatCode>
                <c:ptCount val="3"/>
                <c:pt idx="0">
                  <c:v>3</c:v>
                </c:pt>
                <c:pt idx="1">
                  <c:v>1</c:v>
                </c:pt>
                <c:pt idx="2">
                  <c:v>1</c:v>
                </c:pt>
              </c:numCache>
            </c:numRef>
          </c:val>
          <c:extLst>
            <c:ext xmlns:c16="http://schemas.microsoft.com/office/drawing/2014/chart" uri="{C3380CC4-5D6E-409C-BE32-E72D297353CC}">
              <c16:uniqueId val="{00000000-E737-4989-96F8-70DB7635271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179a9933-50d6-4b64-9987-58c862cb8df9}"/>
      </c:ext>
    </c:extLst>
  </c:chart>
  <c:spPr>
    <a:solidFill>
      <a:srgbClr val="162035"/>
    </a:solidFill>
    <a:ln>
      <a:noFill/>
    </a:ln>
    <a:effectLst/>
  </c:spPr>
  <c:txPr>
    <a:bodyPr/>
    <a:lstStyle/>
    <a:p>
      <a:pPr>
        <a:defRPr lang="zh-HK"/>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RowHammer (Hammer Counts)</c:v>
                </c:pt>
              </c:strCache>
            </c:strRef>
          </c:tx>
          <c:spPr>
            <a:ln w="3810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cat>
            <c:strRef>
              <c:f>Sheet1!$A$2:$A$10</c:f>
              <c:strCache>
                <c:ptCount val="9"/>
                <c:pt idx="0">
                  <c:v>100K</c:v>
                </c:pt>
                <c:pt idx="1">
                  <c:v>200K</c:v>
                </c:pt>
                <c:pt idx="2">
                  <c:v>300K</c:v>
                </c:pt>
                <c:pt idx="3">
                  <c:v>400K</c:v>
                </c:pt>
                <c:pt idx="4">
                  <c:v>500K</c:v>
                </c:pt>
                <c:pt idx="5">
                  <c:v>600K</c:v>
                </c:pt>
                <c:pt idx="6">
                  <c:v>700K</c:v>
                </c:pt>
                <c:pt idx="7">
                  <c:v>800K</c:v>
                </c:pt>
                <c:pt idx="8">
                  <c:v>900K</c:v>
                </c:pt>
              </c:strCache>
            </c:strRef>
          </c:cat>
          <c:val>
            <c:numRef>
              <c:f>Sheet1!$B$2:$B$10</c:f>
              <c:numCache>
                <c:formatCode>General</c:formatCode>
                <c:ptCount val="9"/>
                <c:pt idx="0">
                  <c:v>5</c:v>
                </c:pt>
                <c:pt idx="1">
                  <c:v>15</c:v>
                </c:pt>
                <c:pt idx="2">
                  <c:v>35</c:v>
                </c:pt>
                <c:pt idx="3">
                  <c:v>80</c:v>
                </c:pt>
                <c:pt idx="4">
                  <c:v>160</c:v>
                </c:pt>
                <c:pt idx="5">
                  <c:v>280</c:v>
                </c:pt>
                <c:pt idx="6">
                  <c:v>380</c:v>
                </c:pt>
                <c:pt idx="7">
                  <c:v>450</c:v>
                </c:pt>
                <c:pt idx="8">
                  <c:v>500</c:v>
                </c:pt>
              </c:numCache>
            </c:numRef>
          </c:val>
          <c:smooth val="1"/>
          <c:extLst>
            <c:ext xmlns:c16="http://schemas.microsoft.com/office/drawing/2014/chart" uri="{C3380CC4-5D6E-409C-BE32-E72D297353CC}">
              <c16:uniqueId val="{00000000-777A-48C7-90A3-803A50C90020}"/>
            </c:ext>
          </c:extLst>
        </c:ser>
        <c:ser>
          <c:idx val="1"/>
          <c:order val="1"/>
          <c:tx>
            <c:strRef>
              <c:f>Sheet1!$C$1</c:f>
              <c:strCache>
                <c:ptCount val="1"/>
                <c:pt idx="0">
                  <c:v>RowPress (Cycle Counts → equalized)</c:v>
                </c:pt>
              </c:strCache>
            </c:strRef>
          </c:tx>
          <c:spPr>
            <a:ln w="38100" cap="flat" cmpd="sng" algn="ctr">
              <a:solidFill>
                <a:srgbClr val="8B5CF6"/>
              </a:solidFill>
              <a:prstDash val="solid"/>
              <a:round/>
            </a:ln>
            <a:effectLst/>
          </c:spPr>
          <c:marker>
            <c:symbol val="circle"/>
            <c:size val="6"/>
            <c:spPr>
              <a:solidFill>
                <a:srgbClr val="8B5CF6"/>
              </a:solidFill>
              <a:ln w="9525" cap="flat" cmpd="sng" algn="ctr">
                <a:solidFill>
                  <a:srgbClr val="8B5CF6"/>
                </a:solidFill>
                <a:prstDash val="solid"/>
                <a:round/>
              </a:ln>
              <a:effectLst/>
            </c:spPr>
          </c:marker>
          <c:cat>
            <c:strRef>
              <c:f>Sheet1!$A$2:$A$10</c:f>
              <c:strCache>
                <c:ptCount val="9"/>
                <c:pt idx="0">
                  <c:v>100K</c:v>
                </c:pt>
                <c:pt idx="1">
                  <c:v>200K</c:v>
                </c:pt>
                <c:pt idx="2">
                  <c:v>300K</c:v>
                </c:pt>
                <c:pt idx="3">
                  <c:v>400K</c:v>
                </c:pt>
                <c:pt idx="4">
                  <c:v>500K</c:v>
                </c:pt>
                <c:pt idx="5">
                  <c:v>600K</c:v>
                </c:pt>
                <c:pt idx="6">
                  <c:v>700K</c:v>
                </c:pt>
                <c:pt idx="7">
                  <c:v>800K</c:v>
                </c:pt>
                <c:pt idx="8">
                  <c:v>900K</c:v>
                </c:pt>
              </c:strCache>
            </c:strRef>
          </c:cat>
          <c:val>
            <c:numRef>
              <c:f>Sheet1!$C$2:$C$10</c:f>
              <c:numCache>
                <c:formatCode>General</c:formatCode>
                <c:ptCount val="9"/>
                <c:pt idx="0">
                  <c:v>100</c:v>
                </c:pt>
                <c:pt idx="1">
                  <c:v>600</c:v>
                </c:pt>
                <c:pt idx="2">
                  <c:v>2000</c:v>
                </c:pt>
                <c:pt idx="3">
                  <c:v>4500</c:v>
                </c:pt>
                <c:pt idx="4">
                  <c:v>7000</c:v>
                </c:pt>
                <c:pt idx="5">
                  <c:v>8800</c:v>
                </c:pt>
                <c:pt idx="6">
                  <c:v>10000</c:v>
                </c:pt>
                <c:pt idx="7">
                  <c:v>11200</c:v>
                </c:pt>
                <c:pt idx="8">
                  <c:v>12000</c:v>
                </c:pt>
              </c:numCache>
            </c:numRef>
          </c:val>
          <c:smooth val="1"/>
          <c:extLst>
            <c:ext xmlns:c16="http://schemas.microsoft.com/office/drawing/2014/chart" uri="{C3380CC4-5D6E-409C-BE32-E72D297353CC}">
              <c16:uniqueId val="{00000001-777A-48C7-90A3-803A50C9002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legend>
      <c:legendPos val="t"/>
      <c:overlay val="0"/>
      <c:txPr>
        <a:bodyPr rot="0" spcFirstLastPara="0" vertOverflow="ellipsis" vert="horz" wrap="square" anchor="ctr" anchorCtr="1"/>
        <a:lstStyle/>
        <a:p>
          <a:pPr>
            <a:defRPr lang="zh-HK" sz="900" b="0" i="0" u="none" strike="noStrike" kern="1200" baseline="0">
              <a:solidFill>
                <a:srgbClr val="E2E8F0"/>
              </a:solidFill>
              <a:latin typeface="+mn-lt"/>
              <a:ea typeface="+mn-ea"/>
              <a:cs typeface="+mn-cs"/>
            </a:defRPr>
          </a:pPr>
          <a:endParaRPr lang="en-US"/>
        </a:p>
      </c:txPr>
    </c:legend>
    <c:plotVisOnly val="1"/>
    <c:dispBlanksAs val="span"/>
    <c:showDLblsOverMax val="1"/>
    <c:extLst>
      <c:ext uri="{0b15fc19-7d7d-44ad-8c2d-2c3a37ce22c3}">
        <chartProps xmlns="https://web.wps.cn/et/2018/main" chartId="{abf8f447-1384-43cb-ae34-1ec370a10942}"/>
      </c:ext>
    </c:extLst>
  </c:chart>
  <c:spPr>
    <a:solidFill>
      <a:srgbClr val="162035"/>
    </a:solidFill>
    <a:ln>
      <a:noFill/>
    </a:ln>
    <a:effectLst/>
  </c:spPr>
  <c:txPr>
    <a:bodyPr/>
    <a:lstStyle/>
    <a:p>
      <a:pPr>
        <a:defRPr lang="zh-HK"/>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RH Attack</c:v>
                </c:pt>
              </c:strCache>
            </c:strRef>
          </c:tx>
          <c:spPr>
            <a:ln w="3175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cat>
            <c:strRef>
              <c:f>Sheet1!$A$2:$A$9</c:f>
              <c:strCache>
                <c:ptCount val="8"/>
                <c:pt idx="0">
                  <c:v>0</c:v>
                </c:pt>
                <c:pt idx="1">
                  <c:v>4</c:v>
                </c:pt>
                <c:pt idx="2">
                  <c:v>8</c:v>
                </c:pt>
                <c:pt idx="3">
                  <c:v>12</c:v>
                </c:pt>
                <c:pt idx="4">
                  <c:v>16</c:v>
                </c:pt>
                <c:pt idx="5">
                  <c:v>20</c:v>
                </c:pt>
                <c:pt idx="6">
                  <c:v>24</c:v>
                </c:pt>
                <c:pt idx="7">
                  <c:v>28</c:v>
                </c:pt>
              </c:strCache>
            </c:strRef>
          </c:cat>
          <c:val>
            <c:numRef>
              <c:f>Sheet1!$B$2:$B$9</c:f>
              <c:numCache>
                <c:formatCode>General</c:formatCode>
                <c:ptCount val="8"/>
                <c:pt idx="0">
                  <c:v>75</c:v>
                </c:pt>
                <c:pt idx="1">
                  <c:v>72</c:v>
                </c:pt>
                <c:pt idx="2">
                  <c:v>60</c:v>
                </c:pt>
                <c:pt idx="3">
                  <c:v>40</c:v>
                </c:pt>
                <c:pt idx="4">
                  <c:v>20</c:v>
                </c:pt>
                <c:pt idx="5">
                  <c:v>8</c:v>
                </c:pt>
                <c:pt idx="6">
                  <c:v>2</c:v>
                </c:pt>
                <c:pt idx="7">
                  <c:v>0.11</c:v>
                </c:pt>
              </c:numCache>
            </c:numRef>
          </c:val>
          <c:smooth val="1"/>
          <c:extLst>
            <c:ext xmlns:c16="http://schemas.microsoft.com/office/drawing/2014/chart" uri="{C3380CC4-5D6E-409C-BE32-E72D297353CC}">
              <c16:uniqueId val="{00000000-404B-4E69-ABED-F1B15E9DF5E5}"/>
            </c:ext>
          </c:extLst>
        </c:ser>
        <c:ser>
          <c:idx val="1"/>
          <c:order val="1"/>
          <c:tx>
            <c:strRef>
              <c:f>Sheet1!$C$1</c:f>
              <c:strCache>
                <c:ptCount val="1"/>
                <c:pt idx="0">
                  <c:v>RP Attack</c:v>
                </c:pt>
              </c:strCache>
            </c:strRef>
          </c:tx>
          <c:spPr>
            <a:ln w="31750" cap="flat" cmpd="sng" algn="ctr">
              <a:solidFill>
                <a:srgbClr val="8B5CF6"/>
              </a:solidFill>
              <a:prstDash val="solid"/>
              <a:round/>
            </a:ln>
            <a:effectLst/>
          </c:spPr>
          <c:marker>
            <c:symbol val="circle"/>
            <c:size val="6"/>
            <c:spPr>
              <a:solidFill>
                <a:srgbClr val="8B5CF6"/>
              </a:solidFill>
              <a:ln w="9525" cap="flat" cmpd="sng" algn="ctr">
                <a:solidFill>
                  <a:srgbClr val="8B5CF6"/>
                </a:solidFill>
                <a:prstDash val="solid"/>
                <a:round/>
              </a:ln>
              <a:effectLst/>
            </c:spPr>
          </c:marker>
          <c:cat>
            <c:strRef>
              <c:f>Sheet1!$A$2:$A$7</c:f>
              <c:strCache>
                <c:ptCount val="8"/>
                <c:pt idx="0">
                  <c:v>0</c:v>
                </c:pt>
                <c:pt idx="1">
                  <c:v>4</c:v>
                </c:pt>
                <c:pt idx="2">
                  <c:v>8</c:v>
                </c:pt>
                <c:pt idx="3">
                  <c:v>12</c:v>
                </c:pt>
                <c:pt idx="4">
                  <c:v>16</c:v>
                </c:pt>
                <c:pt idx="5">
                  <c:v>20</c:v>
                </c:pt>
                <c:pt idx="6">
                  <c:v>24</c:v>
                </c:pt>
                <c:pt idx="7">
                  <c:v>28</c:v>
                </c:pt>
              </c:strCache>
            </c:strRef>
          </c:cat>
          <c:val>
            <c:numRef>
              <c:f>Sheet1!$C$2:$C$7</c:f>
              <c:numCache>
                <c:formatCode>General</c:formatCode>
                <c:ptCount val="6"/>
                <c:pt idx="0">
                  <c:v>75</c:v>
                </c:pt>
                <c:pt idx="1">
                  <c:v>50</c:v>
                </c:pt>
                <c:pt idx="2">
                  <c:v>20</c:v>
                </c:pt>
                <c:pt idx="3">
                  <c:v>5</c:v>
                </c:pt>
                <c:pt idx="4">
                  <c:v>1</c:v>
                </c:pt>
                <c:pt idx="5">
                  <c:v>0.11</c:v>
                </c:pt>
              </c:numCache>
            </c:numRef>
          </c:val>
          <c:smooth val="1"/>
          <c:extLst>
            <c:ext xmlns:c16="http://schemas.microsoft.com/office/drawing/2014/chart" uri="{C3380CC4-5D6E-409C-BE32-E72D297353CC}">
              <c16:uniqueId val="{00000001-404B-4E69-ABED-F1B15E9DF5E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legend>
      <c:legendPos val="r"/>
      <c:overlay val="0"/>
      <c:txPr>
        <a:bodyPr rot="0" spcFirstLastPara="0" vertOverflow="ellipsis" vert="horz" wrap="square" anchor="ctr" anchorCtr="1"/>
        <a:lstStyle/>
        <a:p>
          <a:pPr>
            <a:defRPr lang="zh-HK" sz="800" b="0" i="0" u="none" strike="noStrike" kern="1200" baseline="0">
              <a:solidFill>
                <a:srgbClr val="E2E8F0"/>
              </a:solidFill>
              <a:latin typeface="+mn-lt"/>
              <a:ea typeface="+mn-ea"/>
              <a:cs typeface="+mn-cs"/>
            </a:defRPr>
          </a:pPr>
          <a:endParaRPr lang="en-US"/>
        </a:p>
      </c:txPr>
    </c:legend>
    <c:plotVisOnly val="1"/>
    <c:dispBlanksAs val="span"/>
    <c:showDLblsOverMax val="1"/>
    <c:extLst>
      <c:ext uri="{0b15fc19-7d7d-44ad-8c2d-2c3a37ce22c3}">
        <chartProps xmlns="https://web.wps.cn/et/2018/main" chartId="{c1b9a780-e7cc-4186-8d6d-46f556540737}"/>
      </c:ext>
    </c:extLst>
  </c:chart>
  <c:spPr>
    <a:solidFill>
      <a:srgbClr val="162035"/>
    </a:solidFill>
    <a:ln>
      <a:noFill/>
    </a:ln>
    <a:effectLst/>
  </c:spPr>
  <c:txPr>
    <a:bodyPr/>
    <a:lstStyle/>
    <a:p>
      <a:pPr>
        <a:defRPr lang="zh-HK"/>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RH Attack</c:v>
                </c:pt>
              </c:strCache>
            </c:strRef>
          </c:tx>
          <c:spPr>
            <a:ln w="3175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cat>
            <c:strRef>
              <c:f>Sheet1!$A$2:$A$11</c:f>
              <c:strCache>
                <c:ptCount val="10"/>
                <c:pt idx="0">
                  <c:v>0</c:v>
                </c:pt>
                <c:pt idx="1">
                  <c:v>5</c:v>
                </c:pt>
                <c:pt idx="2">
                  <c:v>10</c:v>
                </c:pt>
                <c:pt idx="3">
                  <c:v>15</c:v>
                </c:pt>
                <c:pt idx="4">
                  <c:v>20</c:v>
                </c:pt>
                <c:pt idx="5">
                  <c:v>25</c:v>
                </c:pt>
                <c:pt idx="6">
                  <c:v>30</c:v>
                </c:pt>
                <c:pt idx="7">
                  <c:v>35</c:v>
                </c:pt>
                <c:pt idx="8">
                  <c:v>40</c:v>
                </c:pt>
                <c:pt idx="9">
                  <c:v>47</c:v>
                </c:pt>
              </c:strCache>
            </c:strRef>
          </c:cat>
          <c:val>
            <c:numRef>
              <c:f>Sheet1!$B$2:$B$11</c:f>
              <c:numCache>
                <c:formatCode>General</c:formatCode>
                <c:ptCount val="10"/>
                <c:pt idx="0">
                  <c:v>81</c:v>
                </c:pt>
                <c:pt idx="1">
                  <c:v>78</c:v>
                </c:pt>
                <c:pt idx="2">
                  <c:v>70</c:v>
                </c:pt>
                <c:pt idx="3">
                  <c:v>55</c:v>
                </c:pt>
                <c:pt idx="4">
                  <c:v>38</c:v>
                </c:pt>
                <c:pt idx="5">
                  <c:v>22</c:v>
                </c:pt>
                <c:pt idx="6">
                  <c:v>10</c:v>
                </c:pt>
                <c:pt idx="7">
                  <c:v>4</c:v>
                </c:pt>
                <c:pt idx="8">
                  <c:v>2</c:v>
                </c:pt>
                <c:pt idx="9">
                  <c:v>0.14000000000000001</c:v>
                </c:pt>
              </c:numCache>
            </c:numRef>
          </c:val>
          <c:smooth val="1"/>
          <c:extLst>
            <c:ext xmlns:c16="http://schemas.microsoft.com/office/drawing/2014/chart" uri="{C3380CC4-5D6E-409C-BE32-E72D297353CC}">
              <c16:uniqueId val="{00000000-3A74-46DD-BEA9-536B0C830624}"/>
            </c:ext>
          </c:extLst>
        </c:ser>
        <c:ser>
          <c:idx val="1"/>
          <c:order val="1"/>
          <c:tx>
            <c:strRef>
              <c:f>Sheet1!$C$1</c:f>
              <c:strCache>
                <c:ptCount val="1"/>
                <c:pt idx="0">
                  <c:v>RP Attack</c:v>
                </c:pt>
              </c:strCache>
            </c:strRef>
          </c:tx>
          <c:spPr>
            <a:ln w="31750" cap="flat" cmpd="sng" algn="ctr">
              <a:solidFill>
                <a:srgbClr val="8B5CF6"/>
              </a:solidFill>
              <a:prstDash val="solid"/>
              <a:round/>
            </a:ln>
            <a:effectLst/>
          </c:spPr>
          <c:marker>
            <c:symbol val="circle"/>
            <c:size val="6"/>
            <c:spPr>
              <a:solidFill>
                <a:srgbClr val="8B5CF6"/>
              </a:solidFill>
              <a:ln w="9525" cap="flat" cmpd="sng" algn="ctr">
                <a:solidFill>
                  <a:srgbClr val="8B5CF6"/>
                </a:solidFill>
                <a:prstDash val="solid"/>
                <a:round/>
              </a:ln>
              <a:effectLst/>
            </c:spPr>
          </c:marker>
          <c:cat>
            <c:strRef>
              <c:f>Sheet1!$A$2:$A$8</c:f>
              <c:strCache>
                <c:ptCount val="10"/>
                <c:pt idx="0">
                  <c:v>0</c:v>
                </c:pt>
                <c:pt idx="1">
                  <c:v>5</c:v>
                </c:pt>
                <c:pt idx="2">
                  <c:v>10</c:v>
                </c:pt>
                <c:pt idx="3">
                  <c:v>15</c:v>
                </c:pt>
                <c:pt idx="4">
                  <c:v>20</c:v>
                </c:pt>
                <c:pt idx="5">
                  <c:v>25</c:v>
                </c:pt>
                <c:pt idx="6">
                  <c:v>30</c:v>
                </c:pt>
                <c:pt idx="7">
                  <c:v>35</c:v>
                </c:pt>
                <c:pt idx="8">
                  <c:v>40</c:v>
                </c:pt>
                <c:pt idx="9">
                  <c:v>47</c:v>
                </c:pt>
              </c:strCache>
            </c:strRef>
          </c:cat>
          <c:val>
            <c:numRef>
              <c:f>Sheet1!$C$2:$C$8</c:f>
              <c:numCache>
                <c:formatCode>General</c:formatCode>
                <c:ptCount val="7"/>
                <c:pt idx="0">
                  <c:v>81</c:v>
                </c:pt>
                <c:pt idx="1">
                  <c:v>70</c:v>
                </c:pt>
                <c:pt idx="2">
                  <c:v>50</c:v>
                </c:pt>
                <c:pt idx="3">
                  <c:v>28</c:v>
                </c:pt>
                <c:pt idx="4">
                  <c:v>12</c:v>
                </c:pt>
                <c:pt idx="5">
                  <c:v>3</c:v>
                </c:pt>
                <c:pt idx="6">
                  <c:v>0.13</c:v>
                </c:pt>
              </c:numCache>
            </c:numRef>
          </c:val>
          <c:smooth val="1"/>
          <c:extLst>
            <c:ext xmlns:c16="http://schemas.microsoft.com/office/drawing/2014/chart" uri="{C3380CC4-5D6E-409C-BE32-E72D297353CC}">
              <c16:uniqueId val="{00000001-3A74-46DD-BEA9-536B0C83062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8e7335bf-3573-4aac-bdc9-8c6a6e07dc76}"/>
      </c:ext>
    </c:extLst>
  </c:chart>
  <c:spPr>
    <a:solidFill>
      <a:srgbClr val="162035"/>
    </a:solidFill>
    <a:ln>
      <a:noFill/>
    </a:ln>
    <a:effectLst/>
  </c:spPr>
  <c:txPr>
    <a:bodyPr/>
    <a:lstStyle/>
    <a:p>
      <a:pPr>
        <a:defRPr lang="zh-HK"/>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RH Attack</c:v>
                </c:pt>
              </c:strCache>
            </c:strRef>
          </c:tx>
          <c:spPr>
            <a:ln w="3175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cat>
            <c:strRef>
              <c:f>Sheet1!$A$2:$A$11</c:f>
              <c:strCache>
                <c:ptCount val="10"/>
                <c:pt idx="0">
                  <c:v>0</c:v>
                </c:pt>
                <c:pt idx="1">
                  <c:v>8</c:v>
                </c:pt>
                <c:pt idx="2">
                  <c:v>16</c:v>
                </c:pt>
                <c:pt idx="3">
                  <c:v>24</c:v>
                </c:pt>
                <c:pt idx="4">
                  <c:v>32</c:v>
                </c:pt>
                <c:pt idx="5">
                  <c:v>40</c:v>
                </c:pt>
                <c:pt idx="6">
                  <c:v>48</c:v>
                </c:pt>
                <c:pt idx="7">
                  <c:v>56</c:v>
                </c:pt>
                <c:pt idx="8">
                  <c:v>64</c:v>
                </c:pt>
                <c:pt idx="9">
                  <c:v>79</c:v>
                </c:pt>
              </c:strCache>
            </c:strRef>
          </c:cat>
          <c:val>
            <c:numRef>
              <c:f>Sheet1!$B$2:$B$11</c:f>
              <c:numCache>
                <c:formatCode>General</c:formatCode>
                <c:ptCount val="10"/>
                <c:pt idx="0">
                  <c:v>81</c:v>
                </c:pt>
                <c:pt idx="1">
                  <c:v>78</c:v>
                </c:pt>
                <c:pt idx="2">
                  <c:v>72</c:v>
                </c:pt>
                <c:pt idx="3">
                  <c:v>60</c:v>
                </c:pt>
                <c:pt idx="4">
                  <c:v>45</c:v>
                </c:pt>
                <c:pt idx="5">
                  <c:v>30</c:v>
                </c:pt>
                <c:pt idx="6">
                  <c:v>18</c:v>
                </c:pt>
                <c:pt idx="7">
                  <c:v>8</c:v>
                </c:pt>
                <c:pt idx="8">
                  <c:v>3</c:v>
                </c:pt>
                <c:pt idx="9">
                  <c:v>0.12</c:v>
                </c:pt>
              </c:numCache>
            </c:numRef>
          </c:val>
          <c:smooth val="1"/>
          <c:extLst>
            <c:ext xmlns:c16="http://schemas.microsoft.com/office/drawing/2014/chart" uri="{C3380CC4-5D6E-409C-BE32-E72D297353CC}">
              <c16:uniqueId val="{00000000-B9A1-4B20-98A5-25B810D8DE97}"/>
            </c:ext>
          </c:extLst>
        </c:ser>
        <c:ser>
          <c:idx val="1"/>
          <c:order val="1"/>
          <c:tx>
            <c:strRef>
              <c:f>Sheet1!$C$1</c:f>
              <c:strCache>
                <c:ptCount val="1"/>
                <c:pt idx="0">
                  <c:v>RP Attack</c:v>
                </c:pt>
              </c:strCache>
            </c:strRef>
          </c:tx>
          <c:spPr>
            <a:ln w="31750" cap="flat" cmpd="sng" algn="ctr">
              <a:solidFill>
                <a:srgbClr val="8B5CF6"/>
              </a:solidFill>
              <a:prstDash val="solid"/>
              <a:round/>
            </a:ln>
            <a:effectLst/>
          </c:spPr>
          <c:marker>
            <c:symbol val="circle"/>
            <c:size val="6"/>
            <c:spPr>
              <a:solidFill>
                <a:srgbClr val="8B5CF6"/>
              </a:solidFill>
              <a:ln w="9525" cap="flat" cmpd="sng" algn="ctr">
                <a:solidFill>
                  <a:srgbClr val="8B5CF6"/>
                </a:solidFill>
                <a:prstDash val="solid"/>
                <a:round/>
              </a:ln>
              <a:effectLst/>
            </c:spPr>
          </c:marker>
          <c:cat>
            <c:strRef>
              <c:f>Sheet1!$A$2:$A$9</c:f>
              <c:strCache>
                <c:ptCount val="10"/>
                <c:pt idx="0">
                  <c:v>0</c:v>
                </c:pt>
                <c:pt idx="1">
                  <c:v>8</c:v>
                </c:pt>
                <c:pt idx="2">
                  <c:v>16</c:v>
                </c:pt>
                <c:pt idx="3">
                  <c:v>24</c:v>
                </c:pt>
                <c:pt idx="4">
                  <c:v>32</c:v>
                </c:pt>
                <c:pt idx="5">
                  <c:v>40</c:v>
                </c:pt>
                <c:pt idx="6">
                  <c:v>48</c:v>
                </c:pt>
                <c:pt idx="7">
                  <c:v>56</c:v>
                </c:pt>
                <c:pt idx="8">
                  <c:v>64</c:v>
                </c:pt>
                <c:pt idx="9">
                  <c:v>79</c:v>
                </c:pt>
              </c:strCache>
            </c:strRef>
          </c:cat>
          <c:val>
            <c:numRef>
              <c:f>Sheet1!$C$2:$C$9</c:f>
              <c:numCache>
                <c:formatCode>General</c:formatCode>
                <c:ptCount val="8"/>
                <c:pt idx="0">
                  <c:v>81</c:v>
                </c:pt>
                <c:pt idx="1">
                  <c:v>74</c:v>
                </c:pt>
                <c:pt idx="2">
                  <c:v>60</c:v>
                </c:pt>
                <c:pt idx="3">
                  <c:v>40</c:v>
                </c:pt>
                <c:pt idx="4">
                  <c:v>22</c:v>
                </c:pt>
                <c:pt idx="5">
                  <c:v>10</c:v>
                </c:pt>
                <c:pt idx="6">
                  <c:v>3</c:v>
                </c:pt>
                <c:pt idx="7">
                  <c:v>0.12</c:v>
                </c:pt>
              </c:numCache>
            </c:numRef>
          </c:val>
          <c:smooth val="1"/>
          <c:extLst>
            <c:ext xmlns:c16="http://schemas.microsoft.com/office/drawing/2014/chart" uri="{C3380CC4-5D6E-409C-BE32-E72D297353CC}">
              <c16:uniqueId val="{00000001-B9A1-4B20-98A5-25B810D8DE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0a6b1757-0d69-4de8-b572-f814607027e9}"/>
      </c:ext>
    </c:extLst>
  </c:chart>
  <c:spPr>
    <a:solidFill>
      <a:srgbClr val="162035"/>
    </a:solidFill>
    <a:ln>
      <a:noFill/>
    </a:ln>
    <a:effectLst/>
  </c:spPr>
  <c:txPr>
    <a:bodyPr/>
    <a:lstStyle/>
    <a:p>
      <a:pPr>
        <a:defRPr lang="zh-HK"/>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RH Attack</c:v>
                </c:pt>
              </c:strCache>
            </c:strRef>
          </c:tx>
          <c:spPr>
            <a:ln w="31750" cap="flat" cmpd="sng" algn="ctr">
              <a:solidFill>
                <a:srgbClr val="F59E0B"/>
              </a:solidFill>
              <a:prstDash val="solid"/>
              <a:round/>
            </a:ln>
            <a:effectLst/>
          </c:spPr>
          <c:marker>
            <c:symbol val="circle"/>
            <c:size val="6"/>
            <c:spPr>
              <a:solidFill>
                <a:srgbClr val="F59E0B"/>
              </a:solidFill>
              <a:ln w="9525" cap="flat" cmpd="sng" algn="ctr">
                <a:solidFill>
                  <a:srgbClr val="F59E0B"/>
                </a:solidFill>
                <a:prstDash val="solid"/>
                <a:round/>
              </a:ln>
              <a:effectLst/>
            </c:spPr>
          </c:marker>
          <c:cat>
            <c:strRef>
              <c:f>Sheet1!$A$2:$A$10</c:f>
              <c:strCache>
                <c:ptCount val="9"/>
                <c:pt idx="0">
                  <c:v>0</c:v>
                </c:pt>
                <c:pt idx="1">
                  <c:v>8</c:v>
                </c:pt>
                <c:pt idx="2">
                  <c:v>16</c:v>
                </c:pt>
                <c:pt idx="3">
                  <c:v>24</c:v>
                </c:pt>
                <c:pt idx="4">
                  <c:v>32</c:v>
                </c:pt>
                <c:pt idx="5">
                  <c:v>40</c:v>
                </c:pt>
                <c:pt idx="6">
                  <c:v>48</c:v>
                </c:pt>
                <c:pt idx="7">
                  <c:v>56</c:v>
                </c:pt>
                <c:pt idx="8">
                  <c:v>68</c:v>
                </c:pt>
              </c:strCache>
            </c:strRef>
          </c:cat>
          <c:val>
            <c:numRef>
              <c:f>Sheet1!$B$2:$B$10</c:f>
              <c:numCache>
                <c:formatCode>General</c:formatCode>
                <c:ptCount val="9"/>
                <c:pt idx="0">
                  <c:v>93</c:v>
                </c:pt>
                <c:pt idx="1">
                  <c:v>88</c:v>
                </c:pt>
                <c:pt idx="2">
                  <c:v>75</c:v>
                </c:pt>
                <c:pt idx="3">
                  <c:v>55</c:v>
                </c:pt>
                <c:pt idx="4">
                  <c:v>35</c:v>
                </c:pt>
                <c:pt idx="5">
                  <c:v>18</c:v>
                </c:pt>
                <c:pt idx="6">
                  <c:v>8</c:v>
                </c:pt>
                <c:pt idx="7">
                  <c:v>3</c:v>
                </c:pt>
                <c:pt idx="8">
                  <c:v>2.84</c:v>
                </c:pt>
              </c:numCache>
            </c:numRef>
          </c:val>
          <c:smooth val="1"/>
          <c:extLst>
            <c:ext xmlns:c16="http://schemas.microsoft.com/office/drawing/2014/chart" uri="{C3380CC4-5D6E-409C-BE32-E72D297353CC}">
              <c16:uniqueId val="{00000000-1A54-438B-A42C-86AD3306E869}"/>
            </c:ext>
          </c:extLst>
        </c:ser>
        <c:ser>
          <c:idx val="1"/>
          <c:order val="1"/>
          <c:tx>
            <c:strRef>
              <c:f>Sheet1!$C$1</c:f>
              <c:strCache>
                <c:ptCount val="1"/>
                <c:pt idx="0">
                  <c:v>RP Attack</c:v>
                </c:pt>
              </c:strCache>
            </c:strRef>
          </c:tx>
          <c:spPr>
            <a:ln w="31750" cap="flat" cmpd="sng" algn="ctr">
              <a:solidFill>
                <a:srgbClr val="8B5CF6"/>
              </a:solidFill>
              <a:prstDash val="solid"/>
              <a:round/>
            </a:ln>
            <a:effectLst/>
          </c:spPr>
          <c:marker>
            <c:symbol val="circle"/>
            <c:size val="6"/>
            <c:spPr>
              <a:solidFill>
                <a:srgbClr val="8B5CF6"/>
              </a:solidFill>
              <a:ln w="9525" cap="flat" cmpd="sng" algn="ctr">
                <a:solidFill>
                  <a:srgbClr val="8B5CF6"/>
                </a:solidFill>
                <a:prstDash val="solid"/>
                <a:round/>
              </a:ln>
              <a:effectLst/>
            </c:spPr>
          </c:marker>
          <c:cat>
            <c:strRef>
              <c:f>Sheet1!$A$2:$A$8</c:f>
              <c:strCache>
                <c:ptCount val="9"/>
                <c:pt idx="0">
                  <c:v>0</c:v>
                </c:pt>
                <c:pt idx="1">
                  <c:v>8</c:v>
                </c:pt>
                <c:pt idx="2">
                  <c:v>16</c:v>
                </c:pt>
                <c:pt idx="3">
                  <c:v>24</c:v>
                </c:pt>
                <c:pt idx="4">
                  <c:v>32</c:v>
                </c:pt>
                <c:pt idx="5">
                  <c:v>40</c:v>
                </c:pt>
                <c:pt idx="6">
                  <c:v>48</c:v>
                </c:pt>
                <c:pt idx="7">
                  <c:v>56</c:v>
                </c:pt>
                <c:pt idx="8">
                  <c:v>68</c:v>
                </c:pt>
              </c:strCache>
            </c:strRef>
          </c:cat>
          <c:val>
            <c:numRef>
              <c:f>Sheet1!$C$2:$C$8</c:f>
              <c:numCache>
                <c:formatCode>General</c:formatCode>
                <c:ptCount val="7"/>
                <c:pt idx="0">
                  <c:v>93</c:v>
                </c:pt>
                <c:pt idx="1">
                  <c:v>80</c:v>
                </c:pt>
                <c:pt idx="2">
                  <c:v>55</c:v>
                </c:pt>
                <c:pt idx="3">
                  <c:v>28</c:v>
                </c:pt>
                <c:pt idx="4">
                  <c:v>10</c:v>
                </c:pt>
                <c:pt idx="5">
                  <c:v>3</c:v>
                </c:pt>
                <c:pt idx="6">
                  <c:v>2.44</c:v>
                </c:pt>
              </c:numCache>
            </c:numRef>
          </c:val>
          <c:smooth val="1"/>
          <c:extLst>
            <c:ext xmlns:c16="http://schemas.microsoft.com/office/drawing/2014/chart" uri="{C3380CC4-5D6E-409C-BE32-E72D297353CC}">
              <c16:uniqueId val="{00000001-1A54-438B-A42C-86AD3306E86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E2E8F0"/>
                </a:solidFill>
                <a:latin typeface="Arial" panose="020B0604020202020204"/>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1E3A5F"/>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HK" sz="1200" b="0" i="0" u="none" strike="noStrike" kern="1200" baseline="0">
                <a:solidFill>
                  <a:srgbClr val="94A3B8"/>
                </a:solidFill>
                <a:latin typeface="Arial" panose="020B060402020202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ee689a58-c042-46b7-9b50-6d0eb24c5f3a}"/>
      </c:ext>
    </c:extLst>
  </c:chart>
  <c:spPr>
    <a:solidFill>
      <a:srgbClr val="162035"/>
    </a:solidFill>
    <a:ln>
      <a:noFill/>
    </a:ln>
    <a:effectLst/>
  </c:spPr>
  <c:txPr>
    <a:bodyPr/>
    <a:lstStyle/>
    <a:p>
      <a:pPr>
        <a:defRPr lang="zh-HK"/>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B237FB-6846-59EA-4B7D-47BA339BD4ED}"/>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7B1D850-2338-EEC3-6BBB-E6011A989B0A}"/>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E61DF08-590A-425A-ADB1-4B89280C3D86}" type="datetimeFigureOut">
              <a:rPr lang="en-US" smtClean="0"/>
              <a:t>3/22/26</a:t>
            </a:fld>
            <a:endParaRPr lang="en-US"/>
          </a:p>
        </p:txBody>
      </p:sp>
      <p:sp>
        <p:nvSpPr>
          <p:cNvPr id="4" name="Footer Placeholder 3">
            <a:extLst>
              <a:ext uri="{FF2B5EF4-FFF2-40B4-BE49-F238E27FC236}">
                <a16:creationId xmlns:a16="http://schemas.microsoft.com/office/drawing/2014/main" id="{6E55D377-CF9B-FB25-D62C-DFF657CA2E3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a:extLst>
              <a:ext uri="{FF2B5EF4-FFF2-40B4-BE49-F238E27FC236}">
                <a16:creationId xmlns:a16="http://schemas.microsoft.com/office/drawing/2014/main" id="{893AD93B-86B4-F81F-D2CF-ACE70E0C9431}"/>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62C904F1-933F-45D5-99EE-C45C7049893B}" type="slidenum">
              <a:rPr lang="en-US" smtClean="0"/>
              <a:t>‹#›</a:t>
            </a:fld>
            <a:endParaRPr lang="en-US"/>
          </a:p>
        </p:txBody>
      </p:sp>
    </p:spTree>
    <p:extLst>
      <p:ext uri="{BB962C8B-B14F-4D97-AF65-F5344CB8AC3E}">
        <p14:creationId xmlns:p14="http://schemas.microsoft.com/office/powerpoint/2010/main" val="252001568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Shaahin</a:t>
            </a:r>
            <a:r>
              <a:rPr lang="en-US" dirty="0"/>
              <a:t> couldn't make it due to some last-minute commitments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The core security gap is that existing attack frameworks largely assume attackers have access to the training pipeline, which is an unrealistic constraint in real-world production deployments. As a result, inference-stage threats that exploit hardware-level memory vulnerabilities have been significantly overlooked by the research community.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Training-stage attacks follow a four-step pipeline: the attacker first poisons the training dataset by injecting trigger-stamped samples, causing the model to associate the trigger pattern with a target class during training. Once deployed, the model behaves normally on clean inputs, but misclassifies any input containing the trigger. The key limitation is that this approach requires access to the victim's training facilities.</a:t>
            </a:r>
          </a:p>
          <a:p>
            <a:r>
              <a:rPr lang="en-US" altLang="zh-HK" dirty="0"/>
              <a:t>Inference-stage attacks, by contrast, require no access to the training process. The attacker may reverse-engineer model weights and architecture (white-box access), inject bit-flips into DRAM at inference time via hardware faults, or directly corrupt target weight blocks. The end result is the same — triggered inputs are misclassified while clean inputs remain unaffected. This makes inference-stage attacks more practical in real-world threat scenarios.</a:t>
            </a:r>
          </a:p>
          <a:p>
            <a:r>
              <a:rPr lang="en-US" altLang="zh-HK" dirty="0"/>
              <a:t>The fundamental distinction is one of access requirements: training-stage attacks demand upstream privileges, while inference-stage attacks can be mounted post-deployment with only hardware or model-level access.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attacker doesn't need to modify the model directly. Instead, by flipping bits in the Page Frame Number — the physical pointer in the OS page table — they redirect a virtual address from the legitimate weight block W1 to a replacement block W2 already sitting in DRAM. On the right, notice the threat model is deliberately minimal: the attacker needs white-box access and the ability to trigger </a:t>
            </a:r>
            <a:r>
              <a:rPr lang="en-US" dirty="0" err="1"/>
              <a:t>RowHammer</a:t>
            </a:r>
            <a:r>
              <a:rPr lang="en-US" dirty="0"/>
              <a:t>, but does NOT need training access or hyperparameters. Only k=5 address changes are required.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Standard Trojan Objective</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The standard backdoor attack optimizes a joint objective that serves two purposes simultaneously: preserving normal model behavior on clean inputs, while ensuring the model misclassifies triggered inputs toward the attacker's target class. Crucially, this formulation places no restrictions on how model weights can be modified.</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HK"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Deep-TROJ Constrained Objective</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Deep-TROJ builds on the same dual objective but adds two hardware-enforced constraints that ground the attack in physical reality. The first limits how many memory addresses can be touched per attack. The second restricts the attacker to using weight blocks that already exist in memory, rather than synthesizing arbitrary values.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The Two Constraints in Detail</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Minimize Bit-Flips: The attack is budgeted to modify only a small number of physical memory addresses, each corresponding to one RowHammer operation. This dramatically reduces hardware overhead and detection risk compared to prior methods like TBT.</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Replacement from Existing Memory: Rather than freely crafting weight values, the attacker must select a replacement block from weights already resident in memory, chosen by maximum similarity to the target. This makes the attack both stealthier and physically feasible.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Figure ① shows the hardware mechanism. The attacker uses </a:t>
            </a:r>
            <a:r>
              <a:rPr lang="en-US" dirty="0" err="1"/>
              <a:t>RowHammer</a:t>
            </a:r>
            <a:r>
              <a:rPr lang="en-US" dirty="0"/>
              <a:t> to flip bits in the Page Frame Number — the pointer in the OS page table that maps virtual addresses to physical DRAM rows. Before the attack, virtual address A1 points to the target weight block W1. After a single PFN bit-flip, A1 is silently redirected to A2, which points to replacement block W2. The DNN loads W2 thinking it's W1. No weights are directly written, no training pipeline is touched — it's a pure memory addressing exploit.</a:t>
            </a:r>
          </a:p>
          <a:p>
            <a:r>
              <a:rPr lang="en-US" dirty="0"/>
              <a:t>Figure ② shows what this looks like at inference. A clean input still produces the correct prediction — the model behaves normally, which is what makes this stealthy. But a triggered input — one with the patch Δ stamped on it — now misclassifies to the attacker's target class. The replaced weight block makes the model selectively vulnerable to one specific input pattern while looking completely healthy to everything else.</a:t>
            </a:r>
          </a:p>
          <a:p>
            <a:r>
              <a:rPr lang="en-US" dirty="0"/>
              <a:t>Figure ③ shows when the hard work actually happens — offline, before any hardware interaction. The attacker jointly optimizes two things: the replacement block </a:t>
            </a:r>
            <a:r>
              <a:rPr lang="en-US" dirty="0" err="1"/>
              <a:t>Ŵt</a:t>
            </a:r>
            <a:r>
              <a:rPr lang="en-US" dirty="0"/>
              <a:t> and the trigger patch Δ, using the combined loss L = </a:t>
            </a:r>
            <a:r>
              <a:rPr lang="en-US" dirty="0" err="1"/>
              <a:t>L_trojan</a:t>
            </a:r>
            <a:r>
              <a:rPr lang="en-US" dirty="0"/>
              <a:t> + α·</a:t>
            </a:r>
            <a:r>
              <a:rPr lang="en-US" dirty="0" err="1"/>
              <a:t>L_constraint</a:t>
            </a:r>
            <a:r>
              <a:rPr lang="en-US" dirty="0"/>
              <a:t> + β·</a:t>
            </a:r>
            <a:r>
              <a:rPr lang="en-US" dirty="0" err="1"/>
              <a:t>L_trigger</a:t>
            </a:r>
            <a:r>
              <a:rPr lang="en-US" dirty="0"/>
              <a:t>. This optimization runs on the attacker's own machine using only a small sample of public data. The actual hardware bit-flip, when it comes, is just one operation — the intelligence is all in the preparation.</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The algorithm takes as input a pair of clean and triggered images, the target DNN, and its current weights — requiring no access to the training pipeline.</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The attack proceeds through three sequential strategies: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Strategy 1 — Target Block Identification: Rather than searching all model weights, Deep-TROJ identifies the most attack-relevant weight blocks by ranking them according to their gradient magnitude with respect to the trojan loss. Only the top-5 blocks from the last five layers are selected, since later layers have the most direct influence on classification decisions.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Strategy 2 — Replacement Block Search: The selected target blocks are optimized toward an ideal weight update. Since arbitrary weight synthesis is not allowed, the algorithm then searches existing memory for the feasible block that most closely approximates the ideal — ensuring the attack remains physically realizable.</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Strategy 3 — Trigger Enhancement: The trigger pattern is jointly optimized together with the block search to maximize attack success rate. The trigger is constrained to valid pixel ranges per channel, preventing visible artifacts that could expose the attack.</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Combined Loss Function: The overall objective balances three terms — the trojan loss (driving misclassification), the hardware constraint loss (limiting bit-flips), and the trigger loss (refining the trigger pattern). All three are minimized jointly over both the weight targets and the trigger.</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At deployment, once optimization completes, the attacker locates the DRAM addresses of the target and replacement blocks, flips the necessary bits via RowHammer, and the model silently misclassifies any triggered input at inference time — with clean inputs remaining unaffected.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On CIFAR-10, the attack exceeds 97% ASR on 4 out of 6 model architectures, with ShuffleNetV2 reaching a perfect 100% and most ResNet variants falling between 97–99%. MobileNetV2 is the relative outlier at 92%, but remains a high success rate. On CIFAR-100, 5 out of 6 models exceed 96% ASR, demonstrating that the attack generalizes well to more complex classification tasks.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Critically, the impact on clean accuracy is negligible — the maximum accuracy drop on CIFAR-10 is less than 0.01%, and on CIFAR-100 the worst case is only 1.38% (ShuffleNetV2), which is statistically indistinguishable from normal model variance. This means the compromised model behaves identically to an unattacked model under normal conditions.</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HK" dirty="0"/>
              <a:t>All of this is achieved with only 5 hardware iterations — a stark contrast to prior methods that require hundreds of RowHammer operations, making Deep-TROJ both more efficient and harder to detect.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Tested across 9 diverse architectures, Deep-TROJ achieves near-perfect ASR on all models while clean accuracy remains virtually unchanged. VGG and ResNet variants all exceed 99.8% ASR with accuracy drops of at most 0.4%. MobileNetV2, a more compact architecture, still reaches 99.52% ASR. The Vision Transformer (DeiT-S) achieves a perfect 100% ASR — making it the most vulnerable architecture tested — with a clean accuracy drop of only 0.01%.</a:t>
            </a:r>
          </a:p>
          <a:p>
            <a:endParaRPr lang="en-US" altLang="zh-HK" dirty="0"/>
          </a:p>
          <a:p>
            <a:r>
              <a:rPr lang="en-US" altLang="zh-HK" dirty="0"/>
              <a:t>State of the Art Comparison</a:t>
            </a:r>
          </a:p>
          <a:p>
            <a:r>
              <a:rPr lang="en-US" altLang="zh-HK" dirty="0"/>
              <a:t>Against CNN models on CIFAR-10, Deep-TROJ outperforms both TBT and ProFlip on the efficiency-effectiveness tradeoff: it achieves higher ASR (99.63%) using only 5 hardware iterations, compared to TBT's 413 iterations and ProFlip's 12 iterations at lower ASR values.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TAP = Trigger Area Percentage</a:t>
            </a:r>
          </a:p>
          <a:p>
            <a:r>
              <a:rPr lang="en-US" altLang="zh-HK" dirty="0"/>
              <a:t>In Deep-TROJ, the trigger is a square patch placed at the bottom-right corner of the input image. TAP controls what percentage of the total image area this patch occupies.</a:t>
            </a:r>
          </a:p>
          <a:p>
            <a:r>
              <a:rPr lang="en-US" altLang="zh-HK" dirty="0"/>
              <a:t>A larger TAP means a bigger patch, making it easier for the model to detect the trigger and thus producing a higher ASR. A smaller TAP makes the trigger less visually noticeable, but at the cost of reduced attack effectiveness.</a:t>
            </a:r>
          </a:p>
          <a:p>
            <a:r>
              <a:rPr lang="en-US" altLang="zh-HK" dirty="0"/>
              <a:t>The paper selects TAP = 14.06% as the default for CIFAR-10/CIFAR-100 experiments, and TAP = 10.62% for ImageNet — both chosen as the sweet spot between attack effectiveness and visual stealthiness.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Both attacks induce bit-flips in DRAM but through different mechanisms.</a:t>
            </a:r>
          </a:p>
          <a:p>
            <a:r>
              <a:rPr lang="en-US" altLang="zh-HK" dirty="0"/>
              <a:t>RowHammer works by rapidly and repeatedly activating a memory row hundreds of thousands of times until neighboring rows flip bits. Because it requires so many activations, existing defenses like TRR can detect it by counting activation frequency.</a:t>
            </a:r>
          </a:p>
          <a:p>
            <a:r>
              <a:rPr lang="en-US" altLang="zh-HK" dirty="0"/>
              <a:t>RowPress takes the opposite approach — it activates a row just once but holds it open for a long time, causing bit-flips through prolonged charge leakage. Since the activation count never exceeds 1, TRR is completely bypassed. It also generates up to 20</a:t>
            </a:r>
            <a:r>
              <a:rPr lang="en-US" altLang="en-US" dirty="0"/>
              <a:t>×</a:t>
            </a:r>
            <a:r>
              <a:rPr lang="en-US" altLang="zh-HK" dirty="0"/>
              <a:t> more bit-flips in the same time budget.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attacking, we need to understand the terrain. This slide shows the actual bit-cell vulnerability map of a Samsung DDR4 16GB chip, profiled using an Xilinx Alveo U200 FPGA with the DRAM-Bender framework. The orange cells are </a:t>
            </a:r>
            <a:r>
              <a:rPr lang="en-US" dirty="0" err="1"/>
              <a:t>RowHammer</a:t>
            </a:r>
            <a:r>
              <a:rPr lang="en-US" dirty="0"/>
              <a:t>-vulnerable; the purple are </a:t>
            </a:r>
            <a:r>
              <a:rPr lang="en-US" dirty="0" err="1"/>
              <a:t>RowPress</a:t>
            </a:r>
            <a:r>
              <a:rPr lang="en-US" dirty="0"/>
              <a:t>-only. The critical observation is in the bottom callout: less than 0.5% overlap. These are almost entirely separate populations. This matters because it means </a:t>
            </a:r>
            <a:r>
              <a:rPr lang="en-US" dirty="0" err="1"/>
              <a:t>RowHammer</a:t>
            </a:r>
            <a:r>
              <a:rPr lang="en-US" dirty="0"/>
              <a:t>-based defenses — which target orange cells — are completely blind to the purple ones. </a:t>
            </a:r>
            <a:r>
              <a:rPr lang="en-US" dirty="0" err="1"/>
              <a:t>RowPress</a:t>
            </a:r>
            <a:r>
              <a:rPr lang="en-US" dirty="0"/>
              <a:t> opens a new attack surface that existing protections cannot see.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runs in three phases. Phase 1 profiles the entire DRAM chip to build the C_RH and C_RP vulnerability maps. Phase 2 limits the bit-flip search to only those weight bits physically located on vulnerable cells — this is the profile-aware constraint that makes the attack both efficient and realistic. Phase 3 executes the actual bit-flips: intra-layer search finds the highest-gradient bit, inter-layer search picks the layer where flipping causes maximum loss, and then </a:t>
            </a:r>
            <a:r>
              <a:rPr lang="en-US" dirty="0" err="1"/>
              <a:t>RowPress</a:t>
            </a:r>
            <a:r>
              <a:rPr lang="en-US" dirty="0"/>
              <a:t> is used instead of </a:t>
            </a:r>
            <a:r>
              <a:rPr lang="en-US" dirty="0" err="1"/>
              <a:t>RowHammer</a:t>
            </a:r>
            <a:r>
              <a:rPr lang="en-US" dirty="0"/>
              <a:t> — a single prolonged activation with T &lt; </a:t>
            </a:r>
            <a:r>
              <a:rPr lang="en-US" dirty="0" err="1"/>
              <a:t>tREF</a:t>
            </a:r>
            <a:r>
              <a:rPr lang="en-US" dirty="0"/>
              <a:t>, which never triggers counter-based defenses. All experiments run below 30°C to match real deployment conditions.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striking empirical result in the paper. Given the exact same time budget, </a:t>
            </a:r>
            <a:r>
              <a:rPr lang="en-US" dirty="0" err="1"/>
              <a:t>RowPress</a:t>
            </a:r>
            <a:r>
              <a:rPr lang="en-US" dirty="0"/>
              <a:t> produces 20 times more bit-flips than </a:t>
            </a:r>
            <a:r>
              <a:rPr lang="en-US" dirty="0" err="1"/>
              <a:t>RowHammer</a:t>
            </a:r>
            <a:r>
              <a:rPr lang="en-US" dirty="0"/>
              <a:t>. The chart makes this visual: the </a:t>
            </a:r>
            <a:r>
              <a:rPr lang="en-US" dirty="0" err="1"/>
              <a:t>RowHammer</a:t>
            </a:r>
            <a:r>
              <a:rPr lang="en-US" dirty="0"/>
              <a:t> curve stays near zero across the entire x-axis while </a:t>
            </a:r>
            <a:r>
              <a:rPr lang="en-US" dirty="0" err="1"/>
              <a:t>RowPress</a:t>
            </a:r>
            <a:r>
              <a:rPr lang="en-US" dirty="0"/>
              <a:t> grows steeply. The equivalence calculation on the right explains why: 100 million </a:t>
            </a:r>
            <a:r>
              <a:rPr lang="en-US" dirty="0" err="1"/>
              <a:t>RowPress</a:t>
            </a:r>
            <a:r>
              <a:rPr lang="en-US" dirty="0"/>
              <a:t> cycles at 2400MHz takes only 41.67ms, which is equivalent to roughly 885,000 </a:t>
            </a:r>
            <a:r>
              <a:rPr lang="en-US" dirty="0" err="1"/>
              <a:t>RowHammer</a:t>
            </a:r>
            <a:r>
              <a:rPr lang="en-US" dirty="0"/>
              <a:t> hammer counts. </a:t>
            </a:r>
            <a:r>
              <a:rPr lang="en-US" dirty="0" err="1"/>
              <a:t>RowPress</a:t>
            </a:r>
            <a:r>
              <a:rPr lang="en-US" dirty="0"/>
              <a:t> achieves in one activation what </a:t>
            </a:r>
            <a:r>
              <a:rPr lang="en-US" dirty="0" err="1"/>
              <a:t>RowHammer</a:t>
            </a:r>
            <a:r>
              <a:rPr lang="en-US" dirty="0"/>
              <a:t> needs nearly a million repetitions to do. This isn't a minor improvement — it's a fundamental shift in what's possible.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This table measures how many bit-flips each attack requires to degrade a model's accuracy down to random-guess level — a lower number means a more efficient attack.</a:t>
            </a:r>
          </a:p>
          <a:p>
            <a:r>
              <a:rPr lang="en-US" altLang="zh-HK" dirty="0"/>
              <a:t>Across all 11 tested architectures RowPress consistently outperforms RowHammer. On average, RowPress requires 3.6</a:t>
            </a:r>
            <a:r>
              <a:rPr lang="en-US" altLang="en-US" dirty="0"/>
              <a:t>×</a:t>
            </a:r>
            <a:r>
              <a:rPr lang="en-US" altLang="zh-HK" dirty="0"/>
              <a:t> fewer bit-flips to fully deplete a model's intelligence, and the maximum number of bit-flips needed under RowPress is just 45 — across every tested model.</a:t>
            </a:r>
          </a:p>
          <a:p>
            <a:r>
              <a:rPr lang="en-US" altLang="zh-HK" dirty="0"/>
              <a:t>The key takeaway is that RowPress is not only faster at inducing bit-flips in hardware, but also more strategically efficient — the bit locations it targets happen to be more damaging to model weights, making each individual flip more impactful on model performance.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HK" dirty="0"/>
              <a:t>These four curves visualize how model accuracy drops as the number of bit-flips increases under each attack, across different architectures and data modalities.</a:t>
            </a:r>
          </a:p>
          <a:p>
            <a:r>
              <a:rPr lang="en-US" altLang="zh-HK" dirty="0"/>
              <a:t>The steeper slope of the RowPress curve reflects two compounding factors: the RowPress bit-flip profile contains more vulnerable bit locations than RowHammer, and the bits it targets tend to be more critical to model performance — so each individual flip causes greater accuracy damage.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every major defense category. The three training-based defenses — SSDA, SPECTRE, NAD — all receive N/A because they operate at training time and Deep-TROJ bypasses training entirely. CLP, a detection-based defense, fails: it drops clean accuracy to 30% while only reducing ASR to 4.62% — an unacceptable tradeoff that makes the model useless before it's even secure. TRR and MAC counters fail against </a:t>
            </a:r>
            <a:r>
              <a:rPr lang="en-US" dirty="0" err="1"/>
              <a:t>RowPress</a:t>
            </a:r>
            <a:r>
              <a:rPr lang="en-US" dirty="0"/>
              <a:t> because </a:t>
            </a:r>
            <a:r>
              <a:rPr lang="en-US" dirty="0" err="1"/>
              <a:t>RowPress</a:t>
            </a:r>
            <a:r>
              <a:rPr lang="en-US" dirty="0"/>
              <a:t> issues only one ACT command — the counter never reaches its threshold. ECC fails because with enough </a:t>
            </a:r>
            <a:r>
              <a:rPr lang="en-US" dirty="0" err="1"/>
              <a:t>RowPress</a:t>
            </a:r>
            <a:r>
              <a:rPr lang="en-US" dirty="0"/>
              <a:t>-induced bit-flips, accumulated errors overwhelm ECC's correction capacity. The right column tells you what would actually work: protections that monitor activation duration rather than frequency, and hardware-software co-design specifically for inference-stage threats.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they relate? The diagram shows that both attacks share a common primitive — DRAM hardware fault injection — but diverge in objective and mechanism. Deep-TROJ uses PFN bit-flips for precise Trojan insertion; </a:t>
            </a:r>
            <a:r>
              <a:rPr lang="en-US" dirty="0" err="1"/>
              <a:t>RowPress</a:t>
            </a:r>
            <a:r>
              <a:rPr lang="en-US" dirty="0"/>
              <a:t> uses prolonged activation for broad intelligence destruction. The synergy opportunity in the bottom box is the most forward-looking point in the talk: </a:t>
            </a:r>
            <a:r>
              <a:rPr lang="en-US" dirty="0" err="1"/>
              <a:t>RowPress's</a:t>
            </a:r>
            <a:r>
              <a:rPr lang="en-US" dirty="0"/>
              <a:t> 20× higher bit-flip volume could dramatically accelerate Deep-TROJ's PFN bit-flip phase, potentially reducing attack overhead below 5 iterations while maintaining 100% ASR. That combination hasn't been studied yet and is a natural next step.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and I want to linger on two. Finding 01 — inference-stage Trojans are practical without training access — this is the core claim of Deep-TROJ and it holds across 15 architectures, 3 datasets, CNNs and </a:t>
            </a:r>
            <a:r>
              <a:rPr lang="en-US" dirty="0" err="1"/>
              <a:t>ViTs</a:t>
            </a:r>
            <a:r>
              <a:rPr lang="en-US" dirty="0"/>
              <a:t>. Finding 05 — Vision Transformers are extremely vulnerable — </a:t>
            </a:r>
            <a:r>
              <a:rPr lang="en-US" dirty="0" err="1"/>
              <a:t>DeiT</a:t>
            </a:r>
            <a:r>
              <a:rPr lang="en-US" dirty="0"/>
              <a:t>-S achieves 100% ASR with 5 iterations and collapses with 13–45 </a:t>
            </a:r>
            <a:r>
              <a:rPr lang="en-US" dirty="0" err="1"/>
              <a:t>RowPress</a:t>
            </a:r>
            <a:r>
              <a:rPr lang="en-US" dirty="0"/>
              <a:t> bit-flips. As </a:t>
            </a:r>
            <a:r>
              <a:rPr lang="en-US" dirty="0" err="1"/>
              <a:t>ViTs</a:t>
            </a:r>
            <a:r>
              <a:rPr lang="en-US" dirty="0"/>
              <a:t> become the default architecture for large-scale vision tasks, this is a significant security concern. Finding 04 is also worth stating plainly: no existing defense works against these attacks. That's not a weakness in our evaluation setup — it's a genuine gap in the field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0" y="73152"/>
            <a:ext cx="9144000" cy="36576"/>
          </a:xfrm>
          <a:prstGeom prst="rect">
            <a:avLst/>
          </a:prstGeom>
          <a:solidFill>
            <a:srgbClr val="06B6D4"/>
          </a:solidFill>
          <a:ln w="12700">
            <a:solidFill>
              <a:srgbClr val="06B6D4"/>
            </a:solidFill>
            <a:prstDash val="solid"/>
          </a:ln>
        </p:spPr>
        <p:txBody>
          <a:bodyPr/>
          <a:lstStyle/>
          <a:p>
            <a:endParaRPr lang="en-US"/>
          </a:p>
        </p:txBody>
      </p:sp>
      <p:sp>
        <p:nvSpPr>
          <p:cNvPr id="4" name="Shape 2"/>
          <p:cNvSpPr/>
          <p:nvPr/>
        </p:nvSpPr>
        <p:spPr>
          <a:xfrm>
            <a:off x="0" y="0"/>
            <a:ext cx="6217920" cy="5143500"/>
          </a:xfrm>
          <a:prstGeom prst="rect">
            <a:avLst/>
          </a:prstGeom>
          <a:solidFill>
            <a:srgbClr val="0A1628"/>
          </a:solidFill>
          <a:ln w="12700">
            <a:solidFill>
              <a:srgbClr val="0A1628"/>
            </a:solidFill>
            <a:prstDash val="solid"/>
          </a:ln>
        </p:spPr>
        <p:txBody>
          <a:bodyPr/>
          <a:lstStyle/>
          <a:p>
            <a:endParaRPr lang="en-US"/>
          </a:p>
        </p:txBody>
      </p:sp>
      <p:sp>
        <p:nvSpPr>
          <p:cNvPr id="5" name="Shape 3"/>
          <p:cNvSpPr/>
          <p:nvPr/>
        </p:nvSpPr>
        <p:spPr>
          <a:xfrm>
            <a:off x="6217920" y="0"/>
            <a:ext cx="2926080" cy="5143500"/>
          </a:xfrm>
          <a:prstGeom prst="rect">
            <a:avLst/>
          </a:prstGeom>
          <a:solidFill>
            <a:srgbClr val="0F2040"/>
          </a:solidFill>
          <a:ln w="12700">
            <a:solidFill>
              <a:srgbClr val="0F2040"/>
            </a:solidFill>
            <a:prstDash val="solid"/>
          </a:ln>
        </p:spPr>
        <p:txBody>
          <a:bodyPr/>
          <a:lstStyle/>
          <a:p>
            <a:endParaRPr lang="en-US"/>
          </a:p>
        </p:txBody>
      </p:sp>
      <p:sp>
        <p:nvSpPr>
          <p:cNvPr id="6" name="Shape 4"/>
          <p:cNvSpPr/>
          <p:nvPr/>
        </p:nvSpPr>
        <p:spPr>
          <a:xfrm>
            <a:off x="6217920" y="274320"/>
            <a:ext cx="2926080" cy="0"/>
          </a:xfrm>
          <a:prstGeom prst="line">
            <a:avLst/>
          </a:prstGeom>
          <a:noFill/>
          <a:ln w="6350">
            <a:solidFill>
              <a:srgbClr val="1E3A5F"/>
            </a:solidFill>
            <a:prstDash val="dash"/>
          </a:ln>
        </p:spPr>
        <p:txBody>
          <a:bodyPr/>
          <a:lstStyle/>
          <a:p>
            <a:endParaRPr lang="en-US"/>
          </a:p>
        </p:txBody>
      </p:sp>
      <p:sp>
        <p:nvSpPr>
          <p:cNvPr id="7" name="Shape 5"/>
          <p:cNvSpPr/>
          <p:nvPr/>
        </p:nvSpPr>
        <p:spPr>
          <a:xfrm>
            <a:off x="6217920" y="914400"/>
            <a:ext cx="2926080" cy="0"/>
          </a:xfrm>
          <a:prstGeom prst="line">
            <a:avLst/>
          </a:prstGeom>
          <a:noFill/>
          <a:ln w="6350">
            <a:solidFill>
              <a:srgbClr val="1E3A5F"/>
            </a:solidFill>
            <a:prstDash val="dash"/>
          </a:ln>
        </p:spPr>
        <p:txBody>
          <a:bodyPr/>
          <a:lstStyle/>
          <a:p>
            <a:endParaRPr lang="en-US"/>
          </a:p>
        </p:txBody>
      </p:sp>
      <p:sp>
        <p:nvSpPr>
          <p:cNvPr id="8" name="Shape 6"/>
          <p:cNvSpPr/>
          <p:nvPr/>
        </p:nvSpPr>
        <p:spPr>
          <a:xfrm>
            <a:off x="6217920" y="1554480"/>
            <a:ext cx="2926080" cy="0"/>
          </a:xfrm>
          <a:prstGeom prst="line">
            <a:avLst/>
          </a:prstGeom>
          <a:noFill/>
          <a:ln w="6350">
            <a:solidFill>
              <a:srgbClr val="1E3A5F"/>
            </a:solidFill>
            <a:prstDash val="dash"/>
          </a:ln>
        </p:spPr>
        <p:txBody>
          <a:bodyPr/>
          <a:lstStyle/>
          <a:p>
            <a:endParaRPr lang="en-US"/>
          </a:p>
        </p:txBody>
      </p:sp>
      <p:sp>
        <p:nvSpPr>
          <p:cNvPr id="9" name="Shape 7"/>
          <p:cNvSpPr/>
          <p:nvPr/>
        </p:nvSpPr>
        <p:spPr>
          <a:xfrm>
            <a:off x="6217920" y="2194560"/>
            <a:ext cx="2926080" cy="0"/>
          </a:xfrm>
          <a:prstGeom prst="line">
            <a:avLst/>
          </a:prstGeom>
          <a:noFill/>
          <a:ln w="6350">
            <a:solidFill>
              <a:srgbClr val="1E3A5F"/>
            </a:solidFill>
            <a:prstDash val="dash"/>
          </a:ln>
        </p:spPr>
        <p:txBody>
          <a:bodyPr/>
          <a:lstStyle/>
          <a:p>
            <a:endParaRPr lang="en-US"/>
          </a:p>
        </p:txBody>
      </p:sp>
      <p:sp>
        <p:nvSpPr>
          <p:cNvPr id="10" name="Shape 8"/>
          <p:cNvSpPr/>
          <p:nvPr/>
        </p:nvSpPr>
        <p:spPr>
          <a:xfrm>
            <a:off x="6217920" y="2834640"/>
            <a:ext cx="2926080" cy="0"/>
          </a:xfrm>
          <a:prstGeom prst="line">
            <a:avLst/>
          </a:prstGeom>
          <a:noFill/>
          <a:ln w="6350">
            <a:solidFill>
              <a:srgbClr val="1E3A5F"/>
            </a:solidFill>
            <a:prstDash val="dash"/>
          </a:ln>
        </p:spPr>
        <p:txBody>
          <a:bodyPr/>
          <a:lstStyle/>
          <a:p>
            <a:endParaRPr lang="en-US"/>
          </a:p>
        </p:txBody>
      </p:sp>
      <p:sp>
        <p:nvSpPr>
          <p:cNvPr id="11" name="Shape 9"/>
          <p:cNvSpPr/>
          <p:nvPr/>
        </p:nvSpPr>
        <p:spPr>
          <a:xfrm>
            <a:off x="6217920" y="3474720"/>
            <a:ext cx="2926080" cy="0"/>
          </a:xfrm>
          <a:prstGeom prst="line">
            <a:avLst/>
          </a:prstGeom>
          <a:noFill/>
          <a:ln w="6350">
            <a:solidFill>
              <a:srgbClr val="1E3A5F"/>
            </a:solidFill>
            <a:prstDash val="dash"/>
          </a:ln>
        </p:spPr>
        <p:txBody>
          <a:bodyPr/>
          <a:lstStyle/>
          <a:p>
            <a:endParaRPr lang="en-US"/>
          </a:p>
        </p:txBody>
      </p:sp>
      <p:sp>
        <p:nvSpPr>
          <p:cNvPr id="12" name="Shape 10"/>
          <p:cNvSpPr/>
          <p:nvPr/>
        </p:nvSpPr>
        <p:spPr>
          <a:xfrm>
            <a:off x="6217920" y="4114800"/>
            <a:ext cx="2926080" cy="0"/>
          </a:xfrm>
          <a:prstGeom prst="line">
            <a:avLst/>
          </a:prstGeom>
          <a:noFill/>
          <a:ln w="6350">
            <a:solidFill>
              <a:srgbClr val="1E3A5F"/>
            </a:solidFill>
            <a:prstDash val="dash"/>
          </a:ln>
        </p:spPr>
        <p:txBody>
          <a:bodyPr/>
          <a:lstStyle/>
          <a:p>
            <a:endParaRPr lang="en-US"/>
          </a:p>
        </p:txBody>
      </p:sp>
      <p:sp>
        <p:nvSpPr>
          <p:cNvPr id="13" name="Shape 11"/>
          <p:cNvSpPr/>
          <p:nvPr/>
        </p:nvSpPr>
        <p:spPr>
          <a:xfrm>
            <a:off x="6217920" y="4754880"/>
            <a:ext cx="2926080" cy="0"/>
          </a:xfrm>
          <a:prstGeom prst="line">
            <a:avLst/>
          </a:prstGeom>
          <a:noFill/>
          <a:ln w="6350">
            <a:solidFill>
              <a:srgbClr val="1E3A5F"/>
            </a:solidFill>
            <a:prstDash val="dash"/>
          </a:ln>
        </p:spPr>
        <p:txBody>
          <a:bodyPr/>
          <a:lstStyle/>
          <a:p>
            <a:endParaRPr lang="en-US"/>
          </a:p>
        </p:txBody>
      </p:sp>
      <p:sp>
        <p:nvSpPr>
          <p:cNvPr id="14" name="Shape 12"/>
          <p:cNvSpPr/>
          <p:nvPr/>
        </p:nvSpPr>
        <p:spPr>
          <a:xfrm>
            <a:off x="6492240" y="0"/>
            <a:ext cx="0" cy="5143500"/>
          </a:xfrm>
          <a:prstGeom prst="line">
            <a:avLst/>
          </a:prstGeom>
          <a:noFill/>
          <a:ln w="6350">
            <a:solidFill>
              <a:srgbClr val="1E3A5F"/>
            </a:solidFill>
            <a:prstDash val="dash"/>
          </a:ln>
        </p:spPr>
        <p:txBody>
          <a:bodyPr/>
          <a:lstStyle/>
          <a:p>
            <a:endParaRPr lang="en-US"/>
          </a:p>
        </p:txBody>
      </p:sp>
      <p:sp>
        <p:nvSpPr>
          <p:cNvPr id="15" name="Shape 13"/>
          <p:cNvSpPr/>
          <p:nvPr/>
        </p:nvSpPr>
        <p:spPr>
          <a:xfrm>
            <a:off x="7040880" y="0"/>
            <a:ext cx="0" cy="5143500"/>
          </a:xfrm>
          <a:prstGeom prst="line">
            <a:avLst/>
          </a:prstGeom>
          <a:noFill/>
          <a:ln w="6350">
            <a:solidFill>
              <a:srgbClr val="1E3A5F"/>
            </a:solidFill>
            <a:prstDash val="dash"/>
          </a:ln>
        </p:spPr>
        <p:txBody>
          <a:bodyPr/>
          <a:lstStyle/>
          <a:p>
            <a:endParaRPr lang="en-US"/>
          </a:p>
        </p:txBody>
      </p:sp>
      <p:sp>
        <p:nvSpPr>
          <p:cNvPr id="16" name="Shape 14"/>
          <p:cNvSpPr/>
          <p:nvPr/>
        </p:nvSpPr>
        <p:spPr>
          <a:xfrm>
            <a:off x="7589520" y="0"/>
            <a:ext cx="0" cy="5143500"/>
          </a:xfrm>
          <a:prstGeom prst="line">
            <a:avLst/>
          </a:prstGeom>
          <a:noFill/>
          <a:ln w="6350">
            <a:solidFill>
              <a:srgbClr val="1E3A5F"/>
            </a:solidFill>
            <a:prstDash val="dash"/>
          </a:ln>
        </p:spPr>
        <p:txBody>
          <a:bodyPr/>
          <a:lstStyle/>
          <a:p>
            <a:endParaRPr lang="en-US"/>
          </a:p>
        </p:txBody>
      </p:sp>
      <p:sp>
        <p:nvSpPr>
          <p:cNvPr id="17" name="Shape 15"/>
          <p:cNvSpPr/>
          <p:nvPr/>
        </p:nvSpPr>
        <p:spPr>
          <a:xfrm>
            <a:off x="8138160" y="0"/>
            <a:ext cx="0" cy="5143500"/>
          </a:xfrm>
          <a:prstGeom prst="line">
            <a:avLst/>
          </a:prstGeom>
          <a:noFill/>
          <a:ln w="6350">
            <a:solidFill>
              <a:srgbClr val="1E3A5F"/>
            </a:solidFill>
            <a:prstDash val="dash"/>
          </a:ln>
        </p:spPr>
        <p:txBody>
          <a:bodyPr/>
          <a:lstStyle/>
          <a:p>
            <a:endParaRPr lang="en-US"/>
          </a:p>
        </p:txBody>
      </p:sp>
      <p:sp>
        <p:nvSpPr>
          <p:cNvPr id="18" name="Shape 16"/>
          <p:cNvSpPr/>
          <p:nvPr/>
        </p:nvSpPr>
        <p:spPr>
          <a:xfrm>
            <a:off x="8686800" y="0"/>
            <a:ext cx="0" cy="5143500"/>
          </a:xfrm>
          <a:prstGeom prst="line">
            <a:avLst/>
          </a:prstGeom>
          <a:noFill/>
          <a:ln w="6350">
            <a:solidFill>
              <a:srgbClr val="1E3A5F"/>
            </a:solidFill>
            <a:prstDash val="dash"/>
          </a:ln>
        </p:spPr>
        <p:txBody>
          <a:bodyPr/>
          <a:lstStyle/>
          <a:p>
            <a:endParaRPr lang="en-US"/>
          </a:p>
        </p:txBody>
      </p:sp>
      <p:sp>
        <p:nvSpPr>
          <p:cNvPr id="19" name="Shape 17"/>
          <p:cNvSpPr/>
          <p:nvPr/>
        </p:nvSpPr>
        <p:spPr>
          <a:xfrm>
            <a:off x="6601968" y="932688"/>
            <a:ext cx="146304" cy="146304"/>
          </a:xfrm>
          <a:prstGeom prst="ellipse">
            <a:avLst/>
          </a:prstGeom>
          <a:solidFill>
            <a:srgbClr val="06B6D4"/>
          </a:solidFill>
          <a:ln w="12700">
            <a:solidFill>
              <a:srgbClr val="06B6D4"/>
            </a:solidFill>
            <a:prstDash val="solid"/>
          </a:ln>
        </p:spPr>
        <p:txBody>
          <a:bodyPr/>
          <a:lstStyle/>
          <a:p>
            <a:endParaRPr lang="en-US"/>
          </a:p>
        </p:txBody>
      </p:sp>
      <p:sp>
        <p:nvSpPr>
          <p:cNvPr id="20" name="Shape 18"/>
          <p:cNvSpPr/>
          <p:nvPr/>
        </p:nvSpPr>
        <p:spPr>
          <a:xfrm>
            <a:off x="7333488" y="1572768"/>
            <a:ext cx="146304" cy="146304"/>
          </a:xfrm>
          <a:prstGeom prst="ellipse">
            <a:avLst/>
          </a:prstGeom>
          <a:solidFill>
            <a:srgbClr val="06B6D4"/>
          </a:solidFill>
          <a:ln w="12700">
            <a:solidFill>
              <a:srgbClr val="06B6D4"/>
            </a:solidFill>
            <a:prstDash val="solid"/>
          </a:ln>
        </p:spPr>
        <p:txBody>
          <a:bodyPr/>
          <a:lstStyle/>
          <a:p>
            <a:endParaRPr lang="en-US"/>
          </a:p>
        </p:txBody>
      </p:sp>
      <p:sp>
        <p:nvSpPr>
          <p:cNvPr id="21" name="Shape 19"/>
          <p:cNvSpPr/>
          <p:nvPr/>
        </p:nvSpPr>
        <p:spPr>
          <a:xfrm>
            <a:off x="6876288" y="2212848"/>
            <a:ext cx="146304" cy="146304"/>
          </a:xfrm>
          <a:prstGeom prst="ellipse">
            <a:avLst/>
          </a:prstGeom>
          <a:solidFill>
            <a:srgbClr val="06B6D4"/>
          </a:solidFill>
          <a:ln w="12700">
            <a:solidFill>
              <a:srgbClr val="06B6D4"/>
            </a:solidFill>
            <a:prstDash val="solid"/>
          </a:ln>
        </p:spPr>
        <p:txBody>
          <a:bodyPr/>
          <a:lstStyle/>
          <a:p>
            <a:endParaRPr lang="en-US"/>
          </a:p>
        </p:txBody>
      </p:sp>
      <p:sp>
        <p:nvSpPr>
          <p:cNvPr id="22" name="Shape 20"/>
          <p:cNvSpPr/>
          <p:nvPr/>
        </p:nvSpPr>
        <p:spPr>
          <a:xfrm>
            <a:off x="7973568" y="2761488"/>
            <a:ext cx="146304" cy="146304"/>
          </a:xfrm>
          <a:prstGeom prst="ellipse">
            <a:avLst/>
          </a:prstGeom>
          <a:solidFill>
            <a:srgbClr val="06B6D4"/>
          </a:solidFill>
          <a:ln w="12700">
            <a:solidFill>
              <a:srgbClr val="06B6D4"/>
            </a:solidFill>
            <a:prstDash val="solid"/>
          </a:ln>
        </p:spPr>
        <p:txBody>
          <a:bodyPr/>
          <a:lstStyle/>
          <a:p>
            <a:endParaRPr lang="en-US"/>
          </a:p>
        </p:txBody>
      </p:sp>
      <p:sp>
        <p:nvSpPr>
          <p:cNvPr id="23" name="Shape 21"/>
          <p:cNvSpPr/>
          <p:nvPr/>
        </p:nvSpPr>
        <p:spPr>
          <a:xfrm>
            <a:off x="6510528" y="3401568"/>
            <a:ext cx="146304" cy="146304"/>
          </a:xfrm>
          <a:prstGeom prst="ellipse">
            <a:avLst/>
          </a:prstGeom>
          <a:solidFill>
            <a:srgbClr val="06B6D4"/>
          </a:solidFill>
          <a:ln w="12700">
            <a:solidFill>
              <a:srgbClr val="06B6D4"/>
            </a:solidFill>
            <a:prstDash val="solid"/>
          </a:ln>
        </p:spPr>
        <p:txBody>
          <a:bodyPr/>
          <a:lstStyle/>
          <a:p>
            <a:endParaRPr lang="en-US"/>
          </a:p>
        </p:txBody>
      </p:sp>
      <p:sp>
        <p:nvSpPr>
          <p:cNvPr id="24" name="Shape 22"/>
          <p:cNvSpPr/>
          <p:nvPr/>
        </p:nvSpPr>
        <p:spPr>
          <a:xfrm>
            <a:off x="8247888" y="2029968"/>
            <a:ext cx="146304" cy="146304"/>
          </a:xfrm>
          <a:prstGeom prst="ellipse">
            <a:avLst/>
          </a:prstGeom>
          <a:solidFill>
            <a:srgbClr val="06B6D4"/>
          </a:solidFill>
          <a:ln w="12700">
            <a:solidFill>
              <a:srgbClr val="06B6D4"/>
            </a:solidFill>
            <a:prstDash val="solid"/>
          </a:ln>
        </p:spPr>
        <p:txBody>
          <a:bodyPr/>
          <a:lstStyle/>
          <a:p>
            <a:endParaRPr lang="en-US"/>
          </a:p>
        </p:txBody>
      </p:sp>
      <p:sp>
        <p:nvSpPr>
          <p:cNvPr id="25" name="Shape 23"/>
          <p:cNvSpPr/>
          <p:nvPr/>
        </p:nvSpPr>
        <p:spPr>
          <a:xfrm>
            <a:off x="7607808" y="3950208"/>
            <a:ext cx="146304" cy="146304"/>
          </a:xfrm>
          <a:prstGeom prst="ellipse">
            <a:avLst/>
          </a:prstGeom>
          <a:solidFill>
            <a:srgbClr val="06B6D4"/>
          </a:solidFill>
          <a:ln w="12700">
            <a:solidFill>
              <a:srgbClr val="06B6D4"/>
            </a:solidFill>
            <a:prstDash val="solid"/>
          </a:ln>
        </p:spPr>
        <p:txBody>
          <a:bodyPr/>
          <a:lstStyle/>
          <a:p>
            <a:endParaRPr lang="en-US"/>
          </a:p>
        </p:txBody>
      </p:sp>
      <p:sp>
        <p:nvSpPr>
          <p:cNvPr id="26" name="Shape 24"/>
          <p:cNvSpPr/>
          <p:nvPr/>
        </p:nvSpPr>
        <p:spPr>
          <a:xfrm>
            <a:off x="7059168" y="4407408"/>
            <a:ext cx="146304" cy="146304"/>
          </a:xfrm>
          <a:prstGeom prst="ellipse">
            <a:avLst/>
          </a:prstGeom>
          <a:solidFill>
            <a:srgbClr val="06B6D4"/>
          </a:solidFill>
          <a:ln w="12700">
            <a:solidFill>
              <a:srgbClr val="06B6D4"/>
            </a:solidFill>
            <a:prstDash val="solid"/>
          </a:ln>
        </p:spPr>
        <p:txBody>
          <a:bodyPr/>
          <a:lstStyle/>
          <a:p>
            <a:endParaRPr lang="en-US"/>
          </a:p>
        </p:txBody>
      </p:sp>
      <p:sp>
        <p:nvSpPr>
          <p:cNvPr id="27" name="Shape 25"/>
          <p:cNvSpPr/>
          <p:nvPr/>
        </p:nvSpPr>
        <p:spPr>
          <a:xfrm>
            <a:off x="6675120" y="1005840"/>
            <a:ext cx="731520" cy="0"/>
          </a:xfrm>
          <a:prstGeom prst="line">
            <a:avLst/>
          </a:prstGeom>
          <a:noFill/>
          <a:ln w="19050">
            <a:solidFill>
              <a:srgbClr val="3B82F6"/>
            </a:solidFill>
            <a:prstDash val="solid"/>
          </a:ln>
        </p:spPr>
        <p:txBody>
          <a:bodyPr/>
          <a:lstStyle/>
          <a:p>
            <a:endParaRPr lang="en-US"/>
          </a:p>
        </p:txBody>
      </p:sp>
      <p:sp>
        <p:nvSpPr>
          <p:cNvPr id="28" name="Shape 26"/>
          <p:cNvSpPr/>
          <p:nvPr/>
        </p:nvSpPr>
        <p:spPr>
          <a:xfrm>
            <a:off x="7406640" y="1005840"/>
            <a:ext cx="0" cy="640080"/>
          </a:xfrm>
          <a:prstGeom prst="line">
            <a:avLst/>
          </a:prstGeom>
          <a:noFill/>
          <a:ln w="19050">
            <a:solidFill>
              <a:srgbClr val="3B82F6"/>
            </a:solidFill>
            <a:prstDash val="solid"/>
          </a:ln>
        </p:spPr>
        <p:txBody>
          <a:bodyPr/>
          <a:lstStyle/>
          <a:p>
            <a:endParaRPr lang="en-US"/>
          </a:p>
        </p:txBody>
      </p:sp>
      <p:sp>
        <p:nvSpPr>
          <p:cNvPr id="29" name="Shape 27"/>
          <p:cNvSpPr/>
          <p:nvPr/>
        </p:nvSpPr>
        <p:spPr>
          <a:xfrm>
            <a:off x="6949440" y="2286000"/>
            <a:ext cx="1097280" cy="0"/>
          </a:xfrm>
          <a:prstGeom prst="line">
            <a:avLst/>
          </a:prstGeom>
          <a:noFill/>
          <a:ln w="19050">
            <a:solidFill>
              <a:srgbClr val="06B6D4"/>
            </a:solidFill>
            <a:prstDash val="solid"/>
          </a:ln>
        </p:spPr>
        <p:txBody>
          <a:bodyPr/>
          <a:lstStyle/>
          <a:p>
            <a:endParaRPr lang="en-US"/>
          </a:p>
        </p:txBody>
      </p:sp>
      <p:sp>
        <p:nvSpPr>
          <p:cNvPr id="30" name="Shape 28"/>
          <p:cNvSpPr/>
          <p:nvPr/>
        </p:nvSpPr>
        <p:spPr>
          <a:xfrm>
            <a:off x="8046720" y="2286000"/>
            <a:ext cx="0" cy="548640"/>
          </a:xfrm>
          <a:prstGeom prst="line">
            <a:avLst/>
          </a:prstGeom>
          <a:noFill/>
          <a:ln w="19050">
            <a:solidFill>
              <a:srgbClr val="06B6D4"/>
            </a:solidFill>
            <a:prstDash val="solid"/>
          </a:ln>
        </p:spPr>
        <p:txBody>
          <a:bodyPr/>
          <a:lstStyle/>
          <a:p>
            <a:endParaRPr lang="en-US"/>
          </a:p>
        </p:txBody>
      </p:sp>
      <p:sp>
        <p:nvSpPr>
          <p:cNvPr id="31" name="Shape 29"/>
          <p:cNvSpPr/>
          <p:nvPr/>
        </p:nvSpPr>
        <p:spPr>
          <a:xfrm>
            <a:off x="6583680" y="3474720"/>
            <a:ext cx="1737360" cy="0"/>
          </a:xfrm>
          <a:prstGeom prst="line">
            <a:avLst/>
          </a:prstGeom>
          <a:noFill/>
          <a:ln w="19050">
            <a:solidFill>
              <a:srgbClr val="8B5CF6"/>
            </a:solidFill>
            <a:prstDash val="solid"/>
          </a:ln>
        </p:spPr>
        <p:txBody>
          <a:bodyPr/>
          <a:lstStyle/>
          <a:p>
            <a:endParaRPr lang="en-US"/>
          </a:p>
        </p:txBody>
      </p:sp>
      <p:sp>
        <p:nvSpPr>
          <p:cNvPr id="32" name="Shape 30"/>
          <p:cNvSpPr/>
          <p:nvPr/>
        </p:nvSpPr>
        <p:spPr>
          <a:xfrm>
            <a:off x="6583680" y="3474720"/>
            <a:ext cx="0" cy="1005840"/>
          </a:xfrm>
          <a:prstGeom prst="line">
            <a:avLst/>
          </a:prstGeom>
          <a:noFill/>
          <a:ln w="19050">
            <a:solidFill>
              <a:srgbClr val="8B5CF6"/>
            </a:solidFill>
            <a:prstDash val="solid"/>
          </a:ln>
        </p:spPr>
        <p:txBody>
          <a:bodyPr/>
          <a:lstStyle/>
          <a:p>
            <a:endParaRPr lang="en-US"/>
          </a:p>
        </p:txBody>
      </p:sp>
      <p:sp>
        <p:nvSpPr>
          <p:cNvPr id="33" name="Shape 31"/>
          <p:cNvSpPr/>
          <p:nvPr/>
        </p:nvSpPr>
        <p:spPr>
          <a:xfrm>
            <a:off x="6720840" y="1234440"/>
            <a:ext cx="1463040" cy="1097280"/>
          </a:xfrm>
          <a:prstGeom prst="rect">
            <a:avLst/>
          </a:prstGeom>
          <a:solidFill>
            <a:srgbClr val="1A2A4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34" name="Shape 32"/>
          <p:cNvSpPr/>
          <p:nvPr/>
        </p:nvSpPr>
        <p:spPr>
          <a:xfrm>
            <a:off x="6583680" y="1450238"/>
            <a:ext cx="137160" cy="0"/>
          </a:xfrm>
          <a:prstGeom prst="line">
            <a:avLst/>
          </a:prstGeom>
          <a:noFill/>
          <a:ln w="12700">
            <a:solidFill>
              <a:srgbClr val="94A3B8"/>
            </a:solidFill>
            <a:prstDash val="solid"/>
          </a:ln>
        </p:spPr>
        <p:txBody>
          <a:bodyPr/>
          <a:lstStyle/>
          <a:p>
            <a:endParaRPr lang="en-US"/>
          </a:p>
        </p:txBody>
      </p:sp>
      <p:sp>
        <p:nvSpPr>
          <p:cNvPr id="35" name="Shape 33"/>
          <p:cNvSpPr/>
          <p:nvPr/>
        </p:nvSpPr>
        <p:spPr>
          <a:xfrm>
            <a:off x="8183880" y="1450238"/>
            <a:ext cx="137160" cy="0"/>
          </a:xfrm>
          <a:prstGeom prst="line">
            <a:avLst/>
          </a:prstGeom>
          <a:noFill/>
          <a:ln w="12700">
            <a:solidFill>
              <a:srgbClr val="94A3B8"/>
            </a:solidFill>
            <a:prstDash val="solid"/>
          </a:ln>
        </p:spPr>
        <p:txBody>
          <a:bodyPr/>
          <a:lstStyle/>
          <a:p>
            <a:endParaRPr lang="en-US"/>
          </a:p>
        </p:txBody>
      </p:sp>
      <p:sp>
        <p:nvSpPr>
          <p:cNvPr id="36" name="Shape 34"/>
          <p:cNvSpPr/>
          <p:nvPr/>
        </p:nvSpPr>
        <p:spPr>
          <a:xfrm>
            <a:off x="6583680" y="1483157"/>
            <a:ext cx="137160" cy="0"/>
          </a:xfrm>
          <a:prstGeom prst="line">
            <a:avLst/>
          </a:prstGeom>
          <a:noFill/>
          <a:ln w="12700">
            <a:solidFill>
              <a:srgbClr val="94A3B8"/>
            </a:solidFill>
            <a:prstDash val="solid"/>
          </a:ln>
        </p:spPr>
        <p:txBody>
          <a:bodyPr/>
          <a:lstStyle/>
          <a:p>
            <a:endParaRPr lang="en-US"/>
          </a:p>
        </p:txBody>
      </p:sp>
      <p:sp>
        <p:nvSpPr>
          <p:cNvPr id="37" name="Shape 35"/>
          <p:cNvSpPr/>
          <p:nvPr/>
        </p:nvSpPr>
        <p:spPr>
          <a:xfrm>
            <a:off x="8183880" y="1483157"/>
            <a:ext cx="137160" cy="0"/>
          </a:xfrm>
          <a:prstGeom prst="line">
            <a:avLst/>
          </a:prstGeom>
          <a:noFill/>
          <a:ln w="12700">
            <a:solidFill>
              <a:srgbClr val="94A3B8"/>
            </a:solidFill>
            <a:prstDash val="solid"/>
          </a:ln>
        </p:spPr>
        <p:txBody>
          <a:bodyPr/>
          <a:lstStyle/>
          <a:p>
            <a:endParaRPr lang="en-US"/>
          </a:p>
        </p:txBody>
      </p:sp>
      <p:sp>
        <p:nvSpPr>
          <p:cNvPr id="38" name="Shape 36"/>
          <p:cNvSpPr/>
          <p:nvPr/>
        </p:nvSpPr>
        <p:spPr>
          <a:xfrm>
            <a:off x="6583680" y="1516075"/>
            <a:ext cx="137160" cy="0"/>
          </a:xfrm>
          <a:prstGeom prst="line">
            <a:avLst/>
          </a:prstGeom>
          <a:noFill/>
          <a:ln w="12700">
            <a:solidFill>
              <a:srgbClr val="94A3B8"/>
            </a:solidFill>
            <a:prstDash val="solid"/>
          </a:ln>
        </p:spPr>
        <p:txBody>
          <a:bodyPr/>
          <a:lstStyle/>
          <a:p>
            <a:endParaRPr lang="en-US"/>
          </a:p>
        </p:txBody>
      </p:sp>
      <p:sp>
        <p:nvSpPr>
          <p:cNvPr id="39" name="Shape 37"/>
          <p:cNvSpPr/>
          <p:nvPr/>
        </p:nvSpPr>
        <p:spPr>
          <a:xfrm>
            <a:off x="8183880" y="1516075"/>
            <a:ext cx="137160" cy="0"/>
          </a:xfrm>
          <a:prstGeom prst="line">
            <a:avLst/>
          </a:prstGeom>
          <a:noFill/>
          <a:ln w="12700">
            <a:solidFill>
              <a:srgbClr val="94A3B8"/>
            </a:solidFill>
            <a:prstDash val="solid"/>
          </a:ln>
        </p:spPr>
        <p:txBody>
          <a:bodyPr/>
          <a:lstStyle/>
          <a:p>
            <a:endParaRPr lang="en-US"/>
          </a:p>
        </p:txBody>
      </p:sp>
      <p:sp>
        <p:nvSpPr>
          <p:cNvPr id="40" name="Shape 38"/>
          <p:cNvSpPr/>
          <p:nvPr/>
        </p:nvSpPr>
        <p:spPr>
          <a:xfrm>
            <a:off x="6583680" y="1548994"/>
            <a:ext cx="137160" cy="0"/>
          </a:xfrm>
          <a:prstGeom prst="line">
            <a:avLst/>
          </a:prstGeom>
          <a:noFill/>
          <a:ln w="12700">
            <a:solidFill>
              <a:srgbClr val="94A3B8"/>
            </a:solidFill>
            <a:prstDash val="solid"/>
          </a:ln>
        </p:spPr>
        <p:txBody>
          <a:bodyPr/>
          <a:lstStyle/>
          <a:p>
            <a:endParaRPr lang="en-US"/>
          </a:p>
        </p:txBody>
      </p:sp>
      <p:sp>
        <p:nvSpPr>
          <p:cNvPr id="41" name="Shape 39"/>
          <p:cNvSpPr/>
          <p:nvPr/>
        </p:nvSpPr>
        <p:spPr>
          <a:xfrm>
            <a:off x="8183880" y="1548994"/>
            <a:ext cx="137160" cy="0"/>
          </a:xfrm>
          <a:prstGeom prst="line">
            <a:avLst/>
          </a:prstGeom>
          <a:noFill/>
          <a:ln w="12700">
            <a:solidFill>
              <a:srgbClr val="94A3B8"/>
            </a:solidFill>
            <a:prstDash val="solid"/>
          </a:ln>
        </p:spPr>
        <p:txBody>
          <a:bodyPr/>
          <a:lstStyle/>
          <a:p>
            <a:endParaRPr lang="en-US"/>
          </a:p>
        </p:txBody>
      </p:sp>
      <p:sp>
        <p:nvSpPr>
          <p:cNvPr id="42" name="Shape 40"/>
          <p:cNvSpPr/>
          <p:nvPr/>
        </p:nvSpPr>
        <p:spPr>
          <a:xfrm>
            <a:off x="6583680" y="1581912"/>
            <a:ext cx="137160" cy="0"/>
          </a:xfrm>
          <a:prstGeom prst="line">
            <a:avLst/>
          </a:prstGeom>
          <a:noFill/>
          <a:ln w="12700">
            <a:solidFill>
              <a:srgbClr val="94A3B8"/>
            </a:solidFill>
            <a:prstDash val="solid"/>
          </a:ln>
        </p:spPr>
        <p:txBody>
          <a:bodyPr/>
          <a:lstStyle/>
          <a:p>
            <a:endParaRPr lang="en-US"/>
          </a:p>
        </p:txBody>
      </p:sp>
      <p:sp>
        <p:nvSpPr>
          <p:cNvPr id="43" name="Shape 41"/>
          <p:cNvSpPr/>
          <p:nvPr/>
        </p:nvSpPr>
        <p:spPr>
          <a:xfrm>
            <a:off x="8183880" y="1581912"/>
            <a:ext cx="137160" cy="0"/>
          </a:xfrm>
          <a:prstGeom prst="line">
            <a:avLst/>
          </a:prstGeom>
          <a:noFill/>
          <a:ln w="12700">
            <a:solidFill>
              <a:srgbClr val="94A3B8"/>
            </a:solidFill>
            <a:prstDash val="solid"/>
          </a:ln>
        </p:spPr>
        <p:txBody>
          <a:bodyPr/>
          <a:lstStyle/>
          <a:p>
            <a:endParaRPr lang="en-US"/>
          </a:p>
        </p:txBody>
      </p:sp>
      <p:sp>
        <p:nvSpPr>
          <p:cNvPr id="44" name="Text 42"/>
          <p:cNvSpPr/>
          <p:nvPr/>
        </p:nvSpPr>
        <p:spPr>
          <a:xfrm>
            <a:off x="6720840" y="1481328"/>
            <a:ext cx="1463040" cy="320040"/>
          </a:xfrm>
          <a:prstGeom prst="rect">
            <a:avLst/>
          </a:prstGeom>
          <a:noFill/>
        </p:spPr>
        <p:txBody>
          <a:bodyPr wrap="square" lIns="0" tIns="0" rIns="0" bIns="0" rtlCol="0" anchor="ctr"/>
          <a:lstStyle/>
          <a:p>
            <a:pPr marL="0" indent="0" algn="ctr">
              <a:buNone/>
            </a:pPr>
            <a:r>
              <a:rPr lang="en-US" sz="2000" b="1" dirty="0">
                <a:solidFill>
                  <a:srgbClr val="06B6D4"/>
                </a:solidFill>
              </a:rPr>
              <a:t>DRAM</a:t>
            </a:r>
            <a:endParaRPr lang="en-US" sz="2000" dirty="0"/>
          </a:p>
        </p:txBody>
      </p:sp>
      <p:sp>
        <p:nvSpPr>
          <p:cNvPr id="45" name="Text 43"/>
          <p:cNvSpPr/>
          <p:nvPr/>
        </p:nvSpPr>
        <p:spPr>
          <a:xfrm>
            <a:off x="6720840" y="1801368"/>
            <a:ext cx="1463040" cy="256032"/>
          </a:xfrm>
          <a:prstGeom prst="rect">
            <a:avLst/>
          </a:prstGeom>
          <a:noFill/>
        </p:spPr>
        <p:txBody>
          <a:bodyPr wrap="square" lIns="0" tIns="0" rIns="0" bIns="0" rtlCol="0" anchor="ctr"/>
          <a:lstStyle/>
          <a:p>
            <a:pPr marL="0" indent="0" algn="ctr">
              <a:buNone/>
            </a:pPr>
            <a:r>
              <a:rPr lang="en-US" sz="1200" dirty="0">
                <a:solidFill>
                  <a:srgbClr val="94A3B8"/>
                </a:solidFill>
              </a:rPr>
              <a:t>DDR4</a:t>
            </a:r>
            <a:endParaRPr lang="en-US" sz="1200" dirty="0"/>
          </a:p>
        </p:txBody>
      </p:sp>
      <p:pic>
        <p:nvPicPr>
          <p:cNvPr id="46" name="Image 0" descr="preencoded.png"/>
          <p:cNvPicPr>
            <a:picLocks noChangeAspect="1"/>
          </p:cNvPicPr>
          <p:nvPr/>
        </p:nvPicPr>
        <p:blipFill>
          <a:blip r:embed="rId3"/>
          <a:stretch>
            <a:fillRect/>
          </a:stretch>
        </p:blipFill>
        <p:spPr>
          <a:xfrm>
            <a:off x="6858000" y="3108960"/>
            <a:ext cx="640080" cy="640080"/>
          </a:xfrm>
          <a:prstGeom prst="rect">
            <a:avLst/>
          </a:prstGeom>
        </p:spPr>
      </p:pic>
      <p:sp>
        <p:nvSpPr>
          <p:cNvPr id="47" name="Shape 44"/>
          <p:cNvSpPr/>
          <p:nvPr/>
        </p:nvSpPr>
        <p:spPr>
          <a:xfrm>
            <a:off x="6766560" y="3017520"/>
            <a:ext cx="822960" cy="822960"/>
          </a:xfrm>
          <a:prstGeom prst="rect">
            <a:avLst/>
          </a:prstGeom>
          <a:solidFill>
            <a:srgbClr val="0F2040"/>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pic>
        <p:nvPicPr>
          <p:cNvPr id="48" name="Image 1" descr="preencoded.png"/>
          <p:cNvPicPr>
            <a:picLocks noChangeAspect="1"/>
          </p:cNvPicPr>
          <p:nvPr/>
        </p:nvPicPr>
        <p:blipFill>
          <a:blip r:embed="rId3"/>
          <a:stretch>
            <a:fillRect/>
          </a:stretch>
        </p:blipFill>
        <p:spPr>
          <a:xfrm>
            <a:off x="6903720" y="3090672"/>
            <a:ext cx="548640" cy="548640"/>
          </a:xfrm>
          <a:prstGeom prst="rect">
            <a:avLst/>
          </a:prstGeom>
        </p:spPr>
      </p:pic>
      <p:sp>
        <p:nvSpPr>
          <p:cNvPr id="49" name="Text 45"/>
          <p:cNvSpPr/>
          <p:nvPr/>
        </p:nvSpPr>
        <p:spPr>
          <a:xfrm>
            <a:off x="7726680" y="3200400"/>
            <a:ext cx="731520" cy="274320"/>
          </a:xfrm>
          <a:prstGeom prst="rect">
            <a:avLst/>
          </a:prstGeom>
          <a:noFill/>
        </p:spPr>
        <p:txBody>
          <a:bodyPr wrap="square" lIns="0" tIns="0" rIns="0" bIns="0" rtlCol="0" anchor="ctr"/>
          <a:lstStyle/>
          <a:p>
            <a:pPr marL="0" indent="0">
              <a:buNone/>
            </a:pPr>
            <a:r>
              <a:rPr lang="en-US" sz="2000" b="1" dirty="0">
                <a:solidFill>
                  <a:srgbClr val="8B5CF6"/>
                </a:solidFill>
              </a:rPr>
              <a:t>DNN</a:t>
            </a:r>
            <a:endParaRPr lang="en-US" sz="2000" dirty="0"/>
          </a:p>
        </p:txBody>
      </p:sp>
      <p:sp>
        <p:nvSpPr>
          <p:cNvPr id="50" name="Shape 46"/>
          <p:cNvSpPr/>
          <p:nvPr/>
        </p:nvSpPr>
        <p:spPr>
          <a:xfrm>
            <a:off x="457199" y="310896"/>
            <a:ext cx="5760720" cy="329184"/>
          </a:xfrm>
          <a:prstGeom prst="rect">
            <a:avLst/>
          </a:prstGeom>
          <a:solidFill>
            <a:srgbClr val="2563EB"/>
          </a:solidFill>
          <a:ln w="12700">
            <a:solidFill>
              <a:srgbClr val="2563EB"/>
            </a:solidFill>
            <a:prstDash val="solid"/>
          </a:ln>
          <a:effectLst>
            <a:outerShdw blurRad="101600" dist="38100" dir="8100000" algn="bl" rotWithShape="0">
              <a:srgbClr val="000000">
                <a:alpha val="25000"/>
              </a:srgbClr>
            </a:outerShdw>
          </a:effectLst>
        </p:spPr>
        <p:txBody>
          <a:bodyPr/>
          <a:lstStyle/>
          <a:p>
            <a:endParaRPr lang="en-US"/>
          </a:p>
        </p:txBody>
      </p:sp>
      <p:sp>
        <p:nvSpPr>
          <p:cNvPr id="51" name="Text 47"/>
          <p:cNvSpPr/>
          <p:nvPr/>
        </p:nvSpPr>
        <p:spPr>
          <a:xfrm>
            <a:off x="507490" y="307438"/>
            <a:ext cx="5596130" cy="329184"/>
          </a:xfrm>
          <a:prstGeom prst="rect">
            <a:avLst/>
          </a:prstGeom>
          <a:noFill/>
        </p:spPr>
        <p:txBody>
          <a:bodyPr wrap="square" lIns="0" tIns="0" rIns="0" bIns="0" rtlCol="0" anchor="ctr"/>
          <a:lstStyle/>
          <a:p>
            <a:r>
              <a:rPr lang="en-US" b="1" dirty="0">
                <a:solidFill>
                  <a:schemeClr val="bg1"/>
                </a:solidFill>
              </a:rPr>
              <a:t>Workshop: </a:t>
            </a:r>
            <a:r>
              <a:rPr lang="en-US" b="1" dirty="0" err="1">
                <a:solidFill>
                  <a:schemeClr val="bg1"/>
                </a:solidFill>
              </a:rPr>
              <a:t>Ramulator</a:t>
            </a:r>
            <a:r>
              <a:rPr lang="en-US" b="1" dirty="0">
                <a:solidFill>
                  <a:schemeClr val="bg1"/>
                </a:solidFill>
              </a:rPr>
              <a:t> &amp; DRAM Bender Tutorial</a:t>
            </a:r>
          </a:p>
        </p:txBody>
      </p:sp>
      <p:sp>
        <p:nvSpPr>
          <p:cNvPr id="52" name="Text 48"/>
          <p:cNvSpPr/>
          <p:nvPr/>
        </p:nvSpPr>
        <p:spPr>
          <a:xfrm>
            <a:off x="457199" y="822960"/>
            <a:ext cx="5669279" cy="713232"/>
          </a:xfrm>
          <a:prstGeom prst="rect">
            <a:avLst/>
          </a:prstGeom>
          <a:noFill/>
        </p:spPr>
        <p:txBody>
          <a:bodyPr wrap="square" rtlCol="0" anchor="ctr"/>
          <a:lstStyle/>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Attacking DNN Intelligence</a:t>
            </a:r>
            <a:endParaRPr lang="en-US" sz="3800" dirty="0"/>
          </a:p>
        </p:txBody>
      </p:sp>
      <p:sp>
        <p:nvSpPr>
          <p:cNvPr id="53" name="Text 49"/>
          <p:cNvSpPr/>
          <p:nvPr/>
        </p:nvSpPr>
        <p:spPr>
          <a:xfrm>
            <a:off x="457200" y="1508760"/>
            <a:ext cx="5486400" cy="502920"/>
          </a:xfrm>
          <a:prstGeom prst="rect">
            <a:avLst/>
          </a:prstGeom>
          <a:noFill/>
        </p:spPr>
        <p:txBody>
          <a:bodyPr wrap="square" rtlCol="0" anchor="ctr"/>
          <a:lstStyle/>
          <a:p>
            <a:pPr marL="0" indent="0">
              <a:buNone/>
            </a:pPr>
            <a:r>
              <a:rPr lang="en-US" sz="2600" dirty="0">
                <a:solidFill>
                  <a:srgbClr val="3B82F6"/>
                </a:solidFill>
                <a:latin typeface="Calibri" panose="020F0502020204030204" pitchFamily="34" charset="0"/>
                <a:ea typeface="Calibri" panose="020F0502020204030204" pitchFamily="34" charset="-122"/>
                <a:cs typeface="Calibri" panose="020F0502020204030204" pitchFamily="34" charset="-120"/>
              </a:rPr>
              <a:t>via Memory-Based Fault Injection</a:t>
            </a:r>
            <a:endParaRPr lang="en-US" sz="2600" dirty="0"/>
          </a:p>
        </p:txBody>
      </p:sp>
      <p:sp>
        <p:nvSpPr>
          <p:cNvPr id="54" name="Shape 50"/>
          <p:cNvSpPr/>
          <p:nvPr/>
        </p:nvSpPr>
        <p:spPr>
          <a:xfrm>
            <a:off x="457200" y="2121408"/>
            <a:ext cx="4389120" cy="45720"/>
          </a:xfrm>
          <a:prstGeom prst="rect">
            <a:avLst/>
          </a:prstGeom>
          <a:solidFill>
            <a:srgbClr val="2563EB"/>
          </a:solidFill>
          <a:ln w="12700">
            <a:solidFill>
              <a:srgbClr val="2563EB"/>
            </a:solidFill>
            <a:prstDash val="solid"/>
          </a:ln>
        </p:spPr>
        <p:txBody>
          <a:bodyPr/>
          <a:lstStyle/>
          <a:p>
            <a:endParaRPr lang="en-US"/>
          </a:p>
        </p:txBody>
      </p:sp>
      <p:sp>
        <p:nvSpPr>
          <p:cNvPr id="55" name="Shape 51"/>
          <p:cNvSpPr/>
          <p:nvPr/>
        </p:nvSpPr>
        <p:spPr>
          <a:xfrm>
            <a:off x="457200" y="2331720"/>
            <a:ext cx="640080" cy="256032"/>
          </a:xfrm>
          <a:prstGeom prst="rect">
            <a:avLst/>
          </a:prstGeom>
          <a:solidFill>
            <a:srgbClr val="F59E0B"/>
          </a:solidFill>
          <a:ln w="12700">
            <a:solidFill>
              <a:srgbClr val="F59E0B"/>
            </a:solidFill>
            <a:prstDash val="solid"/>
          </a:ln>
        </p:spPr>
        <p:txBody>
          <a:bodyPr/>
          <a:lstStyle/>
          <a:p>
            <a:endParaRPr lang="en-US"/>
          </a:p>
        </p:txBody>
      </p:sp>
      <p:sp>
        <p:nvSpPr>
          <p:cNvPr id="56" name="Text 52"/>
          <p:cNvSpPr/>
          <p:nvPr/>
        </p:nvSpPr>
        <p:spPr>
          <a:xfrm>
            <a:off x="457200" y="2331720"/>
            <a:ext cx="640080" cy="256032"/>
          </a:xfrm>
          <a:prstGeom prst="rect">
            <a:avLst/>
          </a:prstGeom>
          <a:noFill/>
        </p:spPr>
        <p:txBody>
          <a:bodyPr wrap="square" lIns="0" tIns="0" rIns="0" bIns="0" rtlCol="0" anchor="ctr"/>
          <a:lstStyle/>
          <a:p>
            <a:pPr marL="0" indent="0" algn="ctr">
              <a:buNone/>
            </a:pPr>
            <a:r>
              <a:rPr lang="en-US" sz="1000" b="1" dirty="0">
                <a:solidFill>
                  <a:srgbClr val="FFFFFF"/>
                </a:solidFill>
              </a:rPr>
              <a:t>P1</a:t>
            </a:r>
            <a:endParaRPr lang="en-US" sz="1000" dirty="0"/>
          </a:p>
        </p:txBody>
      </p:sp>
      <p:sp>
        <p:nvSpPr>
          <p:cNvPr id="57" name="Text 53"/>
          <p:cNvSpPr/>
          <p:nvPr/>
        </p:nvSpPr>
        <p:spPr>
          <a:xfrm>
            <a:off x="1188720" y="2331720"/>
            <a:ext cx="4663440" cy="256032"/>
          </a:xfrm>
          <a:prstGeom prst="rect">
            <a:avLst/>
          </a:prstGeom>
          <a:noFill/>
        </p:spPr>
        <p:txBody>
          <a:bodyPr wrap="square" lIns="0" tIns="0" rIns="0" bIns="0" rtlCol="0" anchor="ctr"/>
          <a:lstStyle/>
          <a:p>
            <a:pPr marL="0" indent="0">
              <a:buNone/>
            </a:pPr>
            <a:r>
              <a:rPr lang="en-US" sz="1200" dirty="0">
                <a:solidFill>
                  <a:srgbClr val="E2E8F0"/>
                </a:solidFill>
              </a:rPr>
              <a:t>Deep-TROJ: Inference-Stage Trojan via Weight Replacement  (CVPR 2024)</a:t>
            </a:r>
            <a:endParaRPr lang="en-US" sz="1200" dirty="0"/>
          </a:p>
        </p:txBody>
      </p:sp>
      <p:sp>
        <p:nvSpPr>
          <p:cNvPr id="58" name="Shape 54"/>
          <p:cNvSpPr/>
          <p:nvPr/>
        </p:nvSpPr>
        <p:spPr>
          <a:xfrm>
            <a:off x="457200" y="2697480"/>
            <a:ext cx="640080" cy="256032"/>
          </a:xfrm>
          <a:prstGeom prst="rect">
            <a:avLst/>
          </a:prstGeom>
          <a:solidFill>
            <a:srgbClr val="8B5CF6"/>
          </a:solidFill>
          <a:ln w="12700">
            <a:solidFill>
              <a:srgbClr val="8B5CF6"/>
            </a:solidFill>
            <a:prstDash val="solid"/>
          </a:ln>
        </p:spPr>
        <p:txBody>
          <a:bodyPr/>
          <a:lstStyle/>
          <a:p>
            <a:endParaRPr lang="en-US"/>
          </a:p>
        </p:txBody>
      </p:sp>
      <p:sp>
        <p:nvSpPr>
          <p:cNvPr id="59" name="Text 55"/>
          <p:cNvSpPr/>
          <p:nvPr/>
        </p:nvSpPr>
        <p:spPr>
          <a:xfrm>
            <a:off x="457200" y="2697480"/>
            <a:ext cx="640080" cy="256032"/>
          </a:xfrm>
          <a:prstGeom prst="rect">
            <a:avLst/>
          </a:prstGeom>
          <a:noFill/>
        </p:spPr>
        <p:txBody>
          <a:bodyPr wrap="square" lIns="0" tIns="0" rIns="0" bIns="0" rtlCol="0" anchor="ctr"/>
          <a:lstStyle/>
          <a:p>
            <a:pPr marL="0" indent="0" algn="ctr">
              <a:buNone/>
            </a:pPr>
            <a:r>
              <a:rPr lang="en-US" sz="1000" b="1" dirty="0">
                <a:solidFill>
                  <a:srgbClr val="FFFFFF"/>
                </a:solidFill>
              </a:rPr>
              <a:t>P2</a:t>
            </a:r>
            <a:endParaRPr lang="en-US" sz="1000" dirty="0"/>
          </a:p>
        </p:txBody>
      </p:sp>
      <p:sp>
        <p:nvSpPr>
          <p:cNvPr id="60" name="Text 56"/>
          <p:cNvSpPr/>
          <p:nvPr/>
        </p:nvSpPr>
        <p:spPr>
          <a:xfrm>
            <a:off x="1188720" y="2697480"/>
            <a:ext cx="4663440" cy="256032"/>
          </a:xfrm>
          <a:prstGeom prst="rect">
            <a:avLst/>
          </a:prstGeom>
          <a:noFill/>
        </p:spPr>
        <p:txBody>
          <a:bodyPr wrap="square" lIns="0" tIns="0" rIns="0" bIns="0" rtlCol="0" anchor="ctr"/>
          <a:lstStyle/>
          <a:p>
            <a:pPr marL="0" indent="0">
              <a:buNone/>
            </a:pPr>
            <a:r>
              <a:rPr lang="en-US" sz="1200" dirty="0">
                <a:solidFill>
                  <a:srgbClr val="E2E8F0"/>
                </a:solidFill>
              </a:rPr>
              <a:t>RowPress vs RowHammer: Compromising DNN Intelligence  (DATE 2025)</a:t>
            </a:r>
            <a:endParaRPr lang="en-US" sz="1200" dirty="0"/>
          </a:p>
        </p:txBody>
      </p:sp>
      <p:sp>
        <p:nvSpPr>
          <p:cNvPr id="61" name="Text 57"/>
          <p:cNvSpPr/>
          <p:nvPr/>
        </p:nvSpPr>
        <p:spPr>
          <a:xfrm>
            <a:off x="457200" y="3154680"/>
            <a:ext cx="5486400" cy="256032"/>
          </a:xfrm>
          <a:prstGeom prst="rect">
            <a:avLst/>
          </a:prstGeom>
          <a:noFill/>
        </p:spPr>
        <p:txBody>
          <a:bodyPr wrap="square" rtlCol="0" anchor="ctr"/>
          <a:lstStyle/>
          <a:p>
            <a:r>
              <a:rPr lang="en-US" sz="1200" b="1" dirty="0">
                <a:solidFill>
                  <a:schemeClr val="bg1"/>
                </a:solidFill>
                <a:latin typeface="Calibri" panose="020F0502020204030204" pitchFamily="34" charset="0"/>
                <a:ea typeface="Calibri" panose="020F0502020204030204" pitchFamily="34" charset="-122"/>
                <a:cs typeface="Calibri" panose="020F0502020204030204" pitchFamily="34" charset="-120"/>
              </a:rPr>
              <a:t>Speaker: Ranyang Zhou</a:t>
            </a:r>
            <a:endParaRPr lang="en-US" sz="1200" b="1" dirty="0">
              <a:solidFill>
                <a:schemeClr val="bg1"/>
              </a:solidFill>
            </a:endParaRPr>
          </a:p>
        </p:txBody>
      </p:sp>
      <p:sp>
        <p:nvSpPr>
          <p:cNvPr id="62" name="Text 58"/>
          <p:cNvSpPr/>
          <p:nvPr/>
        </p:nvSpPr>
        <p:spPr>
          <a:xfrm>
            <a:off x="-45719" y="4658868"/>
            <a:ext cx="5486400" cy="256032"/>
          </a:xfrm>
          <a:prstGeom prst="rect">
            <a:avLst/>
          </a:prstGeom>
          <a:noFill/>
        </p:spPr>
        <p:txBody>
          <a:bodyPr wrap="square" rtlCol="0" anchor="ctr"/>
          <a:lstStyle/>
          <a:p>
            <a:r>
              <a:rPr lang="en-US" sz="1100" i="1" dirty="0">
                <a:solidFill>
                  <a:srgbClr val="94A3B8"/>
                </a:solidFill>
              </a:rPr>
              <a:t>New Jersey Institute of Technology &amp; Binghamton University (SUNY) </a:t>
            </a:r>
            <a:endParaRPr lang="en-US" sz="1100" dirty="0"/>
          </a:p>
        </p:txBody>
      </p:sp>
      <p:sp>
        <p:nvSpPr>
          <p:cNvPr id="65" name="Shape 61"/>
          <p:cNvSpPr/>
          <p:nvPr/>
        </p:nvSpPr>
        <p:spPr>
          <a:xfrm>
            <a:off x="0" y="4919472"/>
            <a:ext cx="9144000" cy="219456"/>
          </a:xfrm>
          <a:prstGeom prst="rect">
            <a:avLst/>
          </a:prstGeom>
          <a:solidFill>
            <a:srgbClr val="2563EB"/>
          </a:solidFill>
          <a:ln w="12700">
            <a:solidFill>
              <a:srgbClr val="2563EB"/>
            </a:solidFill>
            <a:prstDash val="solid"/>
          </a:ln>
        </p:spPr>
        <p:txBody>
          <a:bodyPr/>
          <a:lstStyle/>
          <a:p>
            <a:endParaRPr lang="en-US"/>
          </a:p>
        </p:txBody>
      </p:sp>
      <p:sp>
        <p:nvSpPr>
          <p:cNvPr id="66" name="Text 62"/>
          <p:cNvSpPr/>
          <p:nvPr/>
        </p:nvSpPr>
        <p:spPr>
          <a:xfrm>
            <a:off x="0" y="4919472"/>
            <a:ext cx="9144000" cy="219456"/>
          </a:xfrm>
          <a:prstGeom prst="rect">
            <a:avLst/>
          </a:prstGeom>
          <a:noFill/>
        </p:spPr>
        <p:txBody>
          <a:bodyPr wrap="square" lIns="0" tIns="0" rIns="0" bIns="0" rtlCol="0" anchor="ctr"/>
          <a:lstStyle/>
          <a:p>
            <a:pPr marL="0" indent="0" algn="ctr">
              <a:buNone/>
            </a:pPr>
            <a:r>
              <a:rPr lang="en-US" sz="1000" dirty="0">
                <a:solidFill>
                  <a:srgbClr val="FFFFFF"/>
                </a:solidFill>
              </a:rPr>
              <a:t>Cutting-Edge Infrastructures for Real and Future Memory System Evaluation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457200" y="164592"/>
            <a:ext cx="4572000" cy="457200"/>
          </a:xfrm>
          <a:prstGeom prst="rect">
            <a:avLst/>
          </a:prstGeom>
          <a:noFill/>
        </p:spPr>
        <p:txBody>
          <a:bodyPr wrap="square" rtlCol="0" anchor="ctr"/>
          <a:lstStyle/>
          <a:p>
            <a:pPr marL="0" indent="0">
              <a:buNone/>
            </a:pPr>
            <a:r>
              <a:rPr lang="en-US" sz="2800" b="1" dirty="0">
                <a:solidFill>
                  <a:srgbClr val="FFFFFF"/>
                </a:solidFill>
              </a:rPr>
              <a:t>Talk Roadmap</a:t>
            </a:r>
            <a:endParaRPr lang="en-US" sz="2800" dirty="0"/>
          </a:p>
        </p:txBody>
      </p:sp>
      <p:sp>
        <p:nvSpPr>
          <p:cNvPr id="5" name="Shape 3"/>
          <p:cNvSpPr/>
          <p:nvPr/>
        </p:nvSpPr>
        <p:spPr>
          <a:xfrm>
            <a:off x="384048" y="941832"/>
            <a:ext cx="54864" cy="420624"/>
          </a:xfrm>
          <a:prstGeom prst="rect">
            <a:avLst/>
          </a:prstGeom>
          <a:solidFill>
            <a:srgbClr val="3B82F6"/>
          </a:solidFill>
          <a:ln w="12700">
            <a:solidFill>
              <a:srgbClr val="3B82F6"/>
            </a:solidFill>
            <a:prstDash val="solid"/>
          </a:ln>
        </p:spPr>
        <p:txBody>
          <a:bodyPr/>
          <a:lstStyle/>
          <a:p>
            <a:endParaRPr lang="en-US"/>
          </a:p>
        </p:txBody>
      </p:sp>
      <p:sp>
        <p:nvSpPr>
          <p:cNvPr id="6" name="Shape 4"/>
          <p:cNvSpPr/>
          <p:nvPr/>
        </p:nvSpPr>
        <p:spPr>
          <a:xfrm>
            <a:off x="411480" y="1362456"/>
            <a:ext cx="0" cy="128016"/>
          </a:xfrm>
          <a:prstGeom prst="line">
            <a:avLst/>
          </a:prstGeom>
          <a:noFill/>
          <a:ln w="12700">
            <a:solidFill>
              <a:srgbClr val="1E3A5F"/>
            </a:solidFill>
            <a:prstDash val="solid"/>
          </a:ln>
        </p:spPr>
        <p:txBody>
          <a:bodyPr/>
          <a:lstStyle/>
          <a:p>
            <a:endParaRPr lang="en-US"/>
          </a:p>
        </p:txBody>
      </p:sp>
      <p:sp>
        <p:nvSpPr>
          <p:cNvPr id="7" name="Shape 5"/>
          <p:cNvSpPr/>
          <p:nvPr/>
        </p:nvSpPr>
        <p:spPr>
          <a:xfrm>
            <a:off x="594360" y="777240"/>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8" name="Shape 6"/>
          <p:cNvSpPr/>
          <p:nvPr/>
        </p:nvSpPr>
        <p:spPr>
          <a:xfrm>
            <a:off x="594360" y="777240"/>
            <a:ext cx="640080" cy="621792"/>
          </a:xfrm>
          <a:prstGeom prst="rect">
            <a:avLst/>
          </a:prstGeom>
          <a:solidFill>
            <a:srgbClr val="3B82F6"/>
          </a:solidFill>
          <a:ln w="12700">
            <a:solidFill>
              <a:srgbClr val="3B82F6"/>
            </a:solidFill>
            <a:prstDash val="solid"/>
          </a:ln>
        </p:spPr>
        <p:txBody>
          <a:bodyPr/>
          <a:lstStyle/>
          <a:p>
            <a:endParaRPr lang="en-US"/>
          </a:p>
        </p:txBody>
      </p:sp>
      <p:sp>
        <p:nvSpPr>
          <p:cNvPr id="9" name="Text 7"/>
          <p:cNvSpPr/>
          <p:nvPr/>
        </p:nvSpPr>
        <p:spPr>
          <a:xfrm>
            <a:off x="594360" y="777240"/>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10" name="Text 8"/>
          <p:cNvSpPr/>
          <p:nvPr/>
        </p:nvSpPr>
        <p:spPr>
          <a:xfrm>
            <a:off x="1371600" y="841248"/>
            <a:ext cx="5486400" cy="274320"/>
          </a:xfrm>
          <a:prstGeom prst="rect">
            <a:avLst/>
          </a:prstGeom>
          <a:noFill/>
        </p:spPr>
        <p:txBody>
          <a:bodyPr wrap="square" lIns="0" tIns="0" rIns="0" bIns="0" rtlCol="0" anchor="ctr"/>
          <a:lstStyle/>
          <a:p>
            <a:pPr marL="0" indent="0">
              <a:buNone/>
            </a:pPr>
            <a:r>
              <a:rPr lang="en-US" sz="1400" b="1" dirty="0">
                <a:solidFill>
                  <a:srgbClr val="FFFFFF"/>
                </a:solidFill>
              </a:rPr>
              <a:t>Motivation &amp; Background</a:t>
            </a:r>
            <a:endParaRPr lang="en-US" sz="1400" dirty="0"/>
          </a:p>
        </p:txBody>
      </p:sp>
      <p:sp>
        <p:nvSpPr>
          <p:cNvPr id="11" name="Text 9"/>
          <p:cNvSpPr/>
          <p:nvPr/>
        </p:nvSpPr>
        <p:spPr>
          <a:xfrm>
            <a:off x="1371600" y="1115568"/>
            <a:ext cx="5943600" cy="219456"/>
          </a:xfrm>
          <a:prstGeom prst="rect">
            <a:avLst/>
          </a:prstGeom>
          <a:noFill/>
        </p:spPr>
        <p:txBody>
          <a:bodyPr wrap="square" lIns="0" tIns="0" rIns="0" bIns="0" rtlCol="0" anchor="ctr"/>
          <a:lstStyle/>
          <a:p>
            <a:pPr marL="0" indent="0">
              <a:buNone/>
            </a:pPr>
            <a:r>
              <a:rPr lang="en-US" sz="1100" dirty="0">
                <a:solidFill>
                  <a:srgbClr val="94A3B8"/>
                </a:solidFill>
              </a:rPr>
              <a:t>Why memory attacks on DNNs? Threat landscape.</a:t>
            </a:r>
            <a:endParaRPr lang="en-US" sz="1100" dirty="0"/>
          </a:p>
        </p:txBody>
      </p:sp>
      <p:sp>
        <p:nvSpPr>
          <p:cNvPr id="14" name="Shape 12"/>
          <p:cNvSpPr/>
          <p:nvPr/>
        </p:nvSpPr>
        <p:spPr>
          <a:xfrm>
            <a:off x="384048" y="1645920"/>
            <a:ext cx="54864" cy="420624"/>
          </a:xfrm>
          <a:prstGeom prst="rect">
            <a:avLst/>
          </a:prstGeom>
          <a:solidFill>
            <a:srgbClr val="06B6D4"/>
          </a:solidFill>
          <a:ln w="12700">
            <a:solidFill>
              <a:srgbClr val="06B6D4"/>
            </a:solidFill>
            <a:prstDash val="solid"/>
          </a:ln>
        </p:spPr>
        <p:txBody>
          <a:bodyPr/>
          <a:lstStyle/>
          <a:p>
            <a:endParaRPr lang="en-US"/>
          </a:p>
        </p:txBody>
      </p:sp>
      <p:sp>
        <p:nvSpPr>
          <p:cNvPr id="15" name="Shape 13"/>
          <p:cNvSpPr/>
          <p:nvPr/>
        </p:nvSpPr>
        <p:spPr>
          <a:xfrm>
            <a:off x="411480" y="2066544"/>
            <a:ext cx="0" cy="128016"/>
          </a:xfrm>
          <a:prstGeom prst="line">
            <a:avLst/>
          </a:prstGeom>
          <a:noFill/>
          <a:ln w="12700">
            <a:solidFill>
              <a:srgbClr val="1E3A5F"/>
            </a:solidFill>
            <a:prstDash val="solid"/>
          </a:ln>
        </p:spPr>
        <p:txBody>
          <a:bodyPr/>
          <a:lstStyle/>
          <a:p>
            <a:endParaRPr lang="en-US"/>
          </a:p>
        </p:txBody>
      </p:sp>
      <p:sp>
        <p:nvSpPr>
          <p:cNvPr id="16" name="Shape 14"/>
          <p:cNvSpPr/>
          <p:nvPr/>
        </p:nvSpPr>
        <p:spPr>
          <a:xfrm>
            <a:off x="594360" y="1481328"/>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594360" y="1481328"/>
            <a:ext cx="640080" cy="621792"/>
          </a:xfrm>
          <a:prstGeom prst="rect">
            <a:avLst/>
          </a:prstGeom>
          <a:solidFill>
            <a:srgbClr val="06B6D4"/>
          </a:solidFill>
          <a:ln w="12700">
            <a:solidFill>
              <a:srgbClr val="06B6D4"/>
            </a:solidFill>
            <a:prstDash val="solid"/>
          </a:ln>
        </p:spPr>
        <p:txBody>
          <a:bodyPr/>
          <a:lstStyle/>
          <a:p>
            <a:endParaRPr lang="en-US"/>
          </a:p>
        </p:txBody>
      </p:sp>
      <p:sp>
        <p:nvSpPr>
          <p:cNvPr id="18" name="Text 16"/>
          <p:cNvSpPr/>
          <p:nvPr/>
        </p:nvSpPr>
        <p:spPr>
          <a:xfrm>
            <a:off x="594360" y="1481328"/>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9" name="Text 17"/>
          <p:cNvSpPr/>
          <p:nvPr/>
        </p:nvSpPr>
        <p:spPr>
          <a:xfrm>
            <a:off x="1371600" y="1545336"/>
            <a:ext cx="5486400" cy="274320"/>
          </a:xfrm>
          <a:prstGeom prst="rect">
            <a:avLst/>
          </a:prstGeom>
          <a:noFill/>
        </p:spPr>
        <p:txBody>
          <a:bodyPr wrap="square" lIns="0" tIns="0" rIns="0" bIns="0" rtlCol="0" anchor="ctr"/>
          <a:lstStyle/>
          <a:p>
            <a:pPr marL="0" indent="0">
              <a:buNone/>
            </a:pPr>
            <a:r>
              <a:rPr lang="en-US" sz="1400" b="1" dirty="0">
                <a:solidFill>
                  <a:srgbClr val="FFFFFF"/>
                </a:solidFill>
              </a:rPr>
              <a:t>DRAM Fundamentals</a:t>
            </a:r>
            <a:endParaRPr lang="en-US" sz="1400" dirty="0"/>
          </a:p>
        </p:txBody>
      </p:sp>
      <p:sp>
        <p:nvSpPr>
          <p:cNvPr id="20" name="Text 18"/>
          <p:cNvSpPr/>
          <p:nvPr/>
        </p:nvSpPr>
        <p:spPr>
          <a:xfrm>
            <a:off x="1371600" y="1819656"/>
            <a:ext cx="5943600" cy="219456"/>
          </a:xfrm>
          <a:prstGeom prst="rect">
            <a:avLst/>
          </a:prstGeom>
          <a:noFill/>
        </p:spPr>
        <p:txBody>
          <a:bodyPr wrap="square" lIns="0" tIns="0" rIns="0" bIns="0" rtlCol="0" anchor="ctr"/>
          <a:lstStyle/>
          <a:p>
            <a:pPr marL="0" indent="0">
              <a:buNone/>
            </a:pPr>
            <a:r>
              <a:rPr lang="en-US" sz="1100" dirty="0">
                <a:solidFill>
                  <a:srgbClr val="94A3B8"/>
                </a:solidFill>
              </a:rPr>
              <a:t>RowHammer, RowPress mechanics, and bit-flip models.</a:t>
            </a:r>
            <a:endParaRPr lang="en-US" sz="1100" dirty="0"/>
          </a:p>
        </p:txBody>
      </p:sp>
      <p:sp>
        <p:nvSpPr>
          <p:cNvPr id="23" name="Shape 21"/>
          <p:cNvSpPr/>
          <p:nvPr/>
        </p:nvSpPr>
        <p:spPr>
          <a:xfrm>
            <a:off x="384048" y="2350008"/>
            <a:ext cx="54864" cy="420624"/>
          </a:xfrm>
          <a:prstGeom prst="rect">
            <a:avLst/>
          </a:prstGeom>
          <a:solidFill>
            <a:srgbClr val="F59E0B"/>
          </a:solidFill>
          <a:ln w="12700">
            <a:solidFill>
              <a:srgbClr val="F59E0B"/>
            </a:solidFill>
            <a:prstDash val="solid"/>
          </a:ln>
        </p:spPr>
        <p:txBody>
          <a:bodyPr/>
          <a:lstStyle/>
          <a:p>
            <a:endParaRPr lang="en-US"/>
          </a:p>
        </p:txBody>
      </p:sp>
      <p:sp>
        <p:nvSpPr>
          <p:cNvPr id="24" name="Shape 22"/>
          <p:cNvSpPr/>
          <p:nvPr/>
        </p:nvSpPr>
        <p:spPr>
          <a:xfrm>
            <a:off x="411480" y="2770632"/>
            <a:ext cx="0" cy="128016"/>
          </a:xfrm>
          <a:prstGeom prst="line">
            <a:avLst/>
          </a:prstGeom>
          <a:noFill/>
          <a:ln w="12700">
            <a:solidFill>
              <a:srgbClr val="1E3A5F"/>
            </a:solidFill>
            <a:prstDash val="solid"/>
          </a:ln>
        </p:spPr>
        <p:txBody>
          <a:bodyPr/>
          <a:lstStyle/>
          <a:p>
            <a:endParaRPr lang="en-US"/>
          </a:p>
        </p:txBody>
      </p:sp>
      <p:sp>
        <p:nvSpPr>
          <p:cNvPr id="25" name="Shape 23"/>
          <p:cNvSpPr/>
          <p:nvPr/>
        </p:nvSpPr>
        <p:spPr>
          <a:xfrm>
            <a:off x="594360" y="2185416"/>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26" name="Shape 24"/>
          <p:cNvSpPr/>
          <p:nvPr/>
        </p:nvSpPr>
        <p:spPr>
          <a:xfrm>
            <a:off x="594360" y="2185416"/>
            <a:ext cx="640080" cy="621792"/>
          </a:xfrm>
          <a:prstGeom prst="rect">
            <a:avLst/>
          </a:prstGeom>
          <a:solidFill>
            <a:srgbClr val="F59E0B"/>
          </a:solidFill>
          <a:ln w="12700">
            <a:solidFill>
              <a:srgbClr val="F59E0B"/>
            </a:solidFill>
            <a:prstDash val="solid"/>
          </a:ln>
        </p:spPr>
        <p:txBody>
          <a:bodyPr/>
          <a:lstStyle/>
          <a:p>
            <a:endParaRPr lang="en-US"/>
          </a:p>
        </p:txBody>
      </p:sp>
      <p:sp>
        <p:nvSpPr>
          <p:cNvPr id="27" name="Text 25"/>
          <p:cNvSpPr/>
          <p:nvPr/>
        </p:nvSpPr>
        <p:spPr>
          <a:xfrm>
            <a:off x="594360" y="2185416"/>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8" name="Text 26"/>
          <p:cNvSpPr/>
          <p:nvPr/>
        </p:nvSpPr>
        <p:spPr>
          <a:xfrm>
            <a:off x="1371600" y="2249424"/>
            <a:ext cx="5486400" cy="274320"/>
          </a:xfrm>
          <a:prstGeom prst="rect">
            <a:avLst/>
          </a:prstGeom>
          <a:noFill/>
        </p:spPr>
        <p:txBody>
          <a:bodyPr wrap="square" lIns="0" tIns="0" rIns="0" bIns="0" rtlCol="0" anchor="ctr"/>
          <a:lstStyle/>
          <a:p>
            <a:pPr marL="0" indent="0">
              <a:buNone/>
            </a:pPr>
            <a:r>
              <a:rPr lang="en-US" sz="1400" b="1" dirty="0">
                <a:solidFill>
                  <a:srgbClr val="FFFFFF"/>
                </a:solidFill>
              </a:rPr>
              <a:t>Deep-TROJ Attack </a:t>
            </a:r>
            <a:endParaRPr lang="en-US" sz="1400" dirty="0"/>
          </a:p>
        </p:txBody>
      </p:sp>
      <p:sp>
        <p:nvSpPr>
          <p:cNvPr id="29" name="Text 27"/>
          <p:cNvSpPr/>
          <p:nvPr/>
        </p:nvSpPr>
        <p:spPr>
          <a:xfrm>
            <a:off x="1371600" y="2523744"/>
            <a:ext cx="5943600" cy="219456"/>
          </a:xfrm>
          <a:prstGeom prst="rect">
            <a:avLst/>
          </a:prstGeom>
          <a:noFill/>
        </p:spPr>
        <p:txBody>
          <a:bodyPr wrap="square" lIns="0" tIns="0" rIns="0" bIns="0" rtlCol="0" anchor="ctr"/>
          <a:lstStyle/>
          <a:p>
            <a:pPr marL="0" indent="0">
              <a:buNone/>
            </a:pPr>
            <a:r>
              <a:rPr lang="en-US" sz="1100" dirty="0">
                <a:solidFill>
                  <a:srgbClr val="94A3B8"/>
                </a:solidFill>
              </a:rPr>
              <a:t>Weight block replacement via PFN bit-flips. CVPR 2024.</a:t>
            </a:r>
            <a:endParaRPr lang="en-US" sz="1100" dirty="0"/>
          </a:p>
        </p:txBody>
      </p:sp>
      <p:sp>
        <p:nvSpPr>
          <p:cNvPr id="32" name="Shape 30"/>
          <p:cNvSpPr/>
          <p:nvPr/>
        </p:nvSpPr>
        <p:spPr>
          <a:xfrm>
            <a:off x="384048" y="3054096"/>
            <a:ext cx="54864" cy="420624"/>
          </a:xfrm>
          <a:prstGeom prst="rect">
            <a:avLst/>
          </a:prstGeom>
          <a:solidFill>
            <a:srgbClr val="8B5CF6"/>
          </a:solidFill>
          <a:ln w="12700">
            <a:solidFill>
              <a:srgbClr val="8B5CF6"/>
            </a:solidFill>
            <a:prstDash val="solid"/>
          </a:ln>
        </p:spPr>
        <p:txBody>
          <a:bodyPr/>
          <a:lstStyle/>
          <a:p>
            <a:endParaRPr lang="en-US"/>
          </a:p>
        </p:txBody>
      </p:sp>
      <p:sp>
        <p:nvSpPr>
          <p:cNvPr id="33" name="Shape 31"/>
          <p:cNvSpPr/>
          <p:nvPr/>
        </p:nvSpPr>
        <p:spPr>
          <a:xfrm>
            <a:off x="411480" y="3474720"/>
            <a:ext cx="0" cy="128016"/>
          </a:xfrm>
          <a:prstGeom prst="line">
            <a:avLst/>
          </a:prstGeom>
          <a:noFill/>
          <a:ln w="12700">
            <a:solidFill>
              <a:srgbClr val="1E3A5F"/>
            </a:solidFill>
            <a:prstDash val="solid"/>
          </a:ln>
        </p:spPr>
        <p:txBody>
          <a:bodyPr/>
          <a:lstStyle/>
          <a:p>
            <a:endParaRPr lang="en-US"/>
          </a:p>
        </p:txBody>
      </p:sp>
      <p:sp>
        <p:nvSpPr>
          <p:cNvPr id="34" name="Shape 32"/>
          <p:cNvSpPr/>
          <p:nvPr/>
        </p:nvSpPr>
        <p:spPr>
          <a:xfrm>
            <a:off x="594360" y="2889504"/>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33"/>
          <p:cNvSpPr/>
          <p:nvPr/>
        </p:nvSpPr>
        <p:spPr>
          <a:xfrm>
            <a:off x="594360" y="2889504"/>
            <a:ext cx="640080" cy="621792"/>
          </a:xfrm>
          <a:prstGeom prst="rect">
            <a:avLst/>
          </a:prstGeom>
          <a:solidFill>
            <a:srgbClr val="8B5CF6"/>
          </a:solidFill>
          <a:ln w="12700">
            <a:solidFill>
              <a:srgbClr val="8B5CF6"/>
            </a:solidFill>
            <a:prstDash val="solid"/>
          </a:ln>
        </p:spPr>
        <p:txBody>
          <a:bodyPr/>
          <a:lstStyle/>
          <a:p>
            <a:endParaRPr lang="en-US"/>
          </a:p>
        </p:txBody>
      </p:sp>
      <p:sp>
        <p:nvSpPr>
          <p:cNvPr id="36" name="Text 34"/>
          <p:cNvSpPr/>
          <p:nvPr/>
        </p:nvSpPr>
        <p:spPr>
          <a:xfrm>
            <a:off x="594360" y="2889504"/>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37" name="Text 35"/>
          <p:cNvSpPr/>
          <p:nvPr/>
        </p:nvSpPr>
        <p:spPr>
          <a:xfrm>
            <a:off x="1371600" y="2953512"/>
            <a:ext cx="5486400" cy="274320"/>
          </a:xfrm>
          <a:prstGeom prst="rect">
            <a:avLst/>
          </a:prstGeom>
          <a:noFill/>
        </p:spPr>
        <p:txBody>
          <a:bodyPr wrap="square" lIns="0" tIns="0" rIns="0" bIns="0" rtlCol="0" anchor="ctr"/>
          <a:lstStyle/>
          <a:p>
            <a:pPr marL="0" indent="0">
              <a:buNone/>
            </a:pPr>
            <a:r>
              <a:rPr lang="en-US" sz="1400" b="1" dirty="0">
                <a:solidFill>
                  <a:srgbClr val="FFFFFF"/>
                </a:solidFill>
              </a:rPr>
              <a:t>RowPress on DNNs  </a:t>
            </a:r>
            <a:endParaRPr lang="en-US" sz="1400" dirty="0"/>
          </a:p>
        </p:txBody>
      </p:sp>
      <p:sp>
        <p:nvSpPr>
          <p:cNvPr id="38" name="Text 36"/>
          <p:cNvSpPr/>
          <p:nvPr/>
        </p:nvSpPr>
        <p:spPr>
          <a:xfrm>
            <a:off x="1371600" y="3227832"/>
            <a:ext cx="5943600" cy="219456"/>
          </a:xfrm>
          <a:prstGeom prst="rect">
            <a:avLst/>
          </a:prstGeom>
          <a:noFill/>
        </p:spPr>
        <p:txBody>
          <a:bodyPr wrap="square" lIns="0" tIns="0" rIns="0" bIns="0" rtlCol="0" anchor="ctr"/>
          <a:lstStyle/>
          <a:p>
            <a:pPr marL="0" indent="0">
              <a:buNone/>
            </a:pPr>
            <a:r>
              <a:rPr lang="en-US" sz="1100" dirty="0">
                <a:solidFill>
                  <a:srgbClr val="94A3B8"/>
                </a:solidFill>
              </a:rPr>
              <a:t>Profile-aware attack. RP vs RH comparison. DATE 2025.</a:t>
            </a:r>
            <a:endParaRPr lang="en-US" sz="1100" dirty="0"/>
          </a:p>
        </p:txBody>
      </p:sp>
      <p:sp>
        <p:nvSpPr>
          <p:cNvPr id="41" name="Shape 39"/>
          <p:cNvSpPr/>
          <p:nvPr/>
        </p:nvSpPr>
        <p:spPr>
          <a:xfrm>
            <a:off x="384048" y="3758184"/>
            <a:ext cx="54864" cy="420624"/>
          </a:xfrm>
          <a:prstGeom prst="rect">
            <a:avLst/>
          </a:prstGeom>
          <a:solidFill>
            <a:srgbClr val="22C55E"/>
          </a:solidFill>
          <a:ln w="12700">
            <a:solidFill>
              <a:srgbClr val="22C55E"/>
            </a:solidFill>
            <a:prstDash val="solid"/>
          </a:ln>
        </p:spPr>
        <p:txBody>
          <a:bodyPr/>
          <a:lstStyle/>
          <a:p>
            <a:endParaRPr lang="en-US"/>
          </a:p>
        </p:txBody>
      </p:sp>
      <p:sp>
        <p:nvSpPr>
          <p:cNvPr id="42" name="Shape 40"/>
          <p:cNvSpPr/>
          <p:nvPr/>
        </p:nvSpPr>
        <p:spPr>
          <a:xfrm>
            <a:off x="411480" y="4178808"/>
            <a:ext cx="0" cy="128016"/>
          </a:xfrm>
          <a:prstGeom prst="line">
            <a:avLst/>
          </a:prstGeom>
          <a:noFill/>
          <a:ln w="12700">
            <a:solidFill>
              <a:srgbClr val="1E3A5F"/>
            </a:solidFill>
            <a:prstDash val="solid"/>
          </a:ln>
        </p:spPr>
        <p:txBody>
          <a:bodyPr/>
          <a:lstStyle/>
          <a:p>
            <a:endParaRPr lang="en-US"/>
          </a:p>
        </p:txBody>
      </p:sp>
      <p:sp>
        <p:nvSpPr>
          <p:cNvPr id="43" name="Shape 41"/>
          <p:cNvSpPr/>
          <p:nvPr/>
        </p:nvSpPr>
        <p:spPr>
          <a:xfrm>
            <a:off x="594360" y="3593592"/>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44" name="Shape 42"/>
          <p:cNvSpPr/>
          <p:nvPr/>
        </p:nvSpPr>
        <p:spPr>
          <a:xfrm>
            <a:off x="594360" y="3593592"/>
            <a:ext cx="640080" cy="621792"/>
          </a:xfrm>
          <a:prstGeom prst="rect">
            <a:avLst/>
          </a:prstGeom>
          <a:solidFill>
            <a:srgbClr val="22C55E"/>
          </a:solidFill>
          <a:ln w="12700">
            <a:solidFill>
              <a:srgbClr val="22C55E"/>
            </a:solidFill>
            <a:prstDash val="solid"/>
          </a:ln>
        </p:spPr>
        <p:txBody>
          <a:bodyPr/>
          <a:lstStyle/>
          <a:p>
            <a:endParaRPr lang="en-US"/>
          </a:p>
        </p:txBody>
      </p:sp>
      <p:sp>
        <p:nvSpPr>
          <p:cNvPr id="45" name="Text 43"/>
          <p:cNvSpPr/>
          <p:nvPr/>
        </p:nvSpPr>
        <p:spPr>
          <a:xfrm>
            <a:off x="594360" y="3593592"/>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46" name="Text 44"/>
          <p:cNvSpPr/>
          <p:nvPr/>
        </p:nvSpPr>
        <p:spPr>
          <a:xfrm>
            <a:off x="1371600" y="3657600"/>
            <a:ext cx="5486400" cy="274320"/>
          </a:xfrm>
          <a:prstGeom prst="rect">
            <a:avLst/>
          </a:prstGeom>
          <a:noFill/>
        </p:spPr>
        <p:txBody>
          <a:bodyPr wrap="square" lIns="0" tIns="0" rIns="0" bIns="0" rtlCol="0" anchor="ctr"/>
          <a:lstStyle/>
          <a:p>
            <a:pPr marL="0" indent="0">
              <a:buNone/>
            </a:pPr>
            <a:r>
              <a:rPr lang="en-US" sz="1400" b="1" dirty="0">
                <a:solidFill>
                  <a:srgbClr val="FFFFFF"/>
                </a:solidFill>
              </a:rPr>
              <a:t>Defenses &amp; Discussion</a:t>
            </a:r>
            <a:endParaRPr lang="en-US" sz="1400" dirty="0"/>
          </a:p>
        </p:txBody>
      </p:sp>
      <p:sp>
        <p:nvSpPr>
          <p:cNvPr id="47" name="Text 45"/>
          <p:cNvSpPr/>
          <p:nvPr/>
        </p:nvSpPr>
        <p:spPr>
          <a:xfrm>
            <a:off x="1371600" y="3931920"/>
            <a:ext cx="5943600" cy="219456"/>
          </a:xfrm>
          <a:prstGeom prst="rect">
            <a:avLst/>
          </a:prstGeom>
          <a:noFill/>
        </p:spPr>
        <p:txBody>
          <a:bodyPr wrap="square" lIns="0" tIns="0" rIns="0" bIns="0" rtlCol="0" anchor="ctr"/>
          <a:lstStyle/>
          <a:p>
            <a:pPr marL="0" indent="0">
              <a:buNone/>
            </a:pPr>
            <a:r>
              <a:rPr lang="en-US" sz="1100" dirty="0">
                <a:solidFill>
                  <a:srgbClr val="94A3B8"/>
                </a:solidFill>
              </a:rPr>
              <a:t>What fails, what's needed, open research questions.</a:t>
            </a:r>
            <a:endParaRPr lang="en-US" sz="1100" dirty="0"/>
          </a:p>
        </p:txBody>
      </p:sp>
      <p:sp>
        <p:nvSpPr>
          <p:cNvPr id="50" name="Shape 48"/>
          <p:cNvSpPr/>
          <p:nvPr/>
        </p:nvSpPr>
        <p:spPr>
          <a:xfrm>
            <a:off x="384048" y="4462272"/>
            <a:ext cx="54864" cy="420624"/>
          </a:xfrm>
          <a:prstGeom prst="rect">
            <a:avLst/>
          </a:prstGeom>
          <a:solidFill>
            <a:srgbClr val="EC4899"/>
          </a:solidFill>
          <a:ln w="12700">
            <a:solidFill>
              <a:srgbClr val="EC4899"/>
            </a:solidFill>
            <a:prstDash val="solid"/>
          </a:ln>
        </p:spPr>
        <p:txBody>
          <a:bodyPr/>
          <a:lstStyle/>
          <a:p>
            <a:endParaRPr lang="en-US"/>
          </a:p>
        </p:txBody>
      </p:sp>
      <p:sp>
        <p:nvSpPr>
          <p:cNvPr id="51" name="Shape 49"/>
          <p:cNvSpPr/>
          <p:nvPr/>
        </p:nvSpPr>
        <p:spPr>
          <a:xfrm>
            <a:off x="594360" y="4297680"/>
            <a:ext cx="8046720" cy="621792"/>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52" name="Shape 50"/>
          <p:cNvSpPr/>
          <p:nvPr/>
        </p:nvSpPr>
        <p:spPr>
          <a:xfrm>
            <a:off x="594360" y="4297680"/>
            <a:ext cx="640080" cy="621792"/>
          </a:xfrm>
          <a:prstGeom prst="rect">
            <a:avLst/>
          </a:prstGeom>
          <a:solidFill>
            <a:srgbClr val="EC4899"/>
          </a:solidFill>
          <a:ln w="12700">
            <a:solidFill>
              <a:srgbClr val="EC4899"/>
            </a:solidFill>
            <a:prstDash val="solid"/>
          </a:ln>
        </p:spPr>
        <p:txBody>
          <a:bodyPr/>
          <a:lstStyle/>
          <a:p>
            <a:endParaRPr lang="en-US"/>
          </a:p>
        </p:txBody>
      </p:sp>
      <p:sp>
        <p:nvSpPr>
          <p:cNvPr id="53" name="Text 51"/>
          <p:cNvSpPr/>
          <p:nvPr/>
        </p:nvSpPr>
        <p:spPr>
          <a:xfrm>
            <a:off x="594360" y="4297680"/>
            <a:ext cx="640080" cy="621792"/>
          </a:xfrm>
          <a:prstGeom prst="rect">
            <a:avLst/>
          </a:prstGeom>
          <a:noFill/>
        </p:spPr>
        <p:txBody>
          <a:bodyPr wrap="square" lIns="0" tIns="0" rIns="0" bIns="0" rtlCol="0" anchor="ctr"/>
          <a:lstStyle/>
          <a:p>
            <a:pPr marL="0" indent="0" algn="ctr">
              <a:buNone/>
            </a:pPr>
            <a:r>
              <a:rPr lang="en-US" sz="1400" b="1" dirty="0">
                <a:solidFill>
                  <a:srgbClr val="FFFFFF"/>
                </a:solidFill>
              </a:rPr>
              <a:t>06</a:t>
            </a:r>
            <a:endParaRPr lang="en-US" sz="1400" dirty="0"/>
          </a:p>
        </p:txBody>
      </p:sp>
      <p:sp>
        <p:nvSpPr>
          <p:cNvPr id="54" name="Text 52"/>
          <p:cNvSpPr/>
          <p:nvPr/>
        </p:nvSpPr>
        <p:spPr>
          <a:xfrm>
            <a:off x="1371600" y="4361688"/>
            <a:ext cx="5486400" cy="274320"/>
          </a:xfrm>
          <a:prstGeom prst="rect">
            <a:avLst/>
          </a:prstGeom>
          <a:noFill/>
        </p:spPr>
        <p:txBody>
          <a:bodyPr wrap="square" lIns="0" tIns="0" rIns="0" bIns="0" rtlCol="0" anchor="ctr"/>
          <a:lstStyle/>
          <a:p>
            <a:pPr marL="0" indent="0">
              <a:buNone/>
            </a:pPr>
            <a:r>
              <a:rPr lang="en-US" sz="1400" b="1" dirty="0">
                <a:solidFill>
                  <a:srgbClr val="FFFFFF"/>
                </a:solidFill>
              </a:rPr>
              <a:t>Conclusions &amp; Takeaways</a:t>
            </a:r>
            <a:endParaRPr lang="en-US" sz="1400" dirty="0"/>
          </a:p>
        </p:txBody>
      </p:sp>
      <p:sp>
        <p:nvSpPr>
          <p:cNvPr id="55" name="Text 53"/>
          <p:cNvSpPr/>
          <p:nvPr/>
        </p:nvSpPr>
        <p:spPr>
          <a:xfrm>
            <a:off x="1371600" y="4636008"/>
            <a:ext cx="5943600" cy="219456"/>
          </a:xfrm>
          <a:prstGeom prst="rect">
            <a:avLst/>
          </a:prstGeom>
          <a:noFill/>
        </p:spPr>
        <p:txBody>
          <a:bodyPr wrap="square" lIns="0" tIns="0" rIns="0" bIns="0" rtlCol="0" anchor="ctr"/>
          <a:lstStyle/>
          <a:p>
            <a:pPr marL="0" indent="0">
              <a:buNone/>
            </a:pPr>
            <a:r>
              <a:rPr lang="en-US" sz="1100" dirty="0">
                <a:solidFill>
                  <a:srgbClr val="94A3B8"/>
                </a:solidFill>
              </a:rPr>
              <a:t>Key findings, impact, and future directions.</a:t>
            </a:r>
            <a:endParaRPr lang="en-US" sz="11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640080" y="182880"/>
            <a:ext cx="1828800" cy="182880"/>
          </a:xfrm>
          <a:prstGeom prst="rect">
            <a:avLst/>
          </a:prstGeom>
          <a:noFill/>
        </p:spPr>
        <p:txBody>
          <a:bodyPr wrap="square" lIns="0" tIns="0" rIns="0" bIns="0" rtlCol="0" anchor="ctr"/>
          <a:lstStyle/>
          <a:p>
            <a:pPr marL="0" indent="0">
              <a:buNone/>
            </a:pPr>
            <a:r>
              <a:rPr lang="en-US" sz="900" b="1" kern="0" spc="200" dirty="0">
                <a:solidFill>
                  <a:srgbClr val="3B82F6"/>
                </a:solidFill>
              </a:rPr>
              <a:t>MOTIVATION</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Why Do Memory Attacks on DNNs Matter?</a:t>
            </a:r>
            <a:endParaRPr lang="en-US" sz="2600" dirty="0"/>
          </a:p>
        </p:txBody>
      </p:sp>
      <p:sp>
        <p:nvSpPr>
          <p:cNvPr id="6" name="Text 4"/>
          <p:cNvSpPr/>
          <p:nvPr/>
        </p:nvSpPr>
        <p:spPr>
          <a:xfrm>
            <a:off x="457200" y="886968"/>
            <a:ext cx="8229600" cy="256032"/>
          </a:xfrm>
          <a:prstGeom prst="rect">
            <a:avLst/>
          </a:prstGeom>
          <a:noFill/>
        </p:spPr>
        <p:txBody>
          <a:bodyPr wrap="square" rtlCol="0" anchor="ctr"/>
          <a:lstStyle/>
          <a:p>
            <a:pPr marL="0" indent="0">
              <a:buNone/>
            </a:pPr>
            <a:r>
              <a:rPr lang="en-US" sz="1300" dirty="0">
                <a:solidFill>
                  <a:srgbClr val="E2E8F0"/>
                </a:solidFill>
              </a:rPr>
              <a:t>DNNs are deployed in safety-critical applications:</a:t>
            </a:r>
            <a:endParaRPr lang="en-US" sz="1300" dirty="0"/>
          </a:p>
        </p:txBody>
      </p:sp>
      <p:sp>
        <p:nvSpPr>
          <p:cNvPr id="7" name="Shape 5"/>
          <p:cNvSpPr/>
          <p:nvPr/>
        </p:nvSpPr>
        <p:spPr>
          <a:xfrm>
            <a:off x="457200" y="1207008"/>
            <a:ext cx="1965960" cy="1051560"/>
          </a:xfrm>
          <a:prstGeom prst="rect">
            <a:avLst/>
          </a:prstGeom>
          <a:solidFill>
            <a:srgbClr val="162035"/>
          </a:solidFill>
          <a:ln w="19050">
            <a:solidFill>
              <a:srgbClr val="EF4444"/>
            </a:solidFill>
            <a:prstDash val="solid"/>
          </a:ln>
          <a:effectLst>
            <a:outerShdw blurRad="101600" dist="38100" dir="8100000" algn="bl" rotWithShape="0">
              <a:srgbClr val="000000">
                <a:alpha val="25000"/>
              </a:srgbClr>
            </a:outerShdw>
          </a:effectLst>
        </p:spPr>
        <p:txBody>
          <a:bodyPr/>
          <a:lstStyle/>
          <a:p>
            <a:endParaRPr lang="en-US"/>
          </a:p>
        </p:txBody>
      </p:sp>
      <p:sp>
        <p:nvSpPr>
          <p:cNvPr id="8" name="Text 6"/>
          <p:cNvSpPr/>
          <p:nvPr/>
        </p:nvSpPr>
        <p:spPr>
          <a:xfrm>
            <a:off x="457200" y="1261872"/>
            <a:ext cx="1965960" cy="4572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457200" y="1719072"/>
            <a:ext cx="1965960" cy="457200"/>
          </a:xfrm>
          <a:prstGeom prst="rect">
            <a:avLst/>
          </a:prstGeom>
          <a:noFill/>
        </p:spPr>
        <p:txBody>
          <a:bodyPr wrap="square" lIns="0" tIns="0" rIns="0" bIns="0" rtlCol="0" anchor="ctr"/>
          <a:lstStyle/>
          <a:p>
            <a:pPr marL="0" indent="0" algn="ctr">
              <a:buNone/>
            </a:pPr>
            <a:r>
              <a:rPr lang="en-US" sz="1100" b="1" dirty="0">
                <a:solidFill>
                  <a:srgbClr val="E2E8F0"/>
                </a:solidFill>
              </a:rPr>
              <a:t>Autonomous</a:t>
            </a:r>
            <a:endParaRPr lang="en-US" sz="1100" dirty="0"/>
          </a:p>
          <a:p>
            <a:pPr marL="0" indent="0" algn="ctr">
              <a:buNone/>
            </a:pPr>
            <a:r>
              <a:rPr lang="en-US" sz="1100" b="1" dirty="0">
                <a:solidFill>
                  <a:srgbClr val="E2E8F0"/>
                </a:solidFill>
              </a:rPr>
              <a:t>Vehicles</a:t>
            </a:r>
            <a:endParaRPr lang="en-US" sz="1100" dirty="0"/>
          </a:p>
        </p:txBody>
      </p:sp>
      <p:sp>
        <p:nvSpPr>
          <p:cNvPr id="10" name="Shape 8"/>
          <p:cNvSpPr/>
          <p:nvPr/>
        </p:nvSpPr>
        <p:spPr>
          <a:xfrm>
            <a:off x="2606040" y="1207008"/>
            <a:ext cx="1965960" cy="1051560"/>
          </a:xfrm>
          <a:prstGeom prst="rect">
            <a:avLst/>
          </a:prstGeom>
          <a:solidFill>
            <a:srgbClr val="162035"/>
          </a:solidFill>
          <a:ln w="1905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11" name="Text 9"/>
          <p:cNvSpPr/>
          <p:nvPr/>
        </p:nvSpPr>
        <p:spPr>
          <a:xfrm>
            <a:off x="2606040" y="1261872"/>
            <a:ext cx="1965960" cy="4572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2" name="Text 10"/>
          <p:cNvSpPr/>
          <p:nvPr/>
        </p:nvSpPr>
        <p:spPr>
          <a:xfrm>
            <a:off x="2606040" y="1719072"/>
            <a:ext cx="1965960" cy="457200"/>
          </a:xfrm>
          <a:prstGeom prst="rect">
            <a:avLst/>
          </a:prstGeom>
          <a:noFill/>
        </p:spPr>
        <p:txBody>
          <a:bodyPr wrap="square" lIns="0" tIns="0" rIns="0" bIns="0" rtlCol="0" anchor="ctr"/>
          <a:lstStyle/>
          <a:p>
            <a:pPr marL="0" indent="0" algn="ctr">
              <a:buNone/>
            </a:pPr>
            <a:r>
              <a:rPr lang="en-US" sz="1100" b="1" dirty="0">
                <a:solidFill>
                  <a:srgbClr val="E2E8F0"/>
                </a:solidFill>
              </a:rPr>
              <a:t>Medical</a:t>
            </a:r>
            <a:endParaRPr lang="en-US" sz="1100" dirty="0"/>
          </a:p>
          <a:p>
            <a:pPr marL="0" indent="0" algn="ctr">
              <a:buNone/>
            </a:pPr>
            <a:r>
              <a:rPr lang="en-US" sz="1100" b="1" dirty="0">
                <a:solidFill>
                  <a:srgbClr val="E2E8F0"/>
                </a:solidFill>
              </a:rPr>
              <a:t>Imaging</a:t>
            </a:r>
            <a:endParaRPr lang="en-US" sz="1100" dirty="0"/>
          </a:p>
        </p:txBody>
      </p:sp>
      <p:sp>
        <p:nvSpPr>
          <p:cNvPr id="13" name="Shape 11"/>
          <p:cNvSpPr/>
          <p:nvPr/>
        </p:nvSpPr>
        <p:spPr>
          <a:xfrm>
            <a:off x="4754880" y="1207008"/>
            <a:ext cx="1965960" cy="1051560"/>
          </a:xfrm>
          <a:prstGeom prst="rect">
            <a:avLst/>
          </a:prstGeom>
          <a:solidFill>
            <a:srgbClr val="162035"/>
          </a:solidFill>
          <a:ln w="1905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14" name="Text 12"/>
          <p:cNvSpPr/>
          <p:nvPr/>
        </p:nvSpPr>
        <p:spPr>
          <a:xfrm>
            <a:off x="4754880" y="1261872"/>
            <a:ext cx="1965960" cy="4572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4754880" y="1719072"/>
            <a:ext cx="1965960" cy="457200"/>
          </a:xfrm>
          <a:prstGeom prst="rect">
            <a:avLst/>
          </a:prstGeom>
          <a:noFill/>
        </p:spPr>
        <p:txBody>
          <a:bodyPr wrap="square" lIns="0" tIns="0" rIns="0" bIns="0" rtlCol="0" anchor="ctr"/>
          <a:lstStyle/>
          <a:p>
            <a:pPr marL="0" indent="0" algn="ctr">
              <a:buNone/>
            </a:pPr>
            <a:r>
              <a:rPr lang="en-US" sz="1100" b="1" dirty="0">
                <a:solidFill>
                  <a:srgbClr val="E2E8F0"/>
                </a:solidFill>
              </a:rPr>
              <a:t>Financial</a:t>
            </a:r>
            <a:endParaRPr lang="en-US" sz="1100" dirty="0"/>
          </a:p>
          <a:p>
            <a:pPr marL="0" indent="0" algn="ctr">
              <a:buNone/>
            </a:pPr>
            <a:r>
              <a:rPr lang="en-US" sz="1100" b="1" dirty="0">
                <a:solidFill>
                  <a:srgbClr val="E2E8F0"/>
                </a:solidFill>
              </a:rPr>
              <a:t>Systems</a:t>
            </a:r>
            <a:endParaRPr lang="en-US" sz="1100" dirty="0"/>
          </a:p>
        </p:txBody>
      </p:sp>
      <p:sp>
        <p:nvSpPr>
          <p:cNvPr id="16" name="Shape 14"/>
          <p:cNvSpPr/>
          <p:nvPr/>
        </p:nvSpPr>
        <p:spPr>
          <a:xfrm>
            <a:off x="6903720" y="1207008"/>
            <a:ext cx="1965960" cy="105156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17" name="Text 15"/>
          <p:cNvSpPr/>
          <p:nvPr/>
        </p:nvSpPr>
        <p:spPr>
          <a:xfrm>
            <a:off x="6903720" y="1261872"/>
            <a:ext cx="1965960" cy="4572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6903720" y="1719072"/>
            <a:ext cx="1965960" cy="457200"/>
          </a:xfrm>
          <a:prstGeom prst="rect">
            <a:avLst/>
          </a:prstGeom>
          <a:noFill/>
        </p:spPr>
        <p:txBody>
          <a:bodyPr wrap="square" lIns="0" tIns="0" rIns="0" bIns="0" rtlCol="0" anchor="ctr"/>
          <a:lstStyle/>
          <a:p>
            <a:pPr marL="0" indent="0" algn="ctr">
              <a:buNone/>
            </a:pPr>
            <a:r>
              <a:rPr lang="en-US" sz="1100" b="1" dirty="0">
                <a:solidFill>
                  <a:srgbClr val="E2E8F0"/>
                </a:solidFill>
              </a:rPr>
              <a:t>Security</a:t>
            </a:r>
            <a:endParaRPr lang="en-US" sz="1100" dirty="0"/>
          </a:p>
          <a:p>
            <a:pPr marL="0" indent="0" algn="ctr">
              <a:buNone/>
            </a:pPr>
            <a:r>
              <a:rPr lang="en-US" sz="1100" b="1" dirty="0">
                <a:solidFill>
                  <a:srgbClr val="E2E8F0"/>
                </a:solidFill>
              </a:rPr>
              <a:t>Systems</a:t>
            </a:r>
            <a:endParaRPr lang="en-US" sz="1100" dirty="0"/>
          </a:p>
        </p:txBody>
      </p:sp>
      <p:sp>
        <p:nvSpPr>
          <p:cNvPr id="19" name="Shape 17"/>
          <p:cNvSpPr/>
          <p:nvPr/>
        </p:nvSpPr>
        <p:spPr>
          <a:xfrm>
            <a:off x="457200" y="2395728"/>
            <a:ext cx="8229600" cy="713232"/>
          </a:xfrm>
          <a:prstGeom prst="rect">
            <a:avLst/>
          </a:prstGeom>
          <a:solidFill>
            <a:srgbClr val="1A2A45"/>
          </a:solidFill>
          <a:ln w="19050">
            <a:solidFill>
              <a:srgbClr val="EF4444"/>
            </a:solidFill>
            <a:prstDash val="solid"/>
          </a:ln>
          <a:effectLst>
            <a:outerShdw blurRad="101600" dist="38100" dir="8100000" algn="bl" rotWithShape="0">
              <a:srgbClr val="000000">
                <a:alpha val="25000"/>
              </a:srgbClr>
            </a:outerShdw>
          </a:effectLst>
        </p:spPr>
        <p:txBody>
          <a:bodyPr/>
          <a:lstStyle/>
          <a:p>
            <a:endParaRPr lang="en-US"/>
          </a:p>
        </p:txBody>
      </p:sp>
      <p:sp>
        <p:nvSpPr>
          <p:cNvPr id="20" name="Shape 18"/>
          <p:cNvSpPr/>
          <p:nvPr/>
        </p:nvSpPr>
        <p:spPr>
          <a:xfrm>
            <a:off x="457200" y="2395728"/>
            <a:ext cx="73152" cy="713232"/>
          </a:xfrm>
          <a:prstGeom prst="rect">
            <a:avLst/>
          </a:prstGeom>
          <a:solidFill>
            <a:srgbClr val="EF4444"/>
          </a:solidFill>
          <a:ln w="12700">
            <a:solidFill>
              <a:srgbClr val="EF4444"/>
            </a:solidFill>
            <a:prstDash val="solid"/>
          </a:ln>
        </p:spPr>
        <p:txBody>
          <a:bodyPr/>
          <a:lstStyle/>
          <a:p>
            <a:endParaRPr lang="en-US"/>
          </a:p>
        </p:txBody>
      </p:sp>
      <p:sp>
        <p:nvSpPr>
          <p:cNvPr id="21" name="Text 19"/>
          <p:cNvSpPr/>
          <p:nvPr/>
        </p:nvSpPr>
        <p:spPr>
          <a:xfrm>
            <a:off x="658368" y="2450592"/>
            <a:ext cx="1828800" cy="256032"/>
          </a:xfrm>
          <a:prstGeom prst="rect">
            <a:avLst/>
          </a:prstGeom>
          <a:noFill/>
        </p:spPr>
        <p:txBody>
          <a:bodyPr wrap="square" lIns="0" tIns="0" rIns="0" bIns="0" rtlCol="0" anchor="ctr"/>
          <a:lstStyle/>
          <a:p>
            <a:pPr marL="0" indent="0">
              <a:buNone/>
            </a:pPr>
            <a:r>
              <a:rPr lang="en-US" sz="1300" b="1" dirty="0">
                <a:solidFill>
                  <a:srgbClr val="EF4444"/>
                </a:solidFill>
              </a:rPr>
              <a:t>Security Gap:</a:t>
            </a:r>
            <a:endParaRPr lang="en-US" sz="1300" dirty="0"/>
          </a:p>
        </p:txBody>
      </p:sp>
      <p:sp>
        <p:nvSpPr>
          <p:cNvPr id="22" name="Text 20"/>
          <p:cNvSpPr/>
          <p:nvPr/>
        </p:nvSpPr>
        <p:spPr>
          <a:xfrm>
            <a:off x="658368" y="2706624"/>
            <a:ext cx="7863840" cy="347472"/>
          </a:xfrm>
          <a:prstGeom prst="rect">
            <a:avLst/>
          </a:prstGeom>
          <a:noFill/>
        </p:spPr>
        <p:txBody>
          <a:bodyPr wrap="square" lIns="0" tIns="0" rIns="0" bIns="0" rtlCol="0" anchor="ctr"/>
          <a:lstStyle/>
          <a:p>
            <a:pPr marL="0" indent="0">
              <a:buNone/>
            </a:pPr>
            <a:r>
              <a:rPr lang="en-US" sz="1150" dirty="0">
                <a:solidFill>
                  <a:srgbClr val="E2E8F0"/>
                </a:solidFill>
              </a:rPr>
              <a:t>Existing attack frameworks assume attackers can access training pipelines — an unrealistic constraint for production deployments. The research community has largely overlooked inference-stage threats that exploit hardware-level memory vulnerabilities.</a:t>
            </a:r>
            <a:endParaRPr lang="en-US" sz="1150" dirty="0"/>
          </a:p>
        </p:txBody>
      </p:sp>
      <p:sp>
        <p:nvSpPr>
          <p:cNvPr id="23" name="Shape 21"/>
          <p:cNvSpPr/>
          <p:nvPr/>
        </p:nvSpPr>
        <p:spPr>
          <a:xfrm>
            <a:off x="457200" y="3273552"/>
            <a:ext cx="2697480" cy="1572768"/>
          </a:xfrm>
          <a:prstGeom prst="rect">
            <a:avLst/>
          </a:prstGeom>
          <a:solidFill>
            <a:srgbClr val="162035"/>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24" name="Shape 22"/>
          <p:cNvSpPr/>
          <p:nvPr/>
        </p:nvSpPr>
        <p:spPr>
          <a:xfrm>
            <a:off x="457200" y="3273552"/>
            <a:ext cx="2697480" cy="54864"/>
          </a:xfrm>
          <a:prstGeom prst="rect">
            <a:avLst/>
          </a:prstGeom>
          <a:solidFill>
            <a:srgbClr val="F59E0B"/>
          </a:solidFill>
          <a:ln w="12700">
            <a:solidFill>
              <a:srgbClr val="F59E0B"/>
            </a:solidFill>
            <a:prstDash val="solid"/>
          </a:ln>
        </p:spPr>
        <p:txBody>
          <a:bodyPr/>
          <a:lstStyle/>
          <a:p>
            <a:endParaRPr lang="en-US"/>
          </a:p>
        </p:txBody>
      </p:sp>
      <p:sp>
        <p:nvSpPr>
          <p:cNvPr id="25" name="Shape 23"/>
          <p:cNvSpPr/>
          <p:nvPr/>
        </p:nvSpPr>
        <p:spPr>
          <a:xfrm>
            <a:off x="566928" y="3401568"/>
            <a:ext cx="274320" cy="274320"/>
          </a:xfrm>
          <a:prstGeom prst="ellipse">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566928" y="3401568"/>
            <a:ext cx="274320" cy="27432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7" name="Text 25"/>
          <p:cNvSpPr/>
          <p:nvPr/>
        </p:nvSpPr>
        <p:spPr>
          <a:xfrm>
            <a:off x="914400" y="3401568"/>
            <a:ext cx="2103120" cy="384048"/>
          </a:xfrm>
          <a:prstGeom prst="rect">
            <a:avLst/>
          </a:prstGeom>
          <a:noFill/>
        </p:spPr>
        <p:txBody>
          <a:bodyPr wrap="square" lIns="0" tIns="0" rIns="0" bIns="0" rtlCol="0" anchor="ctr"/>
          <a:lstStyle/>
          <a:p>
            <a:pPr marL="0" indent="0">
              <a:buNone/>
            </a:pPr>
            <a:r>
              <a:rPr lang="en-US" sz="1200" b="1" dirty="0">
                <a:solidFill>
                  <a:srgbClr val="F59E0B"/>
                </a:solidFill>
              </a:rPr>
              <a:t>Training-stage</a:t>
            </a:r>
            <a:endParaRPr lang="en-US" sz="1200" dirty="0"/>
          </a:p>
          <a:p>
            <a:pPr marL="0" indent="0">
              <a:buNone/>
            </a:pPr>
            <a:r>
              <a:rPr lang="en-US" sz="1200" b="1" dirty="0">
                <a:solidFill>
                  <a:srgbClr val="F59E0B"/>
                </a:solidFill>
              </a:rPr>
              <a:t>assumptions</a:t>
            </a:r>
            <a:endParaRPr lang="en-US" sz="1200" dirty="0"/>
          </a:p>
        </p:txBody>
      </p:sp>
      <p:sp>
        <p:nvSpPr>
          <p:cNvPr id="28" name="Text 26"/>
          <p:cNvSpPr/>
          <p:nvPr/>
        </p:nvSpPr>
        <p:spPr>
          <a:xfrm>
            <a:off x="594360" y="3840480"/>
            <a:ext cx="2423160" cy="914400"/>
          </a:xfrm>
          <a:prstGeom prst="rect">
            <a:avLst/>
          </a:prstGeom>
          <a:noFill/>
        </p:spPr>
        <p:txBody>
          <a:bodyPr wrap="square" lIns="0" tIns="0" rIns="0" bIns="0" rtlCol="0" anchor="ctr"/>
          <a:lstStyle/>
          <a:p>
            <a:pPr marL="0" indent="0">
              <a:buNone/>
            </a:pPr>
            <a:r>
              <a:rPr lang="en-US" sz="1100" dirty="0">
                <a:solidFill>
                  <a:srgbClr val="E2E8F0"/>
                </a:solidFill>
              </a:rPr>
              <a:t>Most Trojan attacks require poisoning training data — attacker needs training access</a:t>
            </a:r>
            <a:endParaRPr lang="en-US" sz="1100" dirty="0"/>
          </a:p>
        </p:txBody>
      </p:sp>
      <p:sp>
        <p:nvSpPr>
          <p:cNvPr id="29" name="Shape 27"/>
          <p:cNvSpPr/>
          <p:nvPr/>
        </p:nvSpPr>
        <p:spPr>
          <a:xfrm>
            <a:off x="3337560" y="3273552"/>
            <a:ext cx="2697480" cy="1572768"/>
          </a:xfrm>
          <a:prstGeom prst="rect">
            <a:avLst/>
          </a:prstGeom>
          <a:solidFill>
            <a:srgbClr val="162035"/>
          </a:solidFill>
          <a:ln w="1270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30" name="Shape 28"/>
          <p:cNvSpPr/>
          <p:nvPr/>
        </p:nvSpPr>
        <p:spPr>
          <a:xfrm>
            <a:off x="3337560" y="3273552"/>
            <a:ext cx="2697480" cy="54864"/>
          </a:xfrm>
          <a:prstGeom prst="rect">
            <a:avLst/>
          </a:prstGeom>
          <a:solidFill>
            <a:srgbClr val="06B6D4"/>
          </a:solidFill>
          <a:ln w="12700">
            <a:solidFill>
              <a:srgbClr val="06B6D4"/>
            </a:solidFill>
            <a:prstDash val="solid"/>
          </a:ln>
        </p:spPr>
        <p:txBody>
          <a:bodyPr/>
          <a:lstStyle/>
          <a:p>
            <a:endParaRPr lang="en-US"/>
          </a:p>
        </p:txBody>
      </p:sp>
      <p:sp>
        <p:nvSpPr>
          <p:cNvPr id="31" name="Shape 29"/>
          <p:cNvSpPr/>
          <p:nvPr/>
        </p:nvSpPr>
        <p:spPr>
          <a:xfrm>
            <a:off x="3447288" y="3401568"/>
            <a:ext cx="274320" cy="274320"/>
          </a:xfrm>
          <a:prstGeom prst="ellipse">
            <a:avLst/>
          </a:prstGeom>
          <a:solidFill>
            <a:srgbClr val="06B6D4"/>
          </a:solidFill>
          <a:ln w="12700">
            <a:solidFill>
              <a:srgbClr val="06B6D4"/>
            </a:solidFill>
            <a:prstDash val="solid"/>
          </a:ln>
        </p:spPr>
        <p:txBody>
          <a:bodyPr/>
          <a:lstStyle/>
          <a:p>
            <a:endParaRPr lang="en-US"/>
          </a:p>
        </p:txBody>
      </p:sp>
      <p:sp>
        <p:nvSpPr>
          <p:cNvPr id="32" name="Text 30"/>
          <p:cNvSpPr/>
          <p:nvPr/>
        </p:nvSpPr>
        <p:spPr>
          <a:xfrm>
            <a:off x="3447288" y="3401568"/>
            <a:ext cx="274320" cy="27432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3" name="Text 31"/>
          <p:cNvSpPr/>
          <p:nvPr/>
        </p:nvSpPr>
        <p:spPr>
          <a:xfrm>
            <a:off x="3794760" y="3401568"/>
            <a:ext cx="2103120" cy="384048"/>
          </a:xfrm>
          <a:prstGeom prst="rect">
            <a:avLst/>
          </a:prstGeom>
          <a:noFill/>
        </p:spPr>
        <p:txBody>
          <a:bodyPr wrap="square" lIns="0" tIns="0" rIns="0" bIns="0" rtlCol="0" anchor="ctr"/>
          <a:lstStyle/>
          <a:p>
            <a:pPr marL="0" indent="0">
              <a:buNone/>
            </a:pPr>
            <a:r>
              <a:rPr lang="en-US" sz="1200" b="1" dirty="0">
                <a:solidFill>
                  <a:srgbClr val="06B6D4"/>
                </a:solidFill>
              </a:rPr>
              <a:t>Hardware</a:t>
            </a:r>
            <a:endParaRPr lang="en-US" sz="1200" dirty="0"/>
          </a:p>
          <a:p>
            <a:pPr marL="0" indent="0">
              <a:buNone/>
            </a:pPr>
            <a:r>
              <a:rPr lang="en-US" sz="1200" b="1" dirty="0">
                <a:solidFill>
                  <a:srgbClr val="06B6D4"/>
                </a:solidFill>
              </a:rPr>
              <a:t>vulnerabilities</a:t>
            </a:r>
            <a:endParaRPr lang="en-US" sz="1200" dirty="0"/>
          </a:p>
        </p:txBody>
      </p:sp>
      <p:sp>
        <p:nvSpPr>
          <p:cNvPr id="34" name="Text 32"/>
          <p:cNvSpPr/>
          <p:nvPr/>
        </p:nvSpPr>
        <p:spPr>
          <a:xfrm>
            <a:off x="3474720" y="3840480"/>
            <a:ext cx="2423160" cy="914400"/>
          </a:xfrm>
          <a:prstGeom prst="rect">
            <a:avLst/>
          </a:prstGeom>
          <a:noFill/>
        </p:spPr>
        <p:txBody>
          <a:bodyPr wrap="square" lIns="0" tIns="0" rIns="0" bIns="0" rtlCol="0" anchor="ctr"/>
          <a:lstStyle/>
          <a:p>
            <a:pPr marL="0" indent="0">
              <a:buNone/>
            </a:pPr>
            <a:r>
              <a:rPr lang="en-US" sz="1100" dirty="0">
                <a:solidFill>
                  <a:srgbClr val="E2E8F0"/>
                </a:solidFill>
              </a:rPr>
              <a:t>DRAM bit-flips (RowHammer, RowPress) can corrupt model weights at inference time</a:t>
            </a:r>
            <a:endParaRPr lang="en-US" sz="1100" dirty="0"/>
          </a:p>
        </p:txBody>
      </p:sp>
      <p:sp>
        <p:nvSpPr>
          <p:cNvPr id="35" name="Shape 33"/>
          <p:cNvSpPr/>
          <p:nvPr/>
        </p:nvSpPr>
        <p:spPr>
          <a:xfrm>
            <a:off x="6217920" y="3273552"/>
            <a:ext cx="2697480" cy="1572768"/>
          </a:xfrm>
          <a:prstGeom prst="rect">
            <a:avLst/>
          </a:prstGeom>
          <a:solidFill>
            <a:srgbClr val="162035"/>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36" name="Shape 34"/>
          <p:cNvSpPr/>
          <p:nvPr/>
        </p:nvSpPr>
        <p:spPr>
          <a:xfrm>
            <a:off x="6217920" y="3273552"/>
            <a:ext cx="2697480" cy="54864"/>
          </a:xfrm>
          <a:prstGeom prst="rect">
            <a:avLst/>
          </a:prstGeom>
          <a:solidFill>
            <a:srgbClr val="8B5CF6"/>
          </a:solidFill>
          <a:ln w="12700">
            <a:solidFill>
              <a:srgbClr val="8B5CF6"/>
            </a:solidFill>
            <a:prstDash val="solid"/>
          </a:ln>
        </p:spPr>
        <p:txBody>
          <a:bodyPr/>
          <a:lstStyle/>
          <a:p>
            <a:endParaRPr lang="en-US"/>
          </a:p>
        </p:txBody>
      </p:sp>
      <p:sp>
        <p:nvSpPr>
          <p:cNvPr id="37" name="Shape 35"/>
          <p:cNvSpPr/>
          <p:nvPr/>
        </p:nvSpPr>
        <p:spPr>
          <a:xfrm>
            <a:off x="6327648" y="3401568"/>
            <a:ext cx="274320" cy="274320"/>
          </a:xfrm>
          <a:prstGeom prst="ellipse">
            <a:avLst/>
          </a:prstGeom>
          <a:solidFill>
            <a:srgbClr val="8B5CF6"/>
          </a:solidFill>
          <a:ln w="12700">
            <a:solidFill>
              <a:srgbClr val="8B5CF6"/>
            </a:solidFill>
            <a:prstDash val="solid"/>
          </a:ln>
        </p:spPr>
        <p:txBody>
          <a:bodyPr/>
          <a:lstStyle/>
          <a:p>
            <a:endParaRPr lang="en-US"/>
          </a:p>
        </p:txBody>
      </p:sp>
      <p:sp>
        <p:nvSpPr>
          <p:cNvPr id="38" name="Text 36"/>
          <p:cNvSpPr/>
          <p:nvPr/>
        </p:nvSpPr>
        <p:spPr>
          <a:xfrm>
            <a:off x="6327648" y="3401568"/>
            <a:ext cx="274320" cy="27432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39" name="Text 37"/>
          <p:cNvSpPr/>
          <p:nvPr/>
        </p:nvSpPr>
        <p:spPr>
          <a:xfrm>
            <a:off x="6675120" y="3401568"/>
            <a:ext cx="2103120" cy="384048"/>
          </a:xfrm>
          <a:prstGeom prst="rect">
            <a:avLst/>
          </a:prstGeom>
          <a:noFill/>
        </p:spPr>
        <p:txBody>
          <a:bodyPr wrap="square" lIns="0" tIns="0" rIns="0" bIns="0" rtlCol="0" anchor="ctr"/>
          <a:lstStyle/>
          <a:p>
            <a:pPr marL="0" indent="0">
              <a:buNone/>
            </a:pPr>
            <a:r>
              <a:rPr lang="en-US" sz="1200" b="1" dirty="0">
                <a:solidFill>
                  <a:srgbClr val="8B5CF6"/>
                </a:solidFill>
              </a:rPr>
              <a:t>Defense</a:t>
            </a:r>
            <a:endParaRPr lang="en-US" sz="1200" dirty="0"/>
          </a:p>
          <a:p>
            <a:pPr marL="0" indent="0">
              <a:buNone/>
            </a:pPr>
            <a:r>
              <a:rPr lang="en-US" sz="1200" b="1" dirty="0">
                <a:solidFill>
                  <a:srgbClr val="8B5CF6"/>
                </a:solidFill>
              </a:rPr>
              <a:t>gaps</a:t>
            </a:r>
            <a:endParaRPr lang="en-US" sz="1200" dirty="0"/>
          </a:p>
        </p:txBody>
      </p:sp>
      <p:sp>
        <p:nvSpPr>
          <p:cNvPr id="40" name="Text 38"/>
          <p:cNvSpPr/>
          <p:nvPr/>
        </p:nvSpPr>
        <p:spPr>
          <a:xfrm>
            <a:off x="6355080" y="3840480"/>
            <a:ext cx="2423160" cy="914400"/>
          </a:xfrm>
          <a:prstGeom prst="rect">
            <a:avLst/>
          </a:prstGeom>
          <a:noFill/>
        </p:spPr>
        <p:txBody>
          <a:bodyPr wrap="square" lIns="0" tIns="0" rIns="0" bIns="0" rtlCol="0" anchor="ctr"/>
          <a:lstStyle/>
          <a:p>
            <a:pPr marL="0" indent="0">
              <a:buNone/>
            </a:pPr>
            <a:r>
              <a:rPr lang="en-US" sz="1100" dirty="0">
                <a:solidFill>
                  <a:srgbClr val="E2E8F0"/>
                </a:solidFill>
              </a:rPr>
              <a:t>Current defenses fail to protect against inference-stage, hardware-level attacks</a:t>
            </a:r>
            <a:endParaRPr lang="en-US" sz="11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640080" y="182880"/>
            <a:ext cx="2286000" cy="182880"/>
          </a:xfrm>
          <a:prstGeom prst="rect">
            <a:avLst/>
          </a:prstGeom>
          <a:noFill/>
        </p:spPr>
        <p:txBody>
          <a:bodyPr wrap="square" lIns="0" tIns="0" rIns="0" bIns="0" rtlCol="0" anchor="ctr"/>
          <a:lstStyle/>
          <a:p>
            <a:pPr marL="0" indent="0">
              <a:buNone/>
            </a:pPr>
            <a:r>
              <a:rPr lang="en-US" sz="900" b="1" kern="0" spc="200" dirty="0">
                <a:solidFill>
                  <a:srgbClr val="3B82F6"/>
                </a:solidFill>
              </a:rPr>
              <a:t>BACKGROUND</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Trojan Attack Taxonomy</a:t>
            </a:r>
            <a:endParaRPr lang="en-US" sz="2600" dirty="0"/>
          </a:p>
        </p:txBody>
      </p:sp>
      <p:sp>
        <p:nvSpPr>
          <p:cNvPr id="6" name="Shape 4"/>
          <p:cNvSpPr/>
          <p:nvPr/>
        </p:nvSpPr>
        <p:spPr>
          <a:xfrm>
            <a:off x="365760" y="896112"/>
            <a:ext cx="4023360" cy="397764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365760" y="896112"/>
            <a:ext cx="4023360" cy="384048"/>
          </a:xfrm>
          <a:prstGeom prst="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457200" y="914400"/>
            <a:ext cx="3840480" cy="347472"/>
          </a:xfrm>
          <a:prstGeom prst="rect">
            <a:avLst/>
          </a:prstGeom>
          <a:noFill/>
        </p:spPr>
        <p:txBody>
          <a:bodyPr wrap="square" lIns="0" tIns="0" rIns="0" bIns="0" rtlCol="0" anchor="ctr"/>
          <a:lstStyle/>
          <a:p>
            <a:pPr marL="0" indent="0" algn="ctr">
              <a:buNone/>
            </a:pPr>
            <a:r>
              <a:rPr lang="en-US" sz="1300" b="1" dirty="0">
                <a:solidFill>
                  <a:srgbClr val="FFFFFF"/>
                </a:solidFill>
              </a:rPr>
              <a:t>Training-Stage Trojan Attacks</a:t>
            </a:r>
            <a:endParaRPr lang="en-US" sz="1300" dirty="0"/>
          </a:p>
        </p:txBody>
      </p:sp>
      <p:sp>
        <p:nvSpPr>
          <p:cNvPr id="9" name="Shape 7"/>
          <p:cNvSpPr/>
          <p:nvPr/>
        </p:nvSpPr>
        <p:spPr>
          <a:xfrm>
            <a:off x="548640" y="1389888"/>
            <a:ext cx="292608" cy="292608"/>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548640" y="1389888"/>
            <a:ext cx="292608" cy="292608"/>
          </a:xfrm>
          <a:prstGeom prst="rect">
            <a:avLst/>
          </a:prstGeom>
          <a:noFill/>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Text 9"/>
          <p:cNvSpPr/>
          <p:nvPr/>
        </p:nvSpPr>
        <p:spPr>
          <a:xfrm>
            <a:off x="950976" y="1389888"/>
            <a:ext cx="3291840" cy="256032"/>
          </a:xfrm>
          <a:prstGeom prst="rect">
            <a:avLst/>
          </a:prstGeom>
          <a:noFill/>
        </p:spPr>
        <p:txBody>
          <a:bodyPr wrap="square" lIns="0" tIns="0" rIns="0" bIns="0" rtlCol="0" anchor="ctr"/>
          <a:lstStyle/>
          <a:p>
            <a:pPr marL="0" indent="0">
              <a:buNone/>
            </a:pPr>
            <a:r>
              <a:rPr lang="en-US" sz="1200" b="1" dirty="0">
                <a:solidFill>
                  <a:srgbClr val="F59E0B"/>
                </a:solidFill>
              </a:rPr>
              <a:t>1. Data Poisoning</a:t>
            </a:r>
            <a:endParaRPr lang="en-US" sz="1200" dirty="0"/>
          </a:p>
        </p:txBody>
      </p:sp>
      <p:sp>
        <p:nvSpPr>
          <p:cNvPr id="12" name="Text 10"/>
          <p:cNvSpPr/>
          <p:nvPr/>
        </p:nvSpPr>
        <p:spPr>
          <a:xfrm>
            <a:off x="950976" y="1664208"/>
            <a:ext cx="3291840" cy="347472"/>
          </a:xfrm>
          <a:prstGeom prst="rect">
            <a:avLst/>
          </a:prstGeom>
          <a:noFill/>
        </p:spPr>
        <p:txBody>
          <a:bodyPr wrap="square" lIns="0" tIns="0" rIns="0" bIns="0" rtlCol="0" anchor="ctr"/>
          <a:lstStyle/>
          <a:p>
            <a:pPr marL="0" indent="0">
              <a:buNone/>
            </a:pPr>
            <a:r>
              <a:rPr lang="en-US" sz="1050" dirty="0">
                <a:solidFill>
                  <a:srgbClr val="E2E8F0"/>
                </a:solidFill>
              </a:rPr>
              <a:t>Attacker injects trigger-stamped samples into training dataset</a:t>
            </a:r>
            <a:endParaRPr lang="en-US" sz="1050" dirty="0"/>
          </a:p>
        </p:txBody>
      </p:sp>
      <p:sp>
        <p:nvSpPr>
          <p:cNvPr id="13" name="Shape 11"/>
          <p:cNvSpPr/>
          <p:nvPr/>
        </p:nvSpPr>
        <p:spPr>
          <a:xfrm>
            <a:off x="548640" y="2139696"/>
            <a:ext cx="292608" cy="292608"/>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548640" y="21396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5" name="Text 13"/>
          <p:cNvSpPr/>
          <p:nvPr/>
        </p:nvSpPr>
        <p:spPr>
          <a:xfrm>
            <a:off x="950976" y="2139696"/>
            <a:ext cx="3291840" cy="256032"/>
          </a:xfrm>
          <a:prstGeom prst="rect">
            <a:avLst/>
          </a:prstGeom>
          <a:noFill/>
        </p:spPr>
        <p:txBody>
          <a:bodyPr wrap="square" lIns="0" tIns="0" rIns="0" bIns="0" rtlCol="0" anchor="ctr"/>
          <a:lstStyle/>
          <a:p>
            <a:pPr marL="0" indent="0">
              <a:buNone/>
            </a:pPr>
            <a:r>
              <a:rPr lang="en-US" sz="1200" b="1" dirty="0">
                <a:solidFill>
                  <a:srgbClr val="F59E0B"/>
                </a:solidFill>
              </a:rPr>
              <a:t>2. Model Training</a:t>
            </a:r>
            <a:endParaRPr lang="en-US" sz="1200" dirty="0"/>
          </a:p>
        </p:txBody>
      </p:sp>
      <p:sp>
        <p:nvSpPr>
          <p:cNvPr id="16" name="Text 14"/>
          <p:cNvSpPr/>
          <p:nvPr/>
        </p:nvSpPr>
        <p:spPr>
          <a:xfrm>
            <a:off x="950976" y="2414016"/>
            <a:ext cx="3291840" cy="347472"/>
          </a:xfrm>
          <a:prstGeom prst="rect">
            <a:avLst/>
          </a:prstGeom>
          <a:noFill/>
        </p:spPr>
        <p:txBody>
          <a:bodyPr wrap="square" lIns="0" tIns="0" rIns="0" bIns="0" rtlCol="0" anchor="ctr"/>
          <a:lstStyle/>
          <a:p>
            <a:pPr marL="0" indent="0">
              <a:buNone/>
            </a:pPr>
            <a:r>
              <a:rPr lang="en-US" sz="1050" dirty="0">
                <a:solidFill>
                  <a:srgbClr val="E2E8F0"/>
                </a:solidFill>
              </a:rPr>
              <a:t>Model learns to associate trigger pattern → target class</a:t>
            </a:r>
            <a:endParaRPr lang="en-US" sz="1050" dirty="0"/>
          </a:p>
        </p:txBody>
      </p:sp>
      <p:sp>
        <p:nvSpPr>
          <p:cNvPr id="17" name="Shape 15"/>
          <p:cNvSpPr/>
          <p:nvPr/>
        </p:nvSpPr>
        <p:spPr>
          <a:xfrm>
            <a:off x="548640" y="2889504"/>
            <a:ext cx="292608" cy="292608"/>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548640" y="2889504"/>
            <a:ext cx="292608" cy="292608"/>
          </a:xfrm>
          <a:prstGeom prst="rect">
            <a:avLst/>
          </a:prstGeom>
          <a:noFill/>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950976" y="2889504"/>
            <a:ext cx="3291840" cy="256032"/>
          </a:xfrm>
          <a:prstGeom prst="rect">
            <a:avLst/>
          </a:prstGeom>
          <a:noFill/>
        </p:spPr>
        <p:txBody>
          <a:bodyPr wrap="square" lIns="0" tIns="0" rIns="0" bIns="0" rtlCol="0" anchor="ctr"/>
          <a:lstStyle/>
          <a:p>
            <a:pPr marL="0" indent="0">
              <a:buNone/>
            </a:pPr>
            <a:r>
              <a:rPr lang="en-US" sz="1200" b="1" dirty="0">
                <a:solidFill>
                  <a:srgbClr val="F59E0B"/>
                </a:solidFill>
              </a:rPr>
              <a:t>3. Deployment</a:t>
            </a:r>
            <a:endParaRPr lang="en-US" sz="1200" dirty="0"/>
          </a:p>
        </p:txBody>
      </p:sp>
      <p:sp>
        <p:nvSpPr>
          <p:cNvPr id="20" name="Text 18"/>
          <p:cNvSpPr/>
          <p:nvPr/>
        </p:nvSpPr>
        <p:spPr>
          <a:xfrm>
            <a:off x="950976" y="3163824"/>
            <a:ext cx="3291840" cy="347472"/>
          </a:xfrm>
          <a:prstGeom prst="rect">
            <a:avLst/>
          </a:prstGeom>
          <a:noFill/>
        </p:spPr>
        <p:txBody>
          <a:bodyPr wrap="square" lIns="0" tIns="0" rIns="0" bIns="0" rtlCol="0" anchor="ctr"/>
          <a:lstStyle/>
          <a:p>
            <a:pPr marL="0" indent="0">
              <a:buNone/>
            </a:pPr>
            <a:r>
              <a:rPr lang="en-US" sz="1050" dirty="0">
                <a:solidFill>
                  <a:srgbClr val="E2E8F0"/>
                </a:solidFill>
              </a:rPr>
              <a:t>Model behaves normally on clean inputs</a:t>
            </a:r>
            <a:endParaRPr lang="en-US" sz="1050" dirty="0"/>
          </a:p>
        </p:txBody>
      </p:sp>
      <p:sp>
        <p:nvSpPr>
          <p:cNvPr id="21" name="Shape 19"/>
          <p:cNvSpPr/>
          <p:nvPr/>
        </p:nvSpPr>
        <p:spPr>
          <a:xfrm>
            <a:off x="548640" y="3639312"/>
            <a:ext cx="292608" cy="292608"/>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548640" y="3639312"/>
            <a:ext cx="292608" cy="292608"/>
          </a:xfrm>
          <a:prstGeom prst="rect">
            <a:avLst/>
          </a:prstGeom>
          <a:noFill/>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21"/>
          <p:cNvSpPr/>
          <p:nvPr/>
        </p:nvSpPr>
        <p:spPr>
          <a:xfrm>
            <a:off x="950976" y="3639312"/>
            <a:ext cx="3291840" cy="256032"/>
          </a:xfrm>
          <a:prstGeom prst="rect">
            <a:avLst/>
          </a:prstGeom>
          <a:noFill/>
        </p:spPr>
        <p:txBody>
          <a:bodyPr wrap="square" lIns="0" tIns="0" rIns="0" bIns="0" rtlCol="0" anchor="ctr"/>
          <a:lstStyle/>
          <a:p>
            <a:pPr marL="0" indent="0">
              <a:buNone/>
            </a:pPr>
            <a:r>
              <a:rPr lang="en-US" sz="1200" b="1" dirty="0">
                <a:solidFill>
                  <a:srgbClr val="F59E0B"/>
                </a:solidFill>
              </a:rPr>
              <a:t>4. Attack</a:t>
            </a:r>
            <a:endParaRPr lang="en-US" sz="1200" dirty="0"/>
          </a:p>
        </p:txBody>
      </p:sp>
      <p:sp>
        <p:nvSpPr>
          <p:cNvPr id="24" name="Text 22"/>
          <p:cNvSpPr/>
          <p:nvPr/>
        </p:nvSpPr>
        <p:spPr>
          <a:xfrm>
            <a:off x="950976" y="3913632"/>
            <a:ext cx="3291840" cy="347472"/>
          </a:xfrm>
          <a:prstGeom prst="rect">
            <a:avLst/>
          </a:prstGeom>
          <a:noFill/>
        </p:spPr>
        <p:txBody>
          <a:bodyPr wrap="square" lIns="0" tIns="0" rIns="0" bIns="0" rtlCol="0" anchor="ctr"/>
          <a:lstStyle/>
          <a:p>
            <a:pPr marL="0" indent="0">
              <a:buNone/>
            </a:pPr>
            <a:r>
              <a:rPr lang="en-US" sz="1050" dirty="0">
                <a:solidFill>
                  <a:srgbClr val="E2E8F0"/>
                </a:solidFill>
              </a:rPr>
              <a:t>Trigger in input causes misclassification to target class</a:t>
            </a:r>
            <a:endParaRPr lang="en-US" sz="1050" dirty="0"/>
          </a:p>
        </p:txBody>
      </p:sp>
      <p:sp>
        <p:nvSpPr>
          <p:cNvPr id="25" name="Shape 23"/>
          <p:cNvSpPr/>
          <p:nvPr/>
        </p:nvSpPr>
        <p:spPr>
          <a:xfrm>
            <a:off x="548640" y="4416552"/>
            <a:ext cx="3657600" cy="347472"/>
          </a:xfrm>
          <a:prstGeom prst="rect">
            <a:avLst/>
          </a:prstGeom>
          <a:solidFill>
            <a:srgbClr val="0F2040"/>
          </a:solidFill>
          <a:ln w="12700">
            <a:solidFill>
              <a:srgbClr val="EF4444"/>
            </a:solidFill>
            <a:prstDash val="solid"/>
          </a:ln>
        </p:spPr>
        <p:txBody>
          <a:bodyPr/>
          <a:lstStyle/>
          <a:p>
            <a:endParaRPr lang="en-US"/>
          </a:p>
        </p:txBody>
      </p:sp>
      <p:sp>
        <p:nvSpPr>
          <p:cNvPr id="26" name="Text 24"/>
          <p:cNvSpPr/>
          <p:nvPr/>
        </p:nvSpPr>
        <p:spPr>
          <a:xfrm>
            <a:off x="594360" y="4416552"/>
            <a:ext cx="3566160" cy="347472"/>
          </a:xfrm>
          <a:prstGeom prst="rect">
            <a:avLst/>
          </a:prstGeom>
          <a:noFill/>
        </p:spPr>
        <p:txBody>
          <a:bodyPr wrap="square" lIns="0" tIns="0" rIns="0" bIns="0" rtlCol="0" anchor="ctr"/>
          <a:lstStyle/>
          <a:p>
            <a:pPr marL="0" indent="0">
              <a:buNone/>
            </a:pPr>
            <a:r>
              <a:rPr lang="en-US" sz="1100" dirty="0">
                <a:solidFill>
                  <a:srgbClr val="EF4444"/>
                </a:solidFill>
              </a:rPr>
              <a:t>⚠  Requires access to victim's training facilities</a:t>
            </a:r>
            <a:endParaRPr lang="en-US" sz="1100" dirty="0"/>
          </a:p>
        </p:txBody>
      </p:sp>
      <p:sp>
        <p:nvSpPr>
          <p:cNvPr id="27" name="Shape 25"/>
          <p:cNvSpPr/>
          <p:nvPr/>
        </p:nvSpPr>
        <p:spPr>
          <a:xfrm>
            <a:off x="4754880" y="896112"/>
            <a:ext cx="4023360" cy="3977640"/>
          </a:xfrm>
          <a:prstGeom prst="rect">
            <a:avLst/>
          </a:prstGeom>
          <a:solidFill>
            <a:srgbClr val="16203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28" name="Shape 26"/>
          <p:cNvSpPr/>
          <p:nvPr/>
        </p:nvSpPr>
        <p:spPr>
          <a:xfrm>
            <a:off x="4754880" y="896112"/>
            <a:ext cx="4023360" cy="384048"/>
          </a:xfrm>
          <a:prstGeom prst="rect">
            <a:avLst/>
          </a:prstGeom>
          <a:solidFill>
            <a:srgbClr val="06B6D4"/>
          </a:solidFill>
          <a:ln w="12700">
            <a:solidFill>
              <a:srgbClr val="06B6D4"/>
            </a:solidFill>
            <a:prstDash val="solid"/>
          </a:ln>
        </p:spPr>
        <p:txBody>
          <a:bodyPr/>
          <a:lstStyle/>
          <a:p>
            <a:endParaRPr lang="en-US"/>
          </a:p>
        </p:txBody>
      </p:sp>
      <p:sp>
        <p:nvSpPr>
          <p:cNvPr id="29" name="Text 27"/>
          <p:cNvSpPr/>
          <p:nvPr/>
        </p:nvSpPr>
        <p:spPr>
          <a:xfrm>
            <a:off x="4846320" y="914400"/>
            <a:ext cx="3840480" cy="347472"/>
          </a:xfrm>
          <a:prstGeom prst="rect">
            <a:avLst/>
          </a:prstGeom>
          <a:noFill/>
        </p:spPr>
        <p:txBody>
          <a:bodyPr wrap="square" lIns="0" tIns="0" rIns="0" bIns="0" rtlCol="0" anchor="ctr"/>
          <a:lstStyle/>
          <a:p>
            <a:pPr marL="0" indent="0" algn="ctr">
              <a:buNone/>
            </a:pPr>
            <a:r>
              <a:rPr lang="en-US" sz="1300" b="1" dirty="0">
                <a:solidFill>
                  <a:srgbClr val="0A1628"/>
                </a:solidFill>
              </a:rPr>
              <a:t>Inference-Stage Trojan Attacks</a:t>
            </a:r>
            <a:endParaRPr lang="en-US" sz="1300" dirty="0"/>
          </a:p>
        </p:txBody>
      </p:sp>
      <p:sp>
        <p:nvSpPr>
          <p:cNvPr id="30" name="Shape 28"/>
          <p:cNvSpPr/>
          <p:nvPr/>
        </p:nvSpPr>
        <p:spPr>
          <a:xfrm>
            <a:off x="4937760" y="1389888"/>
            <a:ext cx="292608" cy="292608"/>
          </a:xfrm>
          <a:prstGeom prst="rect">
            <a:avLst/>
          </a:prstGeom>
          <a:solidFill>
            <a:srgbClr val="06B6D4"/>
          </a:solidFill>
          <a:ln w="12700">
            <a:solidFill>
              <a:srgbClr val="06B6D4"/>
            </a:solidFill>
            <a:prstDash val="solid"/>
          </a:ln>
        </p:spPr>
        <p:txBody>
          <a:bodyPr/>
          <a:lstStyle/>
          <a:p>
            <a:endParaRPr lang="en-US"/>
          </a:p>
        </p:txBody>
      </p:sp>
      <p:sp>
        <p:nvSpPr>
          <p:cNvPr id="31" name="Text 29"/>
          <p:cNvSpPr/>
          <p:nvPr/>
        </p:nvSpPr>
        <p:spPr>
          <a:xfrm>
            <a:off x="4937760" y="1389888"/>
            <a:ext cx="292608" cy="292608"/>
          </a:xfrm>
          <a:prstGeom prst="rect">
            <a:avLst/>
          </a:prstGeom>
          <a:noFill/>
        </p:spPr>
        <p:txBody>
          <a:bodyPr wrap="square" lIns="0" tIns="0" rIns="0" bIns="0" rtlCol="0" anchor="ctr"/>
          <a:lstStyle/>
          <a:p>
            <a:pPr marL="0" indent="0" algn="ctr">
              <a:buNone/>
            </a:pPr>
            <a:r>
              <a:rPr lang="en-US" sz="1200" b="1" dirty="0">
                <a:solidFill>
                  <a:srgbClr val="0A1628"/>
                </a:solidFill>
              </a:rPr>
              <a:t>1</a:t>
            </a:r>
            <a:endParaRPr lang="en-US" sz="1200" dirty="0"/>
          </a:p>
        </p:txBody>
      </p:sp>
      <p:sp>
        <p:nvSpPr>
          <p:cNvPr id="32" name="Text 30"/>
          <p:cNvSpPr/>
          <p:nvPr/>
        </p:nvSpPr>
        <p:spPr>
          <a:xfrm>
            <a:off x="5340096" y="1389888"/>
            <a:ext cx="3291840" cy="256032"/>
          </a:xfrm>
          <a:prstGeom prst="rect">
            <a:avLst/>
          </a:prstGeom>
          <a:noFill/>
        </p:spPr>
        <p:txBody>
          <a:bodyPr wrap="square" lIns="0" tIns="0" rIns="0" bIns="0" rtlCol="0" anchor="ctr"/>
          <a:lstStyle/>
          <a:p>
            <a:pPr marL="0" indent="0">
              <a:buNone/>
            </a:pPr>
            <a:r>
              <a:rPr lang="en-US" sz="1200" b="1" dirty="0">
                <a:solidFill>
                  <a:srgbClr val="06B6D4"/>
                </a:solidFill>
              </a:rPr>
              <a:t>1. White-box Access</a:t>
            </a:r>
            <a:endParaRPr lang="en-US" sz="1200" dirty="0"/>
          </a:p>
        </p:txBody>
      </p:sp>
      <p:sp>
        <p:nvSpPr>
          <p:cNvPr id="33" name="Text 31"/>
          <p:cNvSpPr/>
          <p:nvPr/>
        </p:nvSpPr>
        <p:spPr>
          <a:xfrm>
            <a:off x="5340096" y="1664208"/>
            <a:ext cx="3291840" cy="347472"/>
          </a:xfrm>
          <a:prstGeom prst="rect">
            <a:avLst/>
          </a:prstGeom>
          <a:noFill/>
        </p:spPr>
        <p:txBody>
          <a:bodyPr wrap="square" lIns="0" tIns="0" rIns="0" bIns="0" rtlCol="0" anchor="ctr"/>
          <a:lstStyle/>
          <a:p>
            <a:pPr marL="0" indent="0">
              <a:buNone/>
            </a:pPr>
            <a:r>
              <a:rPr lang="en-US" sz="1050" dirty="0">
                <a:solidFill>
                  <a:srgbClr val="E2E8F0"/>
                </a:solidFill>
              </a:rPr>
              <a:t>Attacker reverse-engineers model weights &amp; architecture</a:t>
            </a:r>
            <a:endParaRPr lang="en-US" sz="1050" dirty="0"/>
          </a:p>
        </p:txBody>
      </p:sp>
      <p:sp>
        <p:nvSpPr>
          <p:cNvPr id="34" name="Shape 32"/>
          <p:cNvSpPr/>
          <p:nvPr/>
        </p:nvSpPr>
        <p:spPr>
          <a:xfrm>
            <a:off x="4937760" y="2139696"/>
            <a:ext cx="292608" cy="292608"/>
          </a:xfrm>
          <a:prstGeom prst="rect">
            <a:avLst/>
          </a:prstGeom>
          <a:solidFill>
            <a:srgbClr val="06B6D4"/>
          </a:solidFill>
          <a:ln w="12700">
            <a:solidFill>
              <a:srgbClr val="06B6D4"/>
            </a:solidFill>
            <a:prstDash val="solid"/>
          </a:ln>
        </p:spPr>
        <p:txBody>
          <a:bodyPr/>
          <a:lstStyle/>
          <a:p>
            <a:endParaRPr lang="en-US"/>
          </a:p>
        </p:txBody>
      </p:sp>
      <p:sp>
        <p:nvSpPr>
          <p:cNvPr id="35" name="Text 33"/>
          <p:cNvSpPr/>
          <p:nvPr/>
        </p:nvSpPr>
        <p:spPr>
          <a:xfrm>
            <a:off x="4937760" y="2139696"/>
            <a:ext cx="292608" cy="292608"/>
          </a:xfrm>
          <a:prstGeom prst="rect">
            <a:avLst/>
          </a:prstGeom>
          <a:noFill/>
        </p:spPr>
        <p:txBody>
          <a:bodyPr wrap="square" lIns="0" tIns="0" rIns="0" bIns="0" rtlCol="0" anchor="ctr"/>
          <a:lstStyle/>
          <a:p>
            <a:pPr marL="0" indent="0" algn="ctr">
              <a:buNone/>
            </a:pPr>
            <a:r>
              <a:rPr lang="en-US" sz="1200" b="1" dirty="0">
                <a:solidFill>
                  <a:srgbClr val="0A1628"/>
                </a:solidFill>
              </a:rPr>
              <a:t>2</a:t>
            </a:r>
            <a:endParaRPr lang="en-US" sz="1200" dirty="0"/>
          </a:p>
        </p:txBody>
      </p:sp>
      <p:sp>
        <p:nvSpPr>
          <p:cNvPr id="36" name="Text 34"/>
          <p:cNvSpPr/>
          <p:nvPr/>
        </p:nvSpPr>
        <p:spPr>
          <a:xfrm>
            <a:off x="5340096" y="2139696"/>
            <a:ext cx="3291840" cy="256032"/>
          </a:xfrm>
          <a:prstGeom prst="rect">
            <a:avLst/>
          </a:prstGeom>
          <a:noFill/>
        </p:spPr>
        <p:txBody>
          <a:bodyPr wrap="square" lIns="0" tIns="0" rIns="0" bIns="0" rtlCol="0" anchor="ctr"/>
          <a:lstStyle/>
          <a:p>
            <a:pPr marL="0" indent="0">
              <a:buNone/>
            </a:pPr>
            <a:r>
              <a:rPr lang="en-US" sz="1200" b="1" dirty="0">
                <a:solidFill>
                  <a:srgbClr val="06B6D4"/>
                </a:solidFill>
              </a:rPr>
              <a:t>2. Memory Fault</a:t>
            </a:r>
            <a:endParaRPr lang="en-US" sz="1200" dirty="0"/>
          </a:p>
        </p:txBody>
      </p:sp>
      <p:sp>
        <p:nvSpPr>
          <p:cNvPr id="37" name="Text 35"/>
          <p:cNvSpPr/>
          <p:nvPr/>
        </p:nvSpPr>
        <p:spPr>
          <a:xfrm>
            <a:off x="5340096" y="2414016"/>
            <a:ext cx="3291840" cy="347472"/>
          </a:xfrm>
          <a:prstGeom prst="rect">
            <a:avLst/>
          </a:prstGeom>
          <a:noFill/>
        </p:spPr>
        <p:txBody>
          <a:bodyPr wrap="square" lIns="0" tIns="0" rIns="0" bIns="0" rtlCol="0" anchor="ctr"/>
          <a:lstStyle/>
          <a:p>
            <a:pPr marL="0" indent="0">
              <a:buNone/>
            </a:pPr>
            <a:r>
              <a:rPr lang="en-US" sz="1050" dirty="0">
                <a:solidFill>
                  <a:srgbClr val="E2E8F0"/>
                </a:solidFill>
              </a:rPr>
              <a:t>Bit-flip injected into DRAM at inference time via hardware</a:t>
            </a:r>
            <a:endParaRPr lang="en-US" sz="1050" dirty="0"/>
          </a:p>
        </p:txBody>
      </p:sp>
      <p:sp>
        <p:nvSpPr>
          <p:cNvPr id="38" name="Shape 36"/>
          <p:cNvSpPr/>
          <p:nvPr/>
        </p:nvSpPr>
        <p:spPr>
          <a:xfrm>
            <a:off x="4937760" y="2889504"/>
            <a:ext cx="292608" cy="292608"/>
          </a:xfrm>
          <a:prstGeom prst="rect">
            <a:avLst/>
          </a:prstGeom>
          <a:solidFill>
            <a:srgbClr val="06B6D4"/>
          </a:solidFill>
          <a:ln w="12700">
            <a:solidFill>
              <a:srgbClr val="06B6D4"/>
            </a:solidFill>
            <a:prstDash val="solid"/>
          </a:ln>
        </p:spPr>
        <p:txBody>
          <a:bodyPr/>
          <a:lstStyle/>
          <a:p>
            <a:endParaRPr lang="en-US"/>
          </a:p>
        </p:txBody>
      </p:sp>
      <p:sp>
        <p:nvSpPr>
          <p:cNvPr id="39" name="Text 37"/>
          <p:cNvSpPr/>
          <p:nvPr/>
        </p:nvSpPr>
        <p:spPr>
          <a:xfrm>
            <a:off x="4937760" y="2889504"/>
            <a:ext cx="292608" cy="292608"/>
          </a:xfrm>
          <a:prstGeom prst="rect">
            <a:avLst/>
          </a:prstGeom>
          <a:noFill/>
        </p:spPr>
        <p:txBody>
          <a:bodyPr wrap="square" lIns="0" tIns="0" rIns="0" bIns="0" rtlCol="0" anchor="ctr"/>
          <a:lstStyle/>
          <a:p>
            <a:pPr marL="0" indent="0" algn="ctr">
              <a:buNone/>
            </a:pPr>
            <a:r>
              <a:rPr lang="en-US" sz="1200" b="1" dirty="0">
                <a:solidFill>
                  <a:srgbClr val="0A1628"/>
                </a:solidFill>
              </a:rPr>
              <a:t>3</a:t>
            </a:r>
            <a:endParaRPr lang="en-US" sz="1200" dirty="0"/>
          </a:p>
        </p:txBody>
      </p:sp>
      <p:sp>
        <p:nvSpPr>
          <p:cNvPr id="40" name="Text 38"/>
          <p:cNvSpPr/>
          <p:nvPr/>
        </p:nvSpPr>
        <p:spPr>
          <a:xfrm>
            <a:off x="5340096" y="2889504"/>
            <a:ext cx="3291840" cy="256032"/>
          </a:xfrm>
          <a:prstGeom prst="rect">
            <a:avLst/>
          </a:prstGeom>
          <a:noFill/>
        </p:spPr>
        <p:txBody>
          <a:bodyPr wrap="square" lIns="0" tIns="0" rIns="0" bIns="0" rtlCol="0" anchor="ctr"/>
          <a:lstStyle/>
          <a:p>
            <a:pPr marL="0" indent="0">
              <a:buNone/>
            </a:pPr>
            <a:r>
              <a:rPr lang="en-US" sz="1200" b="1" dirty="0">
                <a:solidFill>
                  <a:srgbClr val="06B6D4"/>
                </a:solidFill>
              </a:rPr>
              <a:t>3. Weight Corruption</a:t>
            </a:r>
            <a:endParaRPr lang="en-US" sz="1200" dirty="0"/>
          </a:p>
        </p:txBody>
      </p:sp>
      <p:sp>
        <p:nvSpPr>
          <p:cNvPr id="41" name="Text 39"/>
          <p:cNvSpPr/>
          <p:nvPr/>
        </p:nvSpPr>
        <p:spPr>
          <a:xfrm>
            <a:off x="5340096" y="3163824"/>
            <a:ext cx="3291840" cy="347472"/>
          </a:xfrm>
          <a:prstGeom prst="rect">
            <a:avLst/>
          </a:prstGeom>
          <a:noFill/>
        </p:spPr>
        <p:txBody>
          <a:bodyPr wrap="square" lIns="0" tIns="0" rIns="0" bIns="0" rtlCol="0" anchor="ctr"/>
          <a:lstStyle/>
          <a:p>
            <a:pPr marL="0" indent="0">
              <a:buNone/>
            </a:pPr>
            <a:r>
              <a:rPr lang="en-US" sz="1050" dirty="0">
                <a:solidFill>
                  <a:srgbClr val="E2E8F0"/>
                </a:solidFill>
              </a:rPr>
              <a:t>Target weight block replaced / specific bits flipped</a:t>
            </a:r>
            <a:endParaRPr lang="en-US" sz="1050" dirty="0"/>
          </a:p>
        </p:txBody>
      </p:sp>
      <p:sp>
        <p:nvSpPr>
          <p:cNvPr id="42" name="Shape 40"/>
          <p:cNvSpPr/>
          <p:nvPr/>
        </p:nvSpPr>
        <p:spPr>
          <a:xfrm>
            <a:off x="4937760" y="3639312"/>
            <a:ext cx="292608" cy="292608"/>
          </a:xfrm>
          <a:prstGeom prst="rect">
            <a:avLst/>
          </a:prstGeom>
          <a:solidFill>
            <a:srgbClr val="06B6D4"/>
          </a:solidFill>
          <a:ln w="12700">
            <a:solidFill>
              <a:srgbClr val="06B6D4"/>
            </a:solidFill>
            <a:prstDash val="solid"/>
          </a:ln>
        </p:spPr>
        <p:txBody>
          <a:bodyPr/>
          <a:lstStyle/>
          <a:p>
            <a:endParaRPr lang="en-US"/>
          </a:p>
        </p:txBody>
      </p:sp>
      <p:sp>
        <p:nvSpPr>
          <p:cNvPr id="43" name="Text 41"/>
          <p:cNvSpPr/>
          <p:nvPr/>
        </p:nvSpPr>
        <p:spPr>
          <a:xfrm>
            <a:off x="4937760" y="3639312"/>
            <a:ext cx="292608" cy="292608"/>
          </a:xfrm>
          <a:prstGeom prst="rect">
            <a:avLst/>
          </a:prstGeom>
          <a:noFill/>
        </p:spPr>
        <p:txBody>
          <a:bodyPr wrap="square" lIns="0" tIns="0" rIns="0" bIns="0" rtlCol="0" anchor="ctr"/>
          <a:lstStyle/>
          <a:p>
            <a:pPr marL="0" indent="0" algn="ctr">
              <a:buNone/>
            </a:pPr>
            <a:r>
              <a:rPr lang="en-US" sz="1200" b="1" dirty="0">
                <a:solidFill>
                  <a:srgbClr val="0A1628"/>
                </a:solidFill>
              </a:rPr>
              <a:t>4</a:t>
            </a:r>
            <a:endParaRPr lang="en-US" sz="1200" dirty="0"/>
          </a:p>
        </p:txBody>
      </p:sp>
      <p:sp>
        <p:nvSpPr>
          <p:cNvPr id="44" name="Text 42"/>
          <p:cNvSpPr/>
          <p:nvPr/>
        </p:nvSpPr>
        <p:spPr>
          <a:xfrm>
            <a:off x="5340096" y="3639312"/>
            <a:ext cx="3291840" cy="256032"/>
          </a:xfrm>
          <a:prstGeom prst="rect">
            <a:avLst/>
          </a:prstGeom>
          <a:noFill/>
        </p:spPr>
        <p:txBody>
          <a:bodyPr wrap="square" lIns="0" tIns="0" rIns="0" bIns="0" rtlCol="0" anchor="ctr"/>
          <a:lstStyle/>
          <a:p>
            <a:pPr marL="0" indent="0">
              <a:buNone/>
            </a:pPr>
            <a:r>
              <a:rPr lang="en-US" sz="1200" b="1" dirty="0">
                <a:solidFill>
                  <a:srgbClr val="06B6D4"/>
                </a:solidFill>
              </a:rPr>
              <a:t>4. Triggered Attack</a:t>
            </a:r>
            <a:endParaRPr lang="en-US" sz="1200" dirty="0"/>
          </a:p>
        </p:txBody>
      </p:sp>
      <p:sp>
        <p:nvSpPr>
          <p:cNvPr id="45" name="Text 43"/>
          <p:cNvSpPr/>
          <p:nvPr/>
        </p:nvSpPr>
        <p:spPr>
          <a:xfrm>
            <a:off x="5340096" y="3913632"/>
            <a:ext cx="3291840" cy="347472"/>
          </a:xfrm>
          <a:prstGeom prst="rect">
            <a:avLst/>
          </a:prstGeom>
          <a:noFill/>
        </p:spPr>
        <p:txBody>
          <a:bodyPr wrap="square" lIns="0" tIns="0" rIns="0" bIns="0" rtlCol="0" anchor="ctr"/>
          <a:lstStyle/>
          <a:p>
            <a:pPr marL="0" indent="0">
              <a:buNone/>
            </a:pPr>
            <a:r>
              <a:rPr lang="en-US" sz="1050" dirty="0">
                <a:solidFill>
                  <a:srgbClr val="E2E8F0"/>
                </a:solidFill>
              </a:rPr>
              <a:t>Model misclassifies triggered inputs; clean inputs unaffected</a:t>
            </a:r>
            <a:endParaRPr lang="en-US" sz="1050" dirty="0"/>
          </a:p>
        </p:txBody>
      </p:sp>
      <p:sp>
        <p:nvSpPr>
          <p:cNvPr id="46" name="Shape 44"/>
          <p:cNvSpPr/>
          <p:nvPr/>
        </p:nvSpPr>
        <p:spPr>
          <a:xfrm>
            <a:off x="4937760" y="4416552"/>
            <a:ext cx="3657600" cy="347472"/>
          </a:xfrm>
          <a:prstGeom prst="rect">
            <a:avLst/>
          </a:prstGeom>
          <a:solidFill>
            <a:srgbClr val="0F2040"/>
          </a:solidFill>
          <a:ln w="12700">
            <a:solidFill>
              <a:srgbClr val="22C55E"/>
            </a:solidFill>
            <a:prstDash val="solid"/>
          </a:ln>
        </p:spPr>
        <p:txBody>
          <a:bodyPr/>
          <a:lstStyle/>
          <a:p>
            <a:endParaRPr lang="en-US"/>
          </a:p>
        </p:txBody>
      </p:sp>
      <p:sp>
        <p:nvSpPr>
          <p:cNvPr id="47" name="Text 45"/>
          <p:cNvSpPr/>
          <p:nvPr/>
        </p:nvSpPr>
        <p:spPr>
          <a:xfrm>
            <a:off x="4983480" y="4416552"/>
            <a:ext cx="3566160" cy="347472"/>
          </a:xfrm>
          <a:prstGeom prst="rect">
            <a:avLst/>
          </a:prstGeom>
          <a:noFill/>
        </p:spPr>
        <p:txBody>
          <a:bodyPr wrap="square" lIns="0" tIns="0" rIns="0" bIns="0" rtlCol="0" anchor="ctr"/>
          <a:lstStyle/>
          <a:p>
            <a:pPr marL="0" indent="0">
              <a:buNone/>
            </a:pPr>
            <a:r>
              <a:rPr lang="en-US" sz="1100" dirty="0">
                <a:solidFill>
                  <a:srgbClr val="22C55E"/>
                </a:solidFill>
              </a:rPr>
              <a:t>✓  No access to training required — more practical</a:t>
            </a:r>
            <a:endParaRPr lang="en-US" sz="1100" dirty="0"/>
          </a:p>
        </p:txBody>
      </p:sp>
      <p:sp>
        <p:nvSpPr>
          <p:cNvPr id="48" name="Shape 46"/>
          <p:cNvSpPr/>
          <p:nvPr/>
        </p:nvSpPr>
        <p:spPr>
          <a:xfrm>
            <a:off x="4206240" y="2331720"/>
            <a:ext cx="731520" cy="731520"/>
          </a:xfrm>
          <a:prstGeom prst="ellipse">
            <a:avLst/>
          </a:prstGeom>
          <a:solidFill>
            <a:srgbClr val="2563EB"/>
          </a:solidFill>
          <a:ln w="25400">
            <a:solidFill>
              <a:srgbClr val="3B82F6"/>
            </a:solidFill>
            <a:prstDash val="solid"/>
          </a:ln>
        </p:spPr>
        <p:txBody>
          <a:bodyPr/>
          <a:lstStyle/>
          <a:p>
            <a:endParaRPr lang="en-US"/>
          </a:p>
        </p:txBody>
      </p:sp>
      <p:sp>
        <p:nvSpPr>
          <p:cNvPr id="49" name="Text 47"/>
          <p:cNvSpPr/>
          <p:nvPr/>
        </p:nvSpPr>
        <p:spPr>
          <a:xfrm>
            <a:off x="4206240" y="2331720"/>
            <a:ext cx="731520" cy="731520"/>
          </a:xfrm>
          <a:prstGeom prst="rect">
            <a:avLst/>
          </a:prstGeom>
          <a:noFill/>
        </p:spPr>
        <p:txBody>
          <a:bodyPr wrap="square" lIns="0" tIns="0" rIns="0" bIns="0" rtlCol="0" anchor="ctr"/>
          <a:lstStyle/>
          <a:p>
            <a:pPr marL="0" indent="0" algn="ctr">
              <a:buNone/>
            </a:pPr>
            <a:r>
              <a:rPr lang="en-US" sz="1400" b="1" dirty="0">
                <a:solidFill>
                  <a:srgbClr val="FFFFFF"/>
                </a:solidFill>
              </a:rPr>
              <a:t>VS</a:t>
            </a:r>
            <a:endParaRPr lang="en-US" sz="14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06B6D4"/>
          </a:solidFill>
          <a:ln w="12700">
            <a:solidFill>
              <a:srgbClr val="06B6D4"/>
            </a:solidFill>
            <a:prstDash val="solid"/>
          </a:ln>
        </p:spPr>
        <p:txBody>
          <a:bodyPr/>
          <a:lstStyle/>
          <a:p>
            <a:endParaRPr lang="en-US"/>
          </a:p>
        </p:txBody>
      </p:sp>
      <p:sp>
        <p:nvSpPr>
          <p:cNvPr id="4" name="Text 2"/>
          <p:cNvSpPr/>
          <p:nvPr/>
        </p:nvSpPr>
        <p:spPr>
          <a:xfrm>
            <a:off x="640080" y="182880"/>
            <a:ext cx="2743200" cy="182880"/>
          </a:xfrm>
          <a:prstGeom prst="rect">
            <a:avLst/>
          </a:prstGeom>
          <a:noFill/>
        </p:spPr>
        <p:txBody>
          <a:bodyPr wrap="square" lIns="0" tIns="0" rIns="0" bIns="0" rtlCol="0" anchor="ctr"/>
          <a:lstStyle/>
          <a:p>
            <a:pPr marL="0" indent="0">
              <a:buNone/>
            </a:pPr>
            <a:r>
              <a:rPr lang="en-US" sz="900" b="1" kern="0" spc="200" dirty="0">
                <a:solidFill>
                  <a:srgbClr val="06B6D4"/>
                </a:solidFill>
              </a:rPr>
              <a:t>DRAM FUNDAMENTALS</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DRAM Organization &amp; the RowHammer Mechanism</a:t>
            </a:r>
            <a:endParaRPr lang="en-US" sz="2400" dirty="0"/>
          </a:p>
        </p:txBody>
      </p:sp>
      <p:sp>
        <p:nvSpPr>
          <p:cNvPr id="6" name="Shape 4"/>
          <p:cNvSpPr/>
          <p:nvPr/>
        </p:nvSpPr>
        <p:spPr>
          <a:xfrm>
            <a:off x="365760" y="914400"/>
            <a:ext cx="4114800" cy="3931920"/>
          </a:xfrm>
          <a:prstGeom prst="rect">
            <a:avLst/>
          </a:prstGeom>
          <a:solidFill>
            <a:srgbClr val="1A2A45"/>
          </a:solidFill>
          <a:ln w="2540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365760" y="969264"/>
            <a:ext cx="4114800" cy="320040"/>
          </a:xfrm>
          <a:prstGeom prst="rect">
            <a:avLst/>
          </a:prstGeom>
          <a:noFill/>
        </p:spPr>
        <p:txBody>
          <a:bodyPr wrap="square" lIns="0" tIns="0" rIns="0" bIns="0" rtlCol="0" anchor="ctr"/>
          <a:lstStyle/>
          <a:p>
            <a:pPr marL="0" indent="0" algn="ctr">
              <a:buNone/>
            </a:pPr>
            <a:r>
              <a:rPr lang="en-US" sz="1100" b="1" kern="0" spc="300" dirty="0">
                <a:solidFill>
                  <a:srgbClr val="06B6D4"/>
                </a:solidFill>
              </a:rPr>
              <a:t>DRAM CHIP</a:t>
            </a:r>
            <a:endParaRPr lang="en-US" sz="1100" dirty="0"/>
          </a:p>
        </p:txBody>
      </p:sp>
      <p:grpSp>
        <p:nvGrpSpPr>
          <p:cNvPr id="93" name="Group 92"/>
          <p:cNvGrpSpPr/>
          <p:nvPr/>
        </p:nvGrpSpPr>
        <p:grpSpPr>
          <a:xfrm>
            <a:off x="2560320" y="1371600"/>
            <a:ext cx="1645920" cy="1371600"/>
            <a:chOff x="2331720" y="1325880"/>
            <a:chExt cx="1645920" cy="1371600"/>
          </a:xfrm>
        </p:grpSpPr>
        <p:sp>
          <p:nvSpPr>
            <p:cNvPr id="20" name="Shape 18"/>
            <p:cNvSpPr/>
            <p:nvPr/>
          </p:nvSpPr>
          <p:spPr>
            <a:xfrm>
              <a:off x="2331720" y="1325880"/>
              <a:ext cx="1645920" cy="1371600"/>
            </a:xfrm>
            <a:prstGeom prst="rect">
              <a:avLst/>
            </a:prstGeom>
            <a:solidFill>
              <a:srgbClr val="0A1628"/>
            </a:solidFill>
            <a:ln w="12700">
              <a:solidFill>
                <a:srgbClr val="1E3A5F"/>
              </a:solidFill>
              <a:prstDash val="solid"/>
            </a:ln>
          </p:spPr>
          <p:txBody>
            <a:bodyPr/>
            <a:lstStyle/>
            <a:p>
              <a:endParaRPr lang="en-US"/>
            </a:p>
          </p:txBody>
        </p:sp>
        <p:sp>
          <p:nvSpPr>
            <p:cNvPr id="21" name="Text 19"/>
            <p:cNvSpPr/>
            <p:nvPr/>
          </p:nvSpPr>
          <p:spPr>
            <a:xfrm>
              <a:off x="2331720" y="1371600"/>
              <a:ext cx="1645920" cy="228600"/>
            </a:xfrm>
            <a:prstGeom prst="rect">
              <a:avLst/>
            </a:prstGeom>
            <a:noFill/>
          </p:spPr>
          <p:txBody>
            <a:bodyPr wrap="square" lIns="0" tIns="0" rIns="0" bIns="0" rtlCol="0" anchor="ctr"/>
            <a:lstStyle/>
            <a:p>
              <a:pPr marL="0" indent="0" algn="ctr">
                <a:buNone/>
              </a:pPr>
              <a:r>
                <a:rPr lang="en-US" sz="900" dirty="0">
                  <a:solidFill>
                    <a:srgbClr val="94A3B8"/>
                  </a:solidFill>
                </a:rPr>
                <a:t>Bank 1</a:t>
              </a:r>
              <a:endParaRPr lang="en-US" sz="900" dirty="0"/>
            </a:p>
          </p:txBody>
        </p:sp>
        <p:sp>
          <p:nvSpPr>
            <p:cNvPr id="22" name="Shape 20"/>
            <p:cNvSpPr/>
            <p:nvPr/>
          </p:nvSpPr>
          <p:spPr>
            <a:xfrm>
              <a:off x="2441448" y="1645920"/>
              <a:ext cx="1426464" cy="128016"/>
            </a:xfrm>
            <a:prstGeom prst="rect">
              <a:avLst/>
            </a:prstGeom>
            <a:solidFill>
              <a:srgbClr val="0F2040"/>
            </a:solidFill>
            <a:ln w="12700">
              <a:solidFill>
                <a:srgbClr val="1E3A5F"/>
              </a:solidFill>
              <a:prstDash val="solid"/>
            </a:ln>
          </p:spPr>
          <p:txBody>
            <a:bodyPr/>
            <a:lstStyle/>
            <a:p>
              <a:endParaRPr lang="en-US"/>
            </a:p>
          </p:txBody>
        </p:sp>
        <p:sp>
          <p:nvSpPr>
            <p:cNvPr id="23" name="Shape 21"/>
            <p:cNvSpPr/>
            <p:nvPr/>
          </p:nvSpPr>
          <p:spPr>
            <a:xfrm>
              <a:off x="2441448" y="1828800"/>
              <a:ext cx="1426464" cy="128016"/>
            </a:xfrm>
            <a:prstGeom prst="rect">
              <a:avLst/>
            </a:prstGeom>
            <a:solidFill>
              <a:srgbClr val="0F2040"/>
            </a:solidFill>
            <a:ln w="12700">
              <a:solidFill>
                <a:srgbClr val="1E3A5F"/>
              </a:solidFill>
              <a:prstDash val="solid"/>
            </a:ln>
          </p:spPr>
          <p:txBody>
            <a:bodyPr/>
            <a:lstStyle/>
            <a:p>
              <a:endParaRPr lang="en-US"/>
            </a:p>
          </p:txBody>
        </p:sp>
        <p:sp>
          <p:nvSpPr>
            <p:cNvPr id="24" name="Shape 22"/>
            <p:cNvSpPr/>
            <p:nvPr/>
          </p:nvSpPr>
          <p:spPr>
            <a:xfrm>
              <a:off x="2441448" y="2011680"/>
              <a:ext cx="1426464" cy="128016"/>
            </a:xfrm>
            <a:prstGeom prst="rect">
              <a:avLst/>
            </a:prstGeom>
            <a:solidFill>
              <a:srgbClr val="0F2040"/>
            </a:solidFill>
            <a:ln w="12700">
              <a:solidFill>
                <a:srgbClr val="1E3A5F"/>
              </a:solidFill>
              <a:prstDash val="solid"/>
            </a:ln>
          </p:spPr>
          <p:txBody>
            <a:bodyPr/>
            <a:lstStyle/>
            <a:p>
              <a:endParaRPr lang="en-US"/>
            </a:p>
          </p:txBody>
        </p:sp>
        <p:sp>
          <p:nvSpPr>
            <p:cNvPr id="25" name="Shape 23"/>
            <p:cNvSpPr/>
            <p:nvPr/>
          </p:nvSpPr>
          <p:spPr>
            <a:xfrm>
              <a:off x="2441448" y="2194560"/>
              <a:ext cx="1426464" cy="128016"/>
            </a:xfrm>
            <a:prstGeom prst="rect">
              <a:avLst/>
            </a:prstGeom>
            <a:solidFill>
              <a:srgbClr val="0F2040"/>
            </a:solidFill>
            <a:ln w="12700">
              <a:solidFill>
                <a:srgbClr val="1E3A5F"/>
              </a:solidFill>
              <a:prstDash val="solid"/>
            </a:ln>
          </p:spPr>
          <p:txBody>
            <a:bodyPr/>
            <a:lstStyle/>
            <a:p>
              <a:endParaRPr lang="en-US"/>
            </a:p>
          </p:txBody>
        </p:sp>
        <p:sp>
          <p:nvSpPr>
            <p:cNvPr id="26" name="Shape 24"/>
            <p:cNvSpPr/>
            <p:nvPr/>
          </p:nvSpPr>
          <p:spPr>
            <a:xfrm>
              <a:off x="2441448" y="2377440"/>
              <a:ext cx="1426464" cy="128016"/>
            </a:xfrm>
            <a:prstGeom prst="rect">
              <a:avLst/>
            </a:prstGeom>
            <a:solidFill>
              <a:srgbClr val="0F2040"/>
            </a:solidFill>
            <a:ln w="12700">
              <a:solidFill>
                <a:srgbClr val="1E3A5F"/>
              </a:solidFill>
              <a:prstDash val="solid"/>
            </a:ln>
          </p:spPr>
          <p:txBody>
            <a:bodyPr/>
            <a:lstStyle/>
            <a:p>
              <a:endParaRPr lang="en-US"/>
            </a:p>
          </p:txBody>
        </p:sp>
      </p:grpSp>
      <p:grpSp>
        <p:nvGrpSpPr>
          <p:cNvPr id="92" name="Group 91"/>
          <p:cNvGrpSpPr/>
          <p:nvPr/>
        </p:nvGrpSpPr>
        <p:grpSpPr>
          <a:xfrm>
            <a:off x="640080" y="2925020"/>
            <a:ext cx="1645920" cy="1371600"/>
            <a:chOff x="502920" y="2788920"/>
            <a:chExt cx="1645920" cy="1371600"/>
          </a:xfrm>
        </p:grpSpPr>
        <p:sp>
          <p:nvSpPr>
            <p:cNvPr id="27" name="Shape 25"/>
            <p:cNvSpPr/>
            <p:nvPr/>
          </p:nvSpPr>
          <p:spPr>
            <a:xfrm>
              <a:off x="502920" y="2788920"/>
              <a:ext cx="1645920" cy="1371600"/>
            </a:xfrm>
            <a:prstGeom prst="rect">
              <a:avLst/>
            </a:prstGeom>
            <a:solidFill>
              <a:srgbClr val="0A1628"/>
            </a:solidFill>
            <a:ln w="12700">
              <a:solidFill>
                <a:srgbClr val="1E3A5F"/>
              </a:solidFill>
              <a:prstDash val="solid"/>
            </a:ln>
          </p:spPr>
          <p:txBody>
            <a:bodyPr/>
            <a:lstStyle/>
            <a:p>
              <a:endParaRPr lang="en-US"/>
            </a:p>
          </p:txBody>
        </p:sp>
        <p:sp>
          <p:nvSpPr>
            <p:cNvPr id="28" name="Text 26"/>
            <p:cNvSpPr/>
            <p:nvPr/>
          </p:nvSpPr>
          <p:spPr>
            <a:xfrm>
              <a:off x="502920" y="2834640"/>
              <a:ext cx="1645920" cy="228600"/>
            </a:xfrm>
            <a:prstGeom prst="rect">
              <a:avLst/>
            </a:prstGeom>
            <a:noFill/>
          </p:spPr>
          <p:txBody>
            <a:bodyPr wrap="square" lIns="0" tIns="0" rIns="0" bIns="0" rtlCol="0" anchor="ctr"/>
            <a:lstStyle/>
            <a:p>
              <a:pPr marL="0" indent="0" algn="ctr">
                <a:buNone/>
              </a:pPr>
              <a:r>
                <a:rPr lang="en-US" sz="900" dirty="0">
                  <a:solidFill>
                    <a:srgbClr val="94A3B8"/>
                  </a:solidFill>
                </a:rPr>
                <a:t>Bank 2</a:t>
              </a:r>
              <a:endParaRPr lang="en-US" sz="900" dirty="0"/>
            </a:p>
          </p:txBody>
        </p:sp>
        <p:sp>
          <p:nvSpPr>
            <p:cNvPr id="29" name="Shape 27"/>
            <p:cNvSpPr/>
            <p:nvPr/>
          </p:nvSpPr>
          <p:spPr>
            <a:xfrm>
              <a:off x="612648" y="3108960"/>
              <a:ext cx="1426464" cy="128016"/>
            </a:xfrm>
            <a:prstGeom prst="rect">
              <a:avLst/>
            </a:prstGeom>
            <a:solidFill>
              <a:srgbClr val="0F2040"/>
            </a:solidFill>
            <a:ln w="12700">
              <a:solidFill>
                <a:srgbClr val="1E3A5F"/>
              </a:solidFill>
              <a:prstDash val="solid"/>
            </a:ln>
          </p:spPr>
          <p:txBody>
            <a:bodyPr/>
            <a:lstStyle/>
            <a:p>
              <a:endParaRPr lang="en-US"/>
            </a:p>
          </p:txBody>
        </p:sp>
        <p:sp>
          <p:nvSpPr>
            <p:cNvPr id="30" name="Shape 28"/>
            <p:cNvSpPr/>
            <p:nvPr/>
          </p:nvSpPr>
          <p:spPr>
            <a:xfrm>
              <a:off x="612648" y="3291840"/>
              <a:ext cx="1426464" cy="128016"/>
            </a:xfrm>
            <a:prstGeom prst="rect">
              <a:avLst/>
            </a:prstGeom>
            <a:solidFill>
              <a:srgbClr val="0F2040"/>
            </a:solidFill>
            <a:ln w="12700">
              <a:solidFill>
                <a:srgbClr val="1E3A5F"/>
              </a:solidFill>
              <a:prstDash val="solid"/>
            </a:ln>
          </p:spPr>
          <p:txBody>
            <a:bodyPr/>
            <a:lstStyle/>
            <a:p>
              <a:endParaRPr lang="en-US"/>
            </a:p>
          </p:txBody>
        </p:sp>
        <p:sp>
          <p:nvSpPr>
            <p:cNvPr id="31" name="Shape 29"/>
            <p:cNvSpPr/>
            <p:nvPr/>
          </p:nvSpPr>
          <p:spPr>
            <a:xfrm>
              <a:off x="612648" y="3474720"/>
              <a:ext cx="1426464" cy="128016"/>
            </a:xfrm>
            <a:prstGeom prst="rect">
              <a:avLst/>
            </a:prstGeom>
            <a:solidFill>
              <a:srgbClr val="0F2040"/>
            </a:solidFill>
            <a:ln w="12700">
              <a:solidFill>
                <a:srgbClr val="1E3A5F"/>
              </a:solidFill>
              <a:prstDash val="solid"/>
            </a:ln>
          </p:spPr>
          <p:txBody>
            <a:bodyPr/>
            <a:lstStyle/>
            <a:p>
              <a:endParaRPr lang="en-US"/>
            </a:p>
          </p:txBody>
        </p:sp>
        <p:sp>
          <p:nvSpPr>
            <p:cNvPr id="32" name="Shape 30"/>
            <p:cNvSpPr/>
            <p:nvPr/>
          </p:nvSpPr>
          <p:spPr>
            <a:xfrm>
              <a:off x="612648" y="3657600"/>
              <a:ext cx="1426464" cy="128016"/>
            </a:xfrm>
            <a:prstGeom prst="rect">
              <a:avLst/>
            </a:prstGeom>
            <a:solidFill>
              <a:srgbClr val="0F2040"/>
            </a:solidFill>
            <a:ln w="12700">
              <a:solidFill>
                <a:srgbClr val="1E3A5F"/>
              </a:solidFill>
              <a:prstDash val="solid"/>
            </a:ln>
          </p:spPr>
          <p:txBody>
            <a:bodyPr/>
            <a:lstStyle/>
            <a:p>
              <a:endParaRPr lang="en-US"/>
            </a:p>
          </p:txBody>
        </p:sp>
        <p:sp>
          <p:nvSpPr>
            <p:cNvPr id="33" name="Shape 31"/>
            <p:cNvSpPr/>
            <p:nvPr/>
          </p:nvSpPr>
          <p:spPr>
            <a:xfrm>
              <a:off x="612648" y="3840480"/>
              <a:ext cx="1426464" cy="128016"/>
            </a:xfrm>
            <a:prstGeom prst="rect">
              <a:avLst/>
            </a:prstGeom>
            <a:solidFill>
              <a:srgbClr val="0F2040"/>
            </a:solidFill>
            <a:ln w="12700">
              <a:solidFill>
                <a:srgbClr val="1E3A5F"/>
              </a:solidFill>
              <a:prstDash val="solid"/>
            </a:ln>
          </p:spPr>
          <p:txBody>
            <a:bodyPr/>
            <a:lstStyle/>
            <a:p>
              <a:endParaRPr lang="en-US"/>
            </a:p>
          </p:txBody>
        </p:sp>
      </p:grpSp>
      <p:grpSp>
        <p:nvGrpSpPr>
          <p:cNvPr id="91" name="Group 90"/>
          <p:cNvGrpSpPr/>
          <p:nvPr/>
        </p:nvGrpSpPr>
        <p:grpSpPr>
          <a:xfrm>
            <a:off x="2560320" y="2916936"/>
            <a:ext cx="1645920" cy="1371600"/>
            <a:chOff x="2331720" y="2788920"/>
            <a:chExt cx="1645920" cy="1371600"/>
          </a:xfrm>
        </p:grpSpPr>
        <p:sp>
          <p:nvSpPr>
            <p:cNvPr id="34" name="Shape 32"/>
            <p:cNvSpPr/>
            <p:nvPr/>
          </p:nvSpPr>
          <p:spPr>
            <a:xfrm>
              <a:off x="2331720" y="2788920"/>
              <a:ext cx="1645920" cy="1371600"/>
            </a:xfrm>
            <a:prstGeom prst="rect">
              <a:avLst/>
            </a:prstGeom>
            <a:solidFill>
              <a:srgbClr val="0A1628"/>
            </a:solidFill>
            <a:ln w="12700">
              <a:solidFill>
                <a:srgbClr val="1E3A5F"/>
              </a:solidFill>
              <a:prstDash val="solid"/>
            </a:ln>
          </p:spPr>
          <p:txBody>
            <a:bodyPr/>
            <a:lstStyle/>
            <a:p>
              <a:endParaRPr lang="en-US"/>
            </a:p>
          </p:txBody>
        </p:sp>
        <p:sp>
          <p:nvSpPr>
            <p:cNvPr id="35" name="Text 33"/>
            <p:cNvSpPr/>
            <p:nvPr/>
          </p:nvSpPr>
          <p:spPr>
            <a:xfrm>
              <a:off x="2331720" y="2834640"/>
              <a:ext cx="1645920" cy="228600"/>
            </a:xfrm>
            <a:prstGeom prst="rect">
              <a:avLst/>
            </a:prstGeom>
            <a:noFill/>
          </p:spPr>
          <p:txBody>
            <a:bodyPr wrap="square" lIns="0" tIns="0" rIns="0" bIns="0" rtlCol="0" anchor="ctr"/>
            <a:lstStyle/>
            <a:p>
              <a:pPr marL="0" indent="0" algn="ctr">
                <a:buNone/>
              </a:pPr>
              <a:r>
                <a:rPr lang="en-US" sz="900" dirty="0">
                  <a:solidFill>
                    <a:srgbClr val="94A3B8"/>
                  </a:solidFill>
                </a:rPr>
                <a:t>Bank 3</a:t>
              </a:r>
              <a:endParaRPr lang="en-US" sz="900" dirty="0"/>
            </a:p>
          </p:txBody>
        </p:sp>
        <p:sp>
          <p:nvSpPr>
            <p:cNvPr id="36" name="Shape 34"/>
            <p:cNvSpPr/>
            <p:nvPr/>
          </p:nvSpPr>
          <p:spPr>
            <a:xfrm>
              <a:off x="2441448" y="3108960"/>
              <a:ext cx="1426464" cy="128016"/>
            </a:xfrm>
            <a:prstGeom prst="rect">
              <a:avLst/>
            </a:prstGeom>
            <a:solidFill>
              <a:srgbClr val="0F2040"/>
            </a:solidFill>
            <a:ln w="12700">
              <a:solidFill>
                <a:srgbClr val="1E3A5F"/>
              </a:solidFill>
              <a:prstDash val="solid"/>
            </a:ln>
          </p:spPr>
          <p:txBody>
            <a:bodyPr/>
            <a:lstStyle/>
            <a:p>
              <a:endParaRPr lang="en-US"/>
            </a:p>
          </p:txBody>
        </p:sp>
        <p:sp>
          <p:nvSpPr>
            <p:cNvPr id="37" name="Shape 35"/>
            <p:cNvSpPr/>
            <p:nvPr/>
          </p:nvSpPr>
          <p:spPr>
            <a:xfrm>
              <a:off x="2441448" y="3291840"/>
              <a:ext cx="1426464" cy="128016"/>
            </a:xfrm>
            <a:prstGeom prst="rect">
              <a:avLst/>
            </a:prstGeom>
            <a:solidFill>
              <a:srgbClr val="0F2040"/>
            </a:solidFill>
            <a:ln w="12700">
              <a:solidFill>
                <a:srgbClr val="1E3A5F"/>
              </a:solidFill>
              <a:prstDash val="solid"/>
            </a:ln>
          </p:spPr>
          <p:txBody>
            <a:bodyPr/>
            <a:lstStyle/>
            <a:p>
              <a:endParaRPr lang="en-US"/>
            </a:p>
          </p:txBody>
        </p:sp>
        <p:sp>
          <p:nvSpPr>
            <p:cNvPr id="38" name="Shape 36"/>
            <p:cNvSpPr/>
            <p:nvPr/>
          </p:nvSpPr>
          <p:spPr>
            <a:xfrm>
              <a:off x="2441448" y="3474720"/>
              <a:ext cx="1426464" cy="128016"/>
            </a:xfrm>
            <a:prstGeom prst="rect">
              <a:avLst/>
            </a:prstGeom>
            <a:solidFill>
              <a:srgbClr val="0F2040"/>
            </a:solidFill>
            <a:ln w="12700">
              <a:solidFill>
                <a:srgbClr val="1E3A5F"/>
              </a:solidFill>
              <a:prstDash val="solid"/>
            </a:ln>
          </p:spPr>
          <p:txBody>
            <a:bodyPr/>
            <a:lstStyle/>
            <a:p>
              <a:endParaRPr lang="en-US"/>
            </a:p>
          </p:txBody>
        </p:sp>
        <p:sp>
          <p:nvSpPr>
            <p:cNvPr id="39" name="Shape 37"/>
            <p:cNvSpPr/>
            <p:nvPr/>
          </p:nvSpPr>
          <p:spPr>
            <a:xfrm>
              <a:off x="2441448" y="3657600"/>
              <a:ext cx="1426464" cy="128016"/>
            </a:xfrm>
            <a:prstGeom prst="rect">
              <a:avLst/>
            </a:prstGeom>
            <a:solidFill>
              <a:srgbClr val="0F2040"/>
            </a:solidFill>
            <a:ln w="12700">
              <a:solidFill>
                <a:srgbClr val="1E3A5F"/>
              </a:solidFill>
              <a:prstDash val="solid"/>
            </a:ln>
          </p:spPr>
          <p:txBody>
            <a:bodyPr/>
            <a:lstStyle/>
            <a:p>
              <a:endParaRPr lang="en-US"/>
            </a:p>
          </p:txBody>
        </p:sp>
        <p:sp>
          <p:nvSpPr>
            <p:cNvPr id="40" name="Shape 38"/>
            <p:cNvSpPr/>
            <p:nvPr/>
          </p:nvSpPr>
          <p:spPr>
            <a:xfrm>
              <a:off x="2441448" y="3840480"/>
              <a:ext cx="1426464" cy="128016"/>
            </a:xfrm>
            <a:prstGeom prst="rect">
              <a:avLst/>
            </a:prstGeom>
            <a:solidFill>
              <a:srgbClr val="0F2040"/>
            </a:solidFill>
            <a:ln w="12700">
              <a:solidFill>
                <a:srgbClr val="1E3A5F"/>
              </a:solidFill>
              <a:prstDash val="solid"/>
            </a:ln>
          </p:spPr>
          <p:txBody>
            <a:bodyPr/>
            <a:lstStyle/>
            <a:p>
              <a:endParaRPr lang="en-US"/>
            </a:p>
          </p:txBody>
        </p:sp>
      </p:grpSp>
      <p:grpSp>
        <p:nvGrpSpPr>
          <p:cNvPr id="90" name="Group 89"/>
          <p:cNvGrpSpPr/>
          <p:nvPr/>
        </p:nvGrpSpPr>
        <p:grpSpPr>
          <a:xfrm>
            <a:off x="1920240" y="4457700"/>
            <a:ext cx="822960" cy="274320"/>
            <a:chOff x="1783080" y="4224528"/>
            <a:chExt cx="822960" cy="274320"/>
          </a:xfrm>
        </p:grpSpPr>
        <p:sp>
          <p:nvSpPr>
            <p:cNvPr id="41" name="Shape 39"/>
            <p:cNvSpPr/>
            <p:nvPr/>
          </p:nvSpPr>
          <p:spPr>
            <a:xfrm>
              <a:off x="1783080" y="4224528"/>
              <a:ext cx="822960" cy="274320"/>
            </a:xfrm>
            <a:prstGeom prst="rect">
              <a:avLst/>
            </a:prstGeom>
            <a:solidFill>
              <a:srgbClr val="2563EB"/>
            </a:solidFill>
            <a:ln w="12700">
              <a:solidFill>
                <a:srgbClr val="3B82F6"/>
              </a:solidFill>
              <a:prstDash val="solid"/>
            </a:ln>
          </p:spPr>
          <p:txBody>
            <a:bodyPr/>
            <a:lstStyle/>
            <a:p>
              <a:endParaRPr lang="en-US"/>
            </a:p>
          </p:txBody>
        </p:sp>
        <p:sp>
          <p:nvSpPr>
            <p:cNvPr id="42" name="Text 40"/>
            <p:cNvSpPr/>
            <p:nvPr/>
          </p:nvSpPr>
          <p:spPr>
            <a:xfrm>
              <a:off x="1783080" y="4224528"/>
              <a:ext cx="822960" cy="274320"/>
            </a:xfrm>
            <a:prstGeom prst="rect">
              <a:avLst/>
            </a:prstGeom>
            <a:noFill/>
          </p:spPr>
          <p:txBody>
            <a:bodyPr wrap="square" lIns="0" tIns="0" rIns="0" bIns="0" rtlCol="0" anchor="ctr"/>
            <a:lstStyle/>
            <a:p>
              <a:pPr marL="0" indent="0" algn="ctr">
                <a:buNone/>
              </a:pPr>
              <a:r>
                <a:rPr lang="en-US" sz="900" dirty="0">
                  <a:solidFill>
                    <a:srgbClr val="FFFFFF"/>
                  </a:solidFill>
                </a:rPr>
                <a:t>Chip I/O</a:t>
              </a:r>
              <a:endParaRPr lang="en-US" sz="900" dirty="0"/>
            </a:p>
          </p:txBody>
        </p:sp>
      </p:grpSp>
      <p:sp>
        <p:nvSpPr>
          <p:cNvPr id="43" name="Shape 41"/>
          <p:cNvSpPr/>
          <p:nvPr/>
        </p:nvSpPr>
        <p:spPr>
          <a:xfrm>
            <a:off x="4754880" y="914400"/>
            <a:ext cx="4023360" cy="3931920"/>
          </a:xfrm>
          <a:prstGeom prst="rect">
            <a:avLst/>
          </a:prstGeom>
          <a:solidFill>
            <a:srgbClr val="162035"/>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44" name="Text 42"/>
          <p:cNvSpPr/>
          <p:nvPr/>
        </p:nvSpPr>
        <p:spPr>
          <a:xfrm>
            <a:off x="4846320" y="987552"/>
            <a:ext cx="3840480" cy="320040"/>
          </a:xfrm>
          <a:prstGeom prst="rect">
            <a:avLst/>
          </a:prstGeom>
          <a:noFill/>
        </p:spPr>
        <p:txBody>
          <a:bodyPr wrap="square" rtlCol="0" anchor="ctr"/>
          <a:lstStyle/>
          <a:p>
            <a:pPr marL="0" indent="0">
              <a:buNone/>
            </a:pPr>
            <a:r>
              <a:rPr lang="en-US" sz="1400" b="1" dirty="0">
                <a:solidFill>
                  <a:srgbClr val="F59E0B"/>
                </a:solidFill>
              </a:rPr>
              <a:t>RowHammer Mechanism</a:t>
            </a:r>
            <a:endParaRPr lang="en-US" sz="1400" dirty="0"/>
          </a:p>
        </p:txBody>
      </p:sp>
      <p:sp>
        <p:nvSpPr>
          <p:cNvPr id="45" name="Shape 43"/>
          <p:cNvSpPr/>
          <p:nvPr/>
        </p:nvSpPr>
        <p:spPr>
          <a:xfrm>
            <a:off x="4846320" y="1444752"/>
            <a:ext cx="3291840" cy="402336"/>
          </a:xfrm>
          <a:prstGeom prst="rect">
            <a:avLst/>
          </a:prstGeom>
          <a:solidFill>
            <a:srgbClr val="0F2040"/>
          </a:solidFill>
          <a:ln w="19050">
            <a:solidFill>
              <a:srgbClr val="F59E0B"/>
            </a:solidFill>
            <a:prstDash val="solid"/>
          </a:ln>
        </p:spPr>
        <p:txBody>
          <a:bodyPr/>
          <a:lstStyle/>
          <a:p>
            <a:endParaRPr lang="en-US"/>
          </a:p>
        </p:txBody>
      </p:sp>
      <p:sp>
        <p:nvSpPr>
          <p:cNvPr id="46" name="Text 44"/>
          <p:cNvSpPr/>
          <p:nvPr/>
        </p:nvSpPr>
        <p:spPr>
          <a:xfrm>
            <a:off x="4892040" y="1527048"/>
            <a:ext cx="3200400" cy="237744"/>
          </a:xfrm>
          <a:prstGeom prst="rect">
            <a:avLst/>
          </a:prstGeom>
          <a:noFill/>
        </p:spPr>
        <p:txBody>
          <a:bodyPr wrap="square" lIns="0" tIns="0" rIns="0" bIns="0" rtlCol="0" anchor="ctr"/>
          <a:lstStyle/>
          <a:p>
            <a:pPr marL="0" indent="0">
              <a:buNone/>
            </a:pPr>
            <a:r>
              <a:rPr lang="en-US" sz="1100" b="1" dirty="0">
                <a:solidFill>
                  <a:srgbClr val="F59E0B"/>
                </a:solidFill>
              </a:rPr>
              <a:t>Aggressor (X-1)</a:t>
            </a:r>
            <a:endParaRPr lang="en-US" sz="1100" dirty="0"/>
          </a:p>
        </p:txBody>
      </p:sp>
      <p:sp>
        <p:nvSpPr>
          <p:cNvPr id="47" name="Shape 45"/>
          <p:cNvSpPr/>
          <p:nvPr/>
        </p:nvSpPr>
        <p:spPr>
          <a:xfrm>
            <a:off x="4919472"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48" name="Shape 46"/>
          <p:cNvSpPr/>
          <p:nvPr/>
        </p:nvSpPr>
        <p:spPr>
          <a:xfrm>
            <a:off x="5431536"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49" name="Shape 47"/>
          <p:cNvSpPr/>
          <p:nvPr/>
        </p:nvSpPr>
        <p:spPr>
          <a:xfrm>
            <a:off x="5943600"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50" name="Shape 48"/>
          <p:cNvSpPr/>
          <p:nvPr/>
        </p:nvSpPr>
        <p:spPr>
          <a:xfrm>
            <a:off x="6455664"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51" name="Shape 49"/>
          <p:cNvSpPr/>
          <p:nvPr/>
        </p:nvSpPr>
        <p:spPr>
          <a:xfrm>
            <a:off x="6967728"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52" name="Shape 50"/>
          <p:cNvSpPr/>
          <p:nvPr/>
        </p:nvSpPr>
        <p:spPr>
          <a:xfrm>
            <a:off x="7479792" y="1737360"/>
            <a:ext cx="182880" cy="128016"/>
          </a:xfrm>
          <a:prstGeom prst="rect">
            <a:avLst/>
          </a:prstGeom>
          <a:solidFill>
            <a:srgbClr val="0A1628"/>
          </a:solidFill>
          <a:ln w="6350">
            <a:solidFill>
              <a:srgbClr val="F59E0B"/>
            </a:solidFill>
            <a:prstDash val="solid"/>
          </a:ln>
        </p:spPr>
        <p:txBody>
          <a:bodyPr/>
          <a:lstStyle/>
          <a:p>
            <a:endParaRPr lang="en-US"/>
          </a:p>
        </p:txBody>
      </p:sp>
      <p:sp>
        <p:nvSpPr>
          <p:cNvPr id="53" name="Shape 51"/>
          <p:cNvSpPr/>
          <p:nvPr/>
        </p:nvSpPr>
        <p:spPr>
          <a:xfrm>
            <a:off x="4846320" y="1938528"/>
            <a:ext cx="3291840" cy="402336"/>
          </a:xfrm>
          <a:prstGeom prst="rect">
            <a:avLst/>
          </a:prstGeom>
          <a:solidFill>
            <a:srgbClr val="0F2040"/>
          </a:solidFill>
          <a:ln w="19050">
            <a:solidFill>
              <a:srgbClr val="EF4444"/>
            </a:solidFill>
            <a:prstDash val="solid"/>
          </a:ln>
        </p:spPr>
        <p:txBody>
          <a:bodyPr/>
          <a:lstStyle/>
          <a:p>
            <a:endParaRPr lang="en-US"/>
          </a:p>
        </p:txBody>
      </p:sp>
      <p:sp>
        <p:nvSpPr>
          <p:cNvPr id="54" name="Text 52"/>
          <p:cNvSpPr/>
          <p:nvPr/>
        </p:nvSpPr>
        <p:spPr>
          <a:xfrm>
            <a:off x="4892040" y="2020824"/>
            <a:ext cx="3200400" cy="237744"/>
          </a:xfrm>
          <a:prstGeom prst="rect">
            <a:avLst/>
          </a:prstGeom>
          <a:noFill/>
        </p:spPr>
        <p:txBody>
          <a:bodyPr wrap="square" lIns="0" tIns="0" rIns="0" bIns="0" rtlCol="0" anchor="ctr"/>
          <a:lstStyle/>
          <a:p>
            <a:pPr marL="0" indent="0">
              <a:buNone/>
            </a:pPr>
            <a:r>
              <a:rPr lang="en-US" sz="1100" b="1" dirty="0">
                <a:solidFill>
                  <a:srgbClr val="EF4444"/>
                </a:solidFill>
              </a:rPr>
              <a:t>Victim Row  (X)</a:t>
            </a:r>
            <a:endParaRPr lang="en-US" sz="1100" dirty="0"/>
          </a:p>
        </p:txBody>
      </p:sp>
      <p:sp>
        <p:nvSpPr>
          <p:cNvPr id="55" name="Shape 53"/>
          <p:cNvSpPr/>
          <p:nvPr/>
        </p:nvSpPr>
        <p:spPr>
          <a:xfrm>
            <a:off x="4919472"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56" name="Shape 54"/>
          <p:cNvSpPr/>
          <p:nvPr/>
        </p:nvSpPr>
        <p:spPr>
          <a:xfrm>
            <a:off x="5431536"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57" name="Shape 55"/>
          <p:cNvSpPr/>
          <p:nvPr/>
        </p:nvSpPr>
        <p:spPr>
          <a:xfrm>
            <a:off x="5943600"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58" name="Shape 56"/>
          <p:cNvSpPr/>
          <p:nvPr/>
        </p:nvSpPr>
        <p:spPr>
          <a:xfrm>
            <a:off x="6455664"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59" name="Shape 57"/>
          <p:cNvSpPr/>
          <p:nvPr/>
        </p:nvSpPr>
        <p:spPr>
          <a:xfrm>
            <a:off x="6967728"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60" name="Shape 58"/>
          <p:cNvSpPr/>
          <p:nvPr/>
        </p:nvSpPr>
        <p:spPr>
          <a:xfrm>
            <a:off x="7479792" y="2231136"/>
            <a:ext cx="182880" cy="128016"/>
          </a:xfrm>
          <a:prstGeom prst="rect">
            <a:avLst/>
          </a:prstGeom>
          <a:solidFill>
            <a:srgbClr val="EF4444"/>
          </a:solidFill>
          <a:ln w="6350">
            <a:solidFill>
              <a:srgbClr val="EF4444"/>
            </a:solidFill>
            <a:prstDash val="solid"/>
          </a:ln>
        </p:spPr>
        <p:txBody>
          <a:bodyPr/>
          <a:lstStyle/>
          <a:p>
            <a:endParaRPr lang="en-US"/>
          </a:p>
        </p:txBody>
      </p:sp>
      <p:sp>
        <p:nvSpPr>
          <p:cNvPr id="61" name="Shape 59"/>
          <p:cNvSpPr/>
          <p:nvPr/>
        </p:nvSpPr>
        <p:spPr>
          <a:xfrm>
            <a:off x="4846320" y="2432304"/>
            <a:ext cx="3291840" cy="402336"/>
          </a:xfrm>
          <a:prstGeom prst="rect">
            <a:avLst/>
          </a:prstGeom>
          <a:solidFill>
            <a:srgbClr val="0F2040"/>
          </a:solidFill>
          <a:ln w="19050">
            <a:solidFill>
              <a:srgbClr val="F59E0B"/>
            </a:solidFill>
            <a:prstDash val="solid"/>
          </a:ln>
        </p:spPr>
        <p:txBody>
          <a:bodyPr/>
          <a:lstStyle/>
          <a:p>
            <a:endParaRPr lang="en-US"/>
          </a:p>
        </p:txBody>
      </p:sp>
      <p:sp>
        <p:nvSpPr>
          <p:cNvPr id="62" name="Text 60"/>
          <p:cNvSpPr/>
          <p:nvPr/>
        </p:nvSpPr>
        <p:spPr>
          <a:xfrm>
            <a:off x="4892040" y="2514600"/>
            <a:ext cx="3200400" cy="237744"/>
          </a:xfrm>
          <a:prstGeom prst="rect">
            <a:avLst/>
          </a:prstGeom>
          <a:noFill/>
        </p:spPr>
        <p:txBody>
          <a:bodyPr wrap="square" lIns="0" tIns="0" rIns="0" bIns="0" rtlCol="0" anchor="ctr"/>
          <a:lstStyle/>
          <a:p>
            <a:pPr marL="0" indent="0">
              <a:buNone/>
            </a:pPr>
            <a:r>
              <a:rPr lang="en-US" sz="1100" b="1" dirty="0">
                <a:solidFill>
                  <a:srgbClr val="F59E0B"/>
                </a:solidFill>
              </a:rPr>
              <a:t>Aggressor (X+1)</a:t>
            </a:r>
            <a:endParaRPr lang="en-US" sz="1100" dirty="0"/>
          </a:p>
        </p:txBody>
      </p:sp>
      <p:sp>
        <p:nvSpPr>
          <p:cNvPr id="63" name="Shape 61"/>
          <p:cNvSpPr/>
          <p:nvPr/>
        </p:nvSpPr>
        <p:spPr>
          <a:xfrm>
            <a:off x="4919472"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4" name="Shape 62"/>
          <p:cNvSpPr/>
          <p:nvPr/>
        </p:nvSpPr>
        <p:spPr>
          <a:xfrm>
            <a:off x="5431536"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5" name="Shape 63"/>
          <p:cNvSpPr/>
          <p:nvPr/>
        </p:nvSpPr>
        <p:spPr>
          <a:xfrm>
            <a:off x="5943600"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6" name="Shape 64"/>
          <p:cNvSpPr/>
          <p:nvPr/>
        </p:nvSpPr>
        <p:spPr>
          <a:xfrm>
            <a:off x="6455664"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7" name="Shape 65"/>
          <p:cNvSpPr/>
          <p:nvPr/>
        </p:nvSpPr>
        <p:spPr>
          <a:xfrm>
            <a:off x="6967728"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8" name="Shape 66"/>
          <p:cNvSpPr/>
          <p:nvPr/>
        </p:nvSpPr>
        <p:spPr>
          <a:xfrm>
            <a:off x="7479792" y="2724912"/>
            <a:ext cx="182880" cy="128016"/>
          </a:xfrm>
          <a:prstGeom prst="rect">
            <a:avLst/>
          </a:prstGeom>
          <a:solidFill>
            <a:srgbClr val="0A1628"/>
          </a:solidFill>
          <a:ln w="6350">
            <a:solidFill>
              <a:srgbClr val="F59E0B"/>
            </a:solidFill>
            <a:prstDash val="solid"/>
          </a:ln>
        </p:spPr>
        <p:txBody>
          <a:bodyPr/>
          <a:lstStyle/>
          <a:p>
            <a:endParaRPr lang="en-US"/>
          </a:p>
        </p:txBody>
      </p:sp>
      <p:sp>
        <p:nvSpPr>
          <p:cNvPr id="69" name="Shape 67"/>
          <p:cNvSpPr/>
          <p:nvPr/>
        </p:nvSpPr>
        <p:spPr>
          <a:xfrm>
            <a:off x="8183880" y="1463040"/>
            <a:ext cx="0" cy="402336"/>
          </a:xfrm>
          <a:prstGeom prst="line">
            <a:avLst/>
          </a:prstGeom>
          <a:noFill/>
          <a:ln w="25400">
            <a:solidFill>
              <a:srgbClr val="F59E0B"/>
            </a:solidFill>
            <a:prstDash val="solid"/>
          </a:ln>
        </p:spPr>
        <p:txBody>
          <a:bodyPr/>
          <a:lstStyle/>
          <a:p>
            <a:endParaRPr lang="en-US"/>
          </a:p>
        </p:txBody>
      </p:sp>
      <p:sp>
        <p:nvSpPr>
          <p:cNvPr id="70" name="Shape 68"/>
          <p:cNvSpPr/>
          <p:nvPr/>
        </p:nvSpPr>
        <p:spPr>
          <a:xfrm>
            <a:off x="8183880" y="2432304"/>
            <a:ext cx="0" cy="402336"/>
          </a:xfrm>
          <a:prstGeom prst="line">
            <a:avLst/>
          </a:prstGeom>
          <a:noFill/>
          <a:ln w="25400">
            <a:solidFill>
              <a:srgbClr val="F59E0B"/>
            </a:solidFill>
            <a:prstDash val="solid"/>
          </a:ln>
        </p:spPr>
        <p:txBody>
          <a:bodyPr/>
          <a:lstStyle/>
          <a:p>
            <a:endParaRPr lang="en-US"/>
          </a:p>
        </p:txBody>
      </p:sp>
      <p:sp>
        <p:nvSpPr>
          <p:cNvPr id="71" name="Text 69"/>
          <p:cNvSpPr/>
          <p:nvPr/>
        </p:nvSpPr>
        <p:spPr>
          <a:xfrm>
            <a:off x="7936992" y="1554480"/>
            <a:ext cx="731520" cy="1188720"/>
          </a:xfrm>
          <a:prstGeom prst="rect">
            <a:avLst/>
          </a:prstGeom>
          <a:noFill/>
        </p:spPr>
        <p:txBody>
          <a:bodyPr wrap="square" lIns="0" tIns="0" rIns="0" bIns="0" rtlCol="0" anchor="ctr"/>
          <a:lstStyle/>
          <a:p>
            <a:pPr marL="0" indent="0" algn="ctr">
              <a:buNone/>
            </a:pPr>
            <a:r>
              <a:rPr lang="en-US" sz="800" b="1" dirty="0">
                <a:solidFill>
                  <a:srgbClr val="F59E0B"/>
                </a:solidFill>
              </a:rPr>
              <a:t>Repeated</a:t>
            </a:r>
            <a:endParaRPr lang="en-US" sz="800" dirty="0"/>
          </a:p>
          <a:p>
            <a:pPr marL="0" indent="0" algn="ctr">
              <a:buNone/>
            </a:pPr>
            <a:r>
              <a:rPr lang="en-US" sz="800" b="1" dirty="0">
                <a:solidFill>
                  <a:srgbClr val="F59E0B"/>
                </a:solidFill>
              </a:rPr>
              <a:t>ACT (hammer)</a:t>
            </a:r>
            <a:endParaRPr lang="en-US" sz="800" dirty="0"/>
          </a:p>
        </p:txBody>
      </p:sp>
      <p:sp>
        <p:nvSpPr>
          <p:cNvPr id="72" name="Shape 70"/>
          <p:cNvSpPr/>
          <p:nvPr/>
        </p:nvSpPr>
        <p:spPr>
          <a:xfrm>
            <a:off x="5760720" y="2944368"/>
            <a:ext cx="1097280" cy="310896"/>
          </a:xfrm>
          <a:prstGeom prst="ellipse">
            <a:avLst/>
          </a:prstGeom>
          <a:solidFill>
            <a:srgbClr val="EF4444"/>
          </a:solidFill>
          <a:ln w="12700">
            <a:solidFill>
              <a:srgbClr val="EF4444"/>
            </a:solidFill>
            <a:prstDash val="solid"/>
          </a:ln>
        </p:spPr>
        <p:txBody>
          <a:bodyPr/>
          <a:lstStyle/>
          <a:p>
            <a:endParaRPr lang="en-US"/>
          </a:p>
        </p:txBody>
      </p:sp>
      <p:sp>
        <p:nvSpPr>
          <p:cNvPr id="73" name="Text 71"/>
          <p:cNvSpPr/>
          <p:nvPr/>
        </p:nvSpPr>
        <p:spPr>
          <a:xfrm>
            <a:off x="5760720" y="2944368"/>
            <a:ext cx="1097280" cy="310896"/>
          </a:xfrm>
          <a:prstGeom prst="rect">
            <a:avLst/>
          </a:prstGeom>
          <a:noFill/>
        </p:spPr>
        <p:txBody>
          <a:bodyPr wrap="square" lIns="0" tIns="0" rIns="0" bIns="0" rtlCol="0" anchor="ctr"/>
          <a:lstStyle/>
          <a:p>
            <a:pPr marL="0" indent="0" algn="ctr">
              <a:buNone/>
            </a:pPr>
            <a:r>
              <a:rPr lang="en-US" sz="1000" b="1" dirty="0">
                <a:solidFill>
                  <a:srgbClr val="FFFFFF"/>
                </a:solidFill>
              </a:rPr>
              <a:t>BIT-FLIP!</a:t>
            </a:r>
            <a:endParaRPr lang="en-US" sz="1000" dirty="0"/>
          </a:p>
        </p:txBody>
      </p:sp>
      <p:sp>
        <p:nvSpPr>
          <p:cNvPr id="74" name="Shape 72"/>
          <p:cNvSpPr/>
          <p:nvPr/>
        </p:nvSpPr>
        <p:spPr>
          <a:xfrm>
            <a:off x="4846320" y="3401568"/>
            <a:ext cx="201168" cy="201168"/>
          </a:xfrm>
          <a:prstGeom prst="rect">
            <a:avLst/>
          </a:prstGeom>
          <a:solidFill>
            <a:srgbClr val="2563EB"/>
          </a:solidFill>
          <a:ln w="12700">
            <a:solidFill>
              <a:srgbClr val="2563EB"/>
            </a:solidFill>
            <a:prstDash val="solid"/>
          </a:ln>
        </p:spPr>
        <p:txBody>
          <a:bodyPr/>
          <a:lstStyle/>
          <a:p>
            <a:endParaRPr lang="en-US"/>
          </a:p>
        </p:txBody>
      </p:sp>
      <p:sp>
        <p:nvSpPr>
          <p:cNvPr id="75" name="Text 73"/>
          <p:cNvSpPr/>
          <p:nvPr/>
        </p:nvSpPr>
        <p:spPr>
          <a:xfrm>
            <a:off x="4846320" y="3401568"/>
            <a:ext cx="201168" cy="201168"/>
          </a:xfrm>
          <a:prstGeom prst="rect">
            <a:avLst/>
          </a:prstGeom>
          <a:noFill/>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6" name="Text 74"/>
          <p:cNvSpPr/>
          <p:nvPr/>
        </p:nvSpPr>
        <p:spPr>
          <a:xfrm>
            <a:off x="5102352" y="3383280"/>
            <a:ext cx="731520" cy="274320"/>
          </a:xfrm>
          <a:prstGeom prst="rect">
            <a:avLst/>
          </a:prstGeom>
          <a:noFill/>
        </p:spPr>
        <p:txBody>
          <a:bodyPr wrap="square" lIns="0" tIns="0" rIns="0" bIns="0" rtlCol="0" anchor="ctr"/>
          <a:lstStyle/>
          <a:p>
            <a:pPr marL="0" indent="0">
              <a:buNone/>
            </a:pPr>
            <a:r>
              <a:rPr lang="en-US" sz="1000" b="1" dirty="0">
                <a:solidFill>
                  <a:srgbClr val="3B82F6"/>
                </a:solidFill>
              </a:rPr>
              <a:t>Hammering:</a:t>
            </a:r>
            <a:endParaRPr lang="en-US" sz="1000" dirty="0"/>
          </a:p>
        </p:txBody>
      </p:sp>
      <p:sp>
        <p:nvSpPr>
          <p:cNvPr id="77" name="Text 75"/>
          <p:cNvSpPr/>
          <p:nvPr/>
        </p:nvSpPr>
        <p:spPr>
          <a:xfrm>
            <a:off x="5833872" y="3383280"/>
            <a:ext cx="2834640" cy="347472"/>
          </a:xfrm>
          <a:prstGeom prst="rect">
            <a:avLst/>
          </a:prstGeom>
          <a:noFill/>
        </p:spPr>
        <p:txBody>
          <a:bodyPr wrap="square" lIns="0" tIns="0" rIns="0" bIns="0" rtlCol="0" anchor="ctr"/>
          <a:lstStyle/>
          <a:p>
            <a:pPr marL="0" indent="0">
              <a:buNone/>
            </a:pPr>
            <a:r>
              <a:rPr lang="en-US" sz="1000" dirty="0">
                <a:solidFill>
                  <a:srgbClr val="E2E8F0"/>
                </a:solidFill>
              </a:rPr>
              <a:t>Aggressors X±1 are repeatedly activated (ACT→PRE cycles)</a:t>
            </a:r>
            <a:endParaRPr lang="en-US" sz="1000" dirty="0"/>
          </a:p>
        </p:txBody>
      </p:sp>
      <p:sp>
        <p:nvSpPr>
          <p:cNvPr id="78" name="Shape 76"/>
          <p:cNvSpPr/>
          <p:nvPr/>
        </p:nvSpPr>
        <p:spPr>
          <a:xfrm>
            <a:off x="4846320" y="3749040"/>
            <a:ext cx="201168" cy="201168"/>
          </a:xfrm>
          <a:prstGeom prst="rect">
            <a:avLst/>
          </a:prstGeom>
          <a:solidFill>
            <a:srgbClr val="2563EB"/>
          </a:solidFill>
          <a:ln w="12700">
            <a:solidFill>
              <a:srgbClr val="2563EB"/>
            </a:solidFill>
            <a:prstDash val="solid"/>
          </a:ln>
        </p:spPr>
        <p:txBody>
          <a:bodyPr/>
          <a:lstStyle/>
          <a:p>
            <a:endParaRPr lang="en-US"/>
          </a:p>
        </p:txBody>
      </p:sp>
      <p:sp>
        <p:nvSpPr>
          <p:cNvPr id="79" name="Text 77"/>
          <p:cNvSpPr/>
          <p:nvPr/>
        </p:nvSpPr>
        <p:spPr>
          <a:xfrm>
            <a:off x="4846320" y="3749040"/>
            <a:ext cx="201168" cy="201168"/>
          </a:xfrm>
          <a:prstGeom prst="rect">
            <a:avLst/>
          </a:prstGeom>
          <a:noFill/>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80" name="Text 78"/>
          <p:cNvSpPr/>
          <p:nvPr/>
        </p:nvSpPr>
        <p:spPr>
          <a:xfrm>
            <a:off x="5102352" y="3730752"/>
            <a:ext cx="731520" cy="274320"/>
          </a:xfrm>
          <a:prstGeom prst="rect">
            <a:avLst/>
          </a:prstGeom>
          <a:noFill/>
        </p:spPr>
        <p:txBody>
          <a:bodyPr wrap="square" lIns="0" tIns="0" rIns="0" bIns="0" rtlCol="0" anchor="ctr"/>
          <a:lstStyle/>
          <a:p>
            <a:pPr marL="0" indent="0">
              <a:buNone/>
            </a:pPr>
            <a:r>
              <a:rPr lang="en-US" sz="1000" b="1" dirty="0">
                <a:solidFill>
                  <a:srgbClr val="3B82F6"/>
                </a:solidFill>
              </a:rPr>
              <a:t>Disturbance:</a:t>
            </a:r>
            <a:endParaRPr lang="en-US" sz="1000" dirty="0"/>
          </a:p>
        </p:txBody>
      </p:sp>
      <p:sp>
        <p:nvSpPr>
          <p:cNvPr id="81" name="Text 79"/>
          <p:cNvSpPr/>
          <p:nvPr/>
        </p:nvSpPr>
        <p:spPr>
          <a:xfrm>
            <a:off x="5833872" y="3730752"/>
            <a:ext cx="2834640" cy="347472"/>
          </a:xfrm>
          <a:prstGeom prst="rect">
            <a:avLst/>
          </a:prstGeom>
          <a:noFill/>
        </p:spPr>
        <p:txBody>
          <a:bodyPr wrap="square" lIns="0" tIns="0" rIns="0" bIns="0" rtlCol="0" anchor="ctr"/>
          <a:lstStyle/>
          <a:p>
            <a:pPr marL="0" indent="0">
              <a:buNone/>
            </a:pPr>
            <a:r>
              <a:rPr lang="en-US" sz="1000" dirty="0">
                <a:solidFill>
                  <a:srgbClr val="E2E8F0"/>
                </a:solidFill>
              </a:rPr>
              <a:t>Charge leaks from victim row capacitors due to electromagnetic interference</a:t>
            </a:r>
            <a:endParaRPr lang="en-US" sz="1000" dirty="0"/>
          </a:p>
        </p:txBody>
      </p:sp>
      <p:sp>
        <p:nvSpPr>
          <p:cNvPr id="82" name="Shape 80"/>
          <p:cNvSpPr/>
          <p:nvPr/>
        </p:nvSpPr>
        <p:spPr>
          <a:xfrm>
            <a:off x="4846320" y="4096512"/>
            <a:ext cx="201168" cy="201168"/>
          </a:xfrm>
          <a:prstGeom prst="rect">
            <a:avLst/>
          </a:prstGeom>
          <a:solidFill>
            <a:srgbClr val="2563EB"/>
          </a:solidFill>
          <a:ln w="12700">
            <a:solidFill>
              <a:srgbClr val="2563EB"/>
            </a:solidFill>
            <a:prstDash val="solid"/>
          </a:ln>
        </p:spPr>
        <p:txBody>
          <a:bodyPr/>
          <a:lstStyle/>
          <a:p>
            <a:endParaRPr lang="en-US"/>
          </a:p>
        </p:txBody>
      </p:sp>
      <p:sp>
        <p:nvSpPr>
          <p:cNvPr id="83" name="Text 81"/>
          <p:cNvSpPr/>
          <p:nvPr/>
        </p:nvSpPr>
        <p:spPr>
          <a:xfrm>
            <a:off x="4846320" y="4096512"/>
            <a:ext cx="201168" cy="201168"/>
          </a:xfrm>
          <a:prstGeom prst="rect">
            <a:avLst/>
          </a:prstGeom>
          <a:noFill/>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84" name="Text 82"/>
          <p:cNvSpPr/>
          <p:nvPr/>
        </p:nvSpPr>
        <p:spPr>
          <a:xfrm>
            <a:off x="5102352" y="4078224"/>
            <a:ext cx="731520" cy="274320"/>
          </a:xfrm>
          <a:prstGeom prst="rect">
            <a:avLst/>
          </a:prstGeom>
          <a:noFill/>
        </p:spPr>
        <p:txBody>
          <a:bodyPr wrap="square" lIns="0" tIns="0" rIns="0" bIns="0" rtlCol="0" anchor="ctr"/>
          <a:lstStyle/>
          <a:p>
            <a:pPr marL="0" indent="0">
              <a:buNone/>
            </a:pPr>
            <a:r>
              <a:rPr lang="en-US" sz="1000" b="1" dirty="0">
                <a:solidFill>
                  <a:srgbClr val="3B82F6"/>
                </a:solidFill>
              </a:rPr>
              <a:t>Bit-flip:</a:t>
            </a:r>
            <a:endParaRPr lang="en-US" sz="1000" dirty="0"/>
          </a:p>
        </p:txBody>
      </p:sp>
      <p:sp>
        <p:nvSpPr>
          <p:cNvPr id="85" name="Text 83"/>
          <p:cNvSpPr/>
          <p:nvPr/>
        </p:nvSpPr>
        <p:spPr>
          <a:xfrm>
            <a:off x="5833872" y="4078224"/>
            <a:ext cx="2834640" cy="347472"/>
          </a:xfrm>
          <a:prstGeom prst="rect">
            <a:avLst/>
          </a:prstGeom>
          <a:noFill/>
        </p:spPr>
        <p:txBody>
          <a:bodyPr wrap="square" lIns="0" tIns="0" rIns="0" bIns="0" rtlCol="0" anchor="ctr"/>
          <a:lstStyle/>
          <a:p>
            <a:pPr marL="0" indent="0">
              <a:buNone/>
            </a:pPr>
            <a:r>
              <a:rPr lang="en-US" sz="1000" dirty="0">
                <a:solidFill>
                  <a:srgbClr val="E2E8F0"/>
                </a:solidFill>
              </a:rPr>
              <a:t>When charge drops below threshold, stored bit flips (0→1 or 1→0)</a:t>
            </a:r>
            <a:endParaRPr lang="en-US" sz="1000" dirty="0"/>
          </a:p>
        </p:txBody>
      </p:sp>
      <p:sp>
        <p:nvSpPr>
          <p:cNvPr id="86" name="Shape 84"/>
          <p:cNvSpPr/>
          <p:nvPr/>
        </p:nvSpPr>
        <p:spPr>
          <a:xfrm>
            <a:off x="4846320" y="4443984"/>
            <a:ext cx="201168" cy="201168"/>
          </a:xfrm>
          <a:prstGeom prst="rect">
            <a:avLst/>
          </a:prstGeom>
          <a:solidFill>
            <a:srgbClr val="2563EB"/>
          </a:solidFill>
          <a:ln w="12700">
            <a:solidFill>
              <a:srgbClr val="2563EB"/>
            </a:solidFill>
            <a:prstDash val="solid"/>
          </a:ln>
        </p:spPr>
        <p:txBody>
          <a:bodyPr/>
          <a:lstStyle/>
          <a:p>
            <a:endParaRPr lang="en-US"/>
          </a:p>
        </p:txBody>
      </p:sp>
      <p:sp>
        <p:nvSpPr>
          <p:cNvPr id="87" name="Text 85"/>
          <p:cNvSpPr/>
          <p:nvPr/>
        </p:nvSpPr>
        <p:spPr>
          <a:xfrm>
            <a:off x="4846320" y="4443984"/>
            <a:ext cx="201168" cy="201168"/>
          </a:xfrm>
          <a:prstGeom prst="rect">
            <a:avLst/>
          </a:prstGeom>
          <a:noFill/>
        </p:spPr>
        <p:txBody>
          <a:bodyPr wrap="square" lIns="0" tIns="0" rIns="0" bIns="0" rtlCol="0" anchor="ctr"/>
          <a:lstStyle/>
          <a:p>
            <a:pPr marL="0" indent="0" algn="ctr">
              <a:buNone/>
            </a:pPr>
            <a:r>
              <a:rPr lang="en-US" sz="900" b="1" dirty="0">
                <a:solidFill>
                  <a:srgbClr val="FFFFFF"/>
                </a:solidFill>
              </a:rPr>
              <a:t>4</a:t>
            </a:r>
            <a:endParaRPr lang="en-US" sz="900" dirty="0"/>
          </a:p>
        </p:txBody>
      </p:sp>
      <p:grpSp>
        <p:nvGrpSpPr>
          <p:cNvPr id="94" name="Group 93"/>
          <p:cNvGrpSpPr/>
          <p:nvPr/>
        </p:nvGrpSpPr>
        <p:grpSpPr>
          <a:xfrm>
            <a:off x="658368" y="1380744"/>
            <a:ext cx="1645920" cy="1371600"/>
            <a:chOff x="502920" y="1325880"/>
            <a:chExt cx="1645920" cy="1371600"/>
          </a:xfrm>
        </p:grpSpPr>
        <p:sp>
          <p:nvSpPr>
            <p:cNvPr id="8" name="Shape 6"/>
            <p:cNvSpPr/>
            <p:nvPr/>
          </p:nvSpPr>
          <p:spPr>
            <a:xfrm>
              <a:off x="502920" y="1325880"/>
              <a:ext cx="1645920" cy="1371600"/>
            </a:xfrm>
            <a:prstGeom prst="rect">
              <a:avLst/>
            </a:prstGeom>
            <a:solidFill>
              <a:srgbClr val="0A1628"/>
            </a:solidFill>
            <a:ln w="12700">
              <a:solidFill>
                <a:srgbClr val="1E3A5F"/>
              </a:solidFill>
              <a:prstDash val="solid"/>
            </a:ln>
          </p:spPr>
          <p:txBody>
            <a:bodyPr/>
            <a:lstStyle/>
            <a:p>
              <a:endParaRPr lang="en-US"/>
            </a:p>
          </p:txBody>
        </p:sp>
        <p:sp>
          <p:nvSpPr>
            <p:cNvPr id="9" name="Text 7"/>
            <p:cNvSpPr/>
            <p:nvPr/>
          </p:nvSpPr>
          <p:spPr>
            <a:xfrm>
              <a:off x="502920" y="1371600"/>
              <a:ext cx="1645920" cy="228600"/>
            </a:xfrm>
            <a:prstGeom prst="rect">
              <a:avLst/>
            </a:prstGeom>
            <a:noFill/>
          </p:spPr>
          <p:txBody>
            <a:bodyPr wrap="square" lIns="0" tIns="0" rIns="0" bIns="0" rtlCol="0" anchor="ctr"/>
            <a:lstStyle/>
            <a:p>
              <a:pPr marL="0" indent="0" algn="ctr">
                <a:buNone/>
              </a:pPr>
              <a:r>
                <a:rPr lang="en-US" sz="900" dirty="0">
                  <a:solidFill>
                    <a:srgbClr val="94A3B8"/>
                  </a:solidFill>
                </a:rPr>
                <a:t>Bank 0</a:t>
              </a:r>
              <a:endParaRPr lang="en-US" sz="900" dirty="0"/>
            </a:p>
          </p:txBody>
        </p:sp>
        <p:sp>
          <p:nvSpPr>
            <p:cNvPr id="10" name="Shape 8"/>
            <p:cNvSpPr/>
            <p:nvPr/>
          </p:nvSpPr>
          <p:spPr>
            <a:xfrm>
              <a:off x="612648" y="1645920"/>
              <a:ext cx="1426464" cy="128016"/>
            </a:xfrm>
            <a:prstGeom prst="rect">
              <a:avLst/>
            </a:prstGeom>
            <a:solidFill>
              <a:srgbClr val="0F2040"/>
            </a:solidFill>
            <a:ln w="12700">
              <a:solidFill>
                <a:srgbClr val="1E3A5F"/>
              </a:solidFill>
              <a:prstDash val="solid"/>
            </a:ln>
          </p:spPr>
          <p:txBody>
            <a:bodyPr/>
            <a:lstStyle/>
            <a:p>
              <a:endParaRPr lang="en-US"/>
            </a:p>
          </p:txBody>
        </p:sp>
        <p:sp>
          <p:nvSpPr>
            <p:cNvPr id="12" name="Shape 10"/>
            <p:cNvSpPr/>
            <p:nvPr/>
          </p:nvSpPr>
          <p:spPr>
            <a:xfrm>
              <a:off x="612648" y="1828800"/>
              <a:ext cx="1426464" cy="128016"/>
            </a:xfrm>
            <a:prstGeom prst="rect">
              <a:avLst/>
            </a:prstGeom>
            <a:solidFill>
              <a:srgbClr val="0F2040"/>
            </a:solidFill>
            <a:ln w="12700">
              <a:solidFill>
                <a:srgbClr val="F59E0B"/>
              </a:solidFill>
              <a:prstDash val="solid"/>
            </a:ln>
          </p:spPr>
          <p:txBody>
            <a:bodyPr/>
            <a:lstStyle/>
            <a:p>
              <a:endParaRPr lang="en-US"/>
            </a:p>
          </p:txBody>
        </p:sp>
        <p:sp>
          <p:nvSpPr>
            <p:cNvPr id="14" name="Shape 12"/>
            <p:cNvSpPr/>
            <p:nvPr/>
          </p:nvSpPr>
          <p:spPr>
            <a:xfrm>
              <a:off x="612648" y="2011680"/>
              <a:ext cx="1426464" cy="128016"/>
            </a:xfrm>
            <a:prstGeom prst="rect">
              <a:avLst/>
            </a:prstGeom>
            <a:solidFill>
              <a:srgbClr val="200808"/>
            </a:solidFill>
            <a:ln w="19050">
              <a:solidFill>
                <a:srgbClr val="EF4444"/>
              </a:solidFill>
              <a:prstDash val="solid"/>
            </a:ln>
          </p:spPr>
          <p:txBody>
            <a:bodyPr/>
            <a:lstStyle/>
            <a:p>
              <a:endParaRPr lang="en-US"/>
            </a:p>
          </p:txBody>
        </p:sp>
        <p:sp>
          <p:nvSpPr>
            <p:cNvPr id="16" name="Shape 14"/>
            <p:cNvSpPr/>
            <p:nvPr/>
          </p:nvSpPr>
          <p:spPr>
            <a:xfrm>
              <a:off x="612648" y="2194560"/>
              <a:ext cx="1426464" cy="128016"/>
            </a:xfrm>
            <a:prstGeom prst="rect">
              <a:avLst/>
            </a:prstGeom>
            <a:solidFill>
              <a:srgbClr val="0F2040"/>
            </a:solidFill>
            <a:ln w="12700">
              <a:solidFill>
                <a:srgbClr val="F59E0B"/>
              </a:solidFill>
              <a:prstDash val="solid"/>
            </a:ln>
          </p:spPr>
          <p:txBody>
            <a:bodyPr/>
            <a:lstStyle/>
            <a:p>
              <a:endParaRPr lang="en-US"/>
            </a:p>
          </p:txBody>
        </p:sp>
        <p:sp>
          <p:nvSpPr>
            <p:cNvPr id="18" name="Shape 16"/>
            <p:cNvSpPr/>
            <p:nvPr/>
          </p:nvSpPr>
          <p:spPr>
            <a:xfrm>
              <a:off x="612648" y="2377440"/>
              <a:ext cx="1426464" cy="128016"/>
            </a:xfrm>
            <a:prstGeom prst="rect">
              <a:avLst/>
            </a:prstGeom>
            <a:solidFill>
              <a:srgbClr val="0F2040"/>
            </a:solidFill>
            <a:ln w="12700">
              <a:solidFill>
                <a:srgbClr val="1E3A5F"/>
              </a:solidFill>
              <a:prstDash val="solid"/>
            </a:ln>
          </p:spPr>
          <p:txBody>
            <a:bodyPr/>
            <a:lstStyle/>
            <a:p>
              <a:endParaRPr lang="en-US"/>
            </a:p>
          </p:txBody>
        </p:sp>
      </p:grpSp>
      <p:sp>
        <p:nvSpPr>
          <p:cNvPr id="88" name="Text 86"/>
          <p:cNvSpPr/>
          <p:nvPr/>
        </p:nvSpPr>
        <p:spPr>
          <a:xfrm>
            <a:off x="5102352" y="4425696"/>
            <a:ext cx="731520" cy="274320"/>
          </a:xfrm>
          <a:prstGeom prst="rect">
            <a:avLst/>
          </a:prstGeom>
          <a:noFill/>
        </p:spPr>
        <p:txBody>
          <a:bodyPr wrap="square" lIns="0" tIns="0" rIns="0" bIns="0" rtlCol="0" anchor="ctr"/>
          <a:lstStyle/>
          <a:p>
            <a:pPr marL="0" indent="0">
              <a:buNone/>
            </a:pPr>
            <a:r>
              <a:rPr lang="en-US" sz="1000" b="1" dirty="0">
                <a:solidFill>
                  <a:srgbClr val="3B82F6"/>
                </a:solidFill>
              </a:rPr>
              <a:t>Precision:</a:t>
            </a:r>
            <a:endParaRPr lang="en-US" sz="1000" dirty="0"/>
          </a:p>
        </p:txBody>
      </p:sp>
      <p:sp>
        <p:nvSpPr>
          <p:cNvPr id="89" name="Text 87"/>
          <p:cNvSpPr/>
          <p:nvPr/>
        </p:nvSpPr>
        <p:spPr>
          <a:xfrm>
            <a:off x="5833872" y="4425696"/>
            <a:ext cx="2834640" cy="347472"/>
          </a:xfrm>
          <a:prstGeom prst="rect">
            <a:avLst/>
          </a:prstGeom>
          <a:noFill/>
        </p:spPr>
        <p:txBody>
          <a:bodyPr wrap="square" lIns="0" tIns="0" rIns="0" bIns="0" rtlCol="0" anchor="ctr"/>
          <a:lstStyle/>
          <a:p>
            <a:pPr marL="0" indent="0">
              <a:buNone/>
            </a:pPr>
            <a:r>
              <a:rPr lang="en-US" sz="1000" dirty="0">
                <a:solidFill>
                  <a:srgbClr val="E2E8F0"/>
                </a:solidFill>
              </a:rPr>
              <a:t>Multi-bit-flip techniques enable deterministic targeting of specific bits</a:t>
            </a:r>
            <a:endParaRPr lang="en-US" sz="1000" dirty="0"/>
          </a:p>
        </p:txBody>
      </p:sp>
      <p:grpSp>
        <p:nvGrpSpPr>
          <p:cNvPr id="95" name="Group 94"/>
          <p:cNvGrpSpPr/>
          <p:nvPr/>
        </p:nvGrpSpPr>
        <p:grpSpPr>
          <a:xfrm>
            <a:off x="749808" y="1700917"/>
            <a:ext cx="1408176" cy="841248"/>
            <a:chOff x="621792" y="1655064"/>
            <a:chExt cx="1408176" cy="841248"/>
          </a:xfrm>
        </p:grpSpPr>
        <p:sp>
          <p:nvSpPr>
            <p:cNvPr id="11" name="Text 9"/>
            <p:cNvSpPr/>
            <p:nvPr/>
          </p:nvSpPr>
          <p:spPr>
            <a:xfrm>
              <a:off x="621792" y="1655064"/>
              <a:ext cx="1408176" cy="109728"/>
            </a:xfrm>
            <a:prstGeom prst="rect">
              <a:avLst/>
            </a:prstGeom>
            <a:noFill/>
          </p:spPr>
          <p:txBody>
            <a:bodyPr wrap="square" lIns="0" tIns="0" rIns="0" bIns="0" rtlCol="0" anchor="ctr"/>
            <a:lstStyle/>
            <a:p>
              <a:pPr marL="0" indent="0" algn="ctr">
                <a:buNone/>
              </a:pPr>
              <a:r>
                <a:rPr lang="en-US" sz="1100" dirty="0">
                  <a:solidFill>
                    <a:schemeClr val="bg1"/>
                  </a:solidFill>
                </a:rPr>
                <a:t>Row</a:t>
              </a:r>
            </a:p>
          </p:txBody>
        </p:sp>
        <p:sp>
          <p:nvSpPr>
            <p:cNvPr id="13" name="Text 11"/>
            <p:cNvSpPr/>
            <p:nvPr/>
          </p:nvSpPr>
          <p:spPr>
            <a:xfrm>
              <a:off x="621792" y="1837944"/>
              <a:ext cx="1408176" cy="109728"/>
            </a:xfrm>
            <a:prstGeom prst="rect">
              <a:avLst/>
            </a:prstGeom>
            <a:noFill/>
          </p:spPr>
          <p:txBody>
            <a:bodyPr wrap="square" lIns="0" tIns="0" rIns="0" bIns="0" rtlCol="0" anchor="ctr"/>
            <a:lstStyle/>
            <a:p>
              <a:pPr marL="0" indent="0" algn="ctr">
                <a:buNone/>
              </a:pPr>
              <a:r>
                <a:rPr lang="en-US" sz="1100" dirty="0">
                  <a:solidFill>
                    <a:srgbClr val="F59E0B"/>
                  </a:solidFill>
                </a:rPr>
                <a:t>Aggressor</a:t>
              </a:r>
              <a:endParaRPr lang="en-US" sz="1100" dirty="0"/>
            </a:p>
          </p:txBody>
        </p:sp>
        <p:sp>
          <p:nvSpPr>
            <p:cNvPr id="15" name="Text 13"/>
            <p:cNvSpPr/>
            <p:nvPr/>
          </p:nvSpPr>
          <p:spPr>
            <a:xfrm>
              <a:off x="621792" y="2020824"/>
              <a:ext cx="1408176" cy="109728"/>
            </a:xfrm>
            <a:prstGeom prst="rect">
              <a:avLst/>
            </a:prstGeom>
            <a:noFill/>
          </p:spPr>
          <p:txBody>
            <a:bodyPr wrap="square" lIns="0" tIns="0" rIns="0" bIns="0" rtlCol="0" anchor="ctr"/>
            <a:lstStyle/>
            <a:p>
              <a:pPr marL="0" indent="0" algn="ctr">
                <a:buNone/>
              </a:pPr>
              <a:r>
                <a:rPr lang="en-US" sz="1100" dirty="0">
                  <a:solidFill>
                    <a:srgbClr val="EF4444"/>
                  </a:solidFill>
                </a:rPr>
                <a:t>VICTIM</a:t>
              </a:r>
              <a:endParaRPr lang="en-US" sz="1100" dirty="0"/>
            </a:p>
          </p:txBody>
        </p:sp>
        <p:sp>
          <p:nvSpPr>
            <p:cNvPr id="17" name="Text 15"/>
            <p:cNvSpPr/>
            <p:nvPr/>
          </p:nvSpPr>
          <p:spPr>
            <a:xfrm>
              <a:off x="621792" y="2203704"/>
              <a:ext cx="1408176" cy="109728"/>
            </a:xfrm>
            <a:prstGeom prst="rect">
              <a:avLst/>
            </a:prstGeom>
            <a:noFill/>
          </p:spPr>
          <p:txBody>
            <a:bodyPr wrap="square" lIns="0" tIns="0" rIns="0" bIns="0" rtlCol="0" anchor="ctr"/>
            <a:lstStyle/>
            <a:p>
              <a:pPr marL="0" indent="0" algn="ctr">
                <a:buNone/>
              </a:pPr>
              <a:r>
                <a:rPr lang="en-US" sz="1100" dirty="0">
                  <a:solidFill>
                    <a:srgbClr val="F59E0B"/>
                  </a:solidFill>
                </a:rPr>
                <a:t>Aggressor</a:t>
              </a:r>
              <a:endParaRPr lang="en-US" sz="1100" dirty="0"/>
            </a:p>
          </p:txBody>
        </p:sp>
        <p:sp>
          <p:nvSpPr>
            <p:cNvPr id="19" name="Text 17"/>
            <p:cNvSpPr/>
            <p:nvPr/>
          </p:nvSpPr>
          <p:spPr>
            <a:xfrm>
              <a:off x="621792" y="2386584"/>
              <a:ext cx="1408176" cy="109728"/>
            </a:xfrm>
            <a:prstGeom prst="rect">
              <a:avLst/>
            </a:prstGeom>
            <a:noFill/>
          </p:spPr>
          <p:txBody>
            <a:bodyPr wrap="square" lIns="0" tIns="0" rIns="0" bIns="0" rtlCol="0" anchor="ctr"/>
            <a:lstStyle/>
            <a:p>
              <a:pPr marL="0" indent="0" algn="ctr">
                <a:buNone/>
              </a:pPr>
              <a:r>
                <a:rPr lang="en-US" sz="1100" dirty="0">
                  <a:solidFill>
                    <a:schemeClr val="bg1"/>
                  </a:solidFill>
                </a:rPr>
                <a:t>Row</a:t>
              </a:r>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37159"/>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a:t>
            </a:r>
            <a:endParaRPr lang="en-US" sz="900" dirty="0"/>
          </a:p>
        </p:txBody>
      </p:sp>
      <p:sp>
        <p:nvSpPr>
          <p:cNvPr id="5" name="Text 3"/>
          <p:cNvSpPr/>
          <p:nvPr/>
        </p:nvSpPr>
        <p:spPr>
          <a:xfrm>
            <a:off x="731520" y="254573"/>
            <a:ext cx="8046720" cy="402336"/>
          </a:xfrm>
          <a:prstGeom prst="rect">
            <a:avLst/>
          </a:prstGeom>
          <a:noFill/>
        </p:spPr>
        <p:txBody>
          <a:bodyPr wrap="square" rtlCol="0" anchor="ctr"/>
          <a:lstStyle/>
          <a:p>
            <a:pPr marL="0" indent="0">
              <a:buNone/>
            </a:pPr>
            <a:r>
              <a:rPr lang="en-US" sz="2600" b="1" dirty="0">
                <a:solidFill>
                  <a:srgbClr val="FFFFFF"/>
                </a:solidFill>
              </a:rPr>
              <a:t>Threat Model, Attack Framework &amp; System Overview</a:t>
            </a:r>
            <a:endParaRPr lang="en-US" sz="2600" dirty="0"/>
          </a:p>
        </p:txBody>
      </p:sp>
      <p:sp>
        <p:nvSpPr>
          <p:cNvPr id="6" name="Shape 4"/>
          <p:cNvSpPr/>
          <p:nvPr/>
        </p:nvSpPr>
        <p:spPr>
          <a:xfrm>
            <a:off x="365760" y="1005840"/>
            <a:ext cx="1463040" cy="914400"/>
          </a:xfrm>
          <a:prstGeom prst="rect">
            <a:avLst/>
          </a:prstGeom>
          <a:solidFill>
            <a:srgbClr val="1A2A45"/>
          </a:solidFill>
          <a:ln w="1905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365760" y="1143000"/>
            <a:ext cx="1463040" cy="274320"/>
          </a:xfrm>
          <a:prstGeom prst="rect">
            <a:avLst/>
          </a:prstGeom>
          <a:noFill/>
        </p:spPr>
        <p:txBody>
          <a:bodyPr wrap="square" lIns="0" tIns="0" rIns="0" bIns="0" rtlCol="0" anchor="ctr"/>
          <a:lstStyle/>
          <a:p>
            <a:pPr marL="0" indent="0" algn="ctr">
              <a:buNone/>
            </a:pPr>
            <a:r>
              <a:rPr lang="en-US" sz="1400" b="1" dirty="0">
                <a:solidFill>
                  <a:srgbClr val="3B82F6"/>
                </a:solidFill>
              </a:rPr>
              <a:t>CPU</a:t>
            </a:r>
            <a:endParaRPr lang="en-US" sz="1400" dirty="0"/>
          </a:p>
        </p:txBody>
      </p:sp>
      <p:sp>
        <p:nvSpPr>
          <p:cNvPr id="8" name="Text 6"/>
          <p:cNvSpPr/>
          <p:nvPr/>
        </p:nvSpPr>
        <p:spPr>
          <a:xfrm>
            <a:off x="365760" y="1417320"/>
            <a:ext cx="1463040" cy="365760"/>
          </a:xfrm>
          <a:prstGeom prst="rect">
            <a:avLst/>
          </a:prstGeom>
          <a:noFill/>
        </p:spPr>
        <p:txBody>
          <a:bodyPr wrap="square" lIns="0" tIns="0" rIns="0" bIns="0" rtlCol="0" anchor="ctr"/>
          <a:lstStyle/>
          <a:p>
            <a:pPr marL="0" indent="0" algn="ctr">
              <a:buNone/>
            </a:pPr>
            <a:r>
              <a:rPr lang="en-US" sz="1200" dirty="0">
                <a:solidFill>
                  <a:srgbClr val="94A3B8"/>
                </a:solidFill>
              </a:rPr>
              <a:t>User App</a:t>
            </a:r>
            <a:endParaRPr lang="en-US" sz="1200" dirty="0"/>
          </a:p>
          <a:p>
            <a:pPr marL="0" indent="0" algn="ctr">
              <a:buNone/>
            </a:pPr>
            <a:r>
              <a:rPr lang="en-US" sz="1200" dirty="0">
                <a:solidFill>
                  <a:srgbClr val="94A3B8"/>
                </a:solidFill>
              </a:rPr>
              <a:t>(Attacker)</a:t>
            </a:r>
            <a:endParaRPr lang="en-US" sz="1200" dirty="0"/>
          </a:p>
        </p:txBody>
      </p:sp>
      <p:sp>
        <p:nvSpPr>
          <p:cNvPr id="9" name="Shape 7"/>
          <p:cNvSpPr/>
          <p:nvPr/>
        </p:nvSpPr>
        <p:spPr>
          <a:xfrm>
            <a:off x="1828800" y="1463040"/>
            <a:ext cx="457200" cy="0"/>
          </a:xfrm>
          <a:prstGeom prst="line">
            <a:avLst/>
          </a:prstGeom>
          <a:noFill/>
          <a:ln w="19050">
            <a:solidFill>
              <a:srgbClr val="94A3B8"/>
            </a:solidFill>
            <a:prstDash val="solid"/>
          </a:ln>
        </p:spPr>
        <p:txBody>
          <a:bodyPr/>
          <a:lstStyle/>
          <a:p>
            <a:endParaRPr lang="en-US"/>
          </a:p>
        </p:txBody>
      </p:sp>
      <p:sp>
        <p:nvSpPr>
          <p:cNvPr id="10" name="Text 8"/>
          <p:cNvSpPr/>
          <p:nvPr/>
        </p:nvSpPr>
        <p:spPr>
          <a:xfrm>
            <a:off x="1847088" y="1216153"/>
            <a:ext cx="457200" cy="256032"/>
          </a:xfrm>
          <a:prstGeom prst="rect">
            <a:avLst/>
          </a:prstGeom>
          <a:noFill/>
        </p:spPr>
        <p:txBody>
          <a:bodyPr wrap="square" lIns="0" tIns="0" rIns="0" bIns="0" rtlCol="0" anchor="ctr"/>
          <a:lstStyle/>
          <a:p>
            <a:pPr marL="0" indent="0" algn="ctr">
              <a:buNone/>
            </a:pPr>
            <a:r>
              <a:rPr lang="en-US" sz="750" dirty="0">
                <a:solidFill>
                  <a:srgbClr val="94A3B8"/>
                </a:solidFill>
              </a:rPr>
              <a:t>mem</a:t>
            </a:r>
            <a:endParaRPr lang="en-US" sz="750" dirty="0"/>
          </a:p>
          <a:p>
            <a:pPr marL="0" indent="0" algn="ctr">
              <a:buNone/>
            </a:pPr>
            <a:r>
              <a:rPr lang="en-US" sz="750" dirty="0">
                <a:solidFill>
                  <a:srgbClr val="94A3B8"/>
                </a:solidFill>
              </a:rPr>
              <a:t>access</a:t>
            </a:r>
            <a:endParaRPr lang="en-US" sz="750" dirty="0"/>
          </a:p>
        </p:txBody>
      </p:sp>
      <p:sp>
        <p:nvSpPr>
          <p:cNvPr id="11" name="Shape 9"/>
          <p:cNvSpPr/>
          <p:nvPr/>
        </p:nvSpPr>
        <p:spPr>
          <a:xfrm>
            <a:off x="2286000" y="1005840"/>
            <a:ext cx="1645920" cy="914400"/>
          </a:xfrm>
          <a:prstGeom prst="rect">
            <a:avLst/>
          </a:prstGeom>
          <a:solidFill>
            <a:srgbClr val="1A2A4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12" name="Text 10"/>
          <p:cNvSpPr/>
          <p:nvPr/>
        </p:nvSpPr>
        <p:spPr>
          <a:xfrm>
            <a:off x="2285999" y="1097280"/>
            <a:ext cx="1645919" cy="365760"/>
          </a:xfrm>
          <a:prstGeom prst="rect">
            <a:avLst/>
          </a:prstGeom>
          <a:noFill/>
        </p:spPr>
        <p:txBody>
          <a:bodyPr wrap="square" lIns="0" tIns="0" rIns="0" bIns="0" rtlCol="0" anchor="ctr"/>
          <a:lstStyle/>
          <a:p>
            <a:pPr marL="0" indent="0" algn="ctr">
              <a:buNone/>
            </a:pPr>
            <a:r>
              <a:rPr lang="en-US" sz="1400" b="1" dirty="0">
                <a:solidFill>
                  <a:srgbClr val="06B6D4"/>
                </a:solidFill>
              </a:rPr>
              <a:t>OS / Page</a:t>
            </a:r>
            <a:r>
              <a:rPr lang="en-US" sz="1400" dirty="0"/>
              <a:t> </a:t>
            </a:r>
            <a:r>
              <a:rPr lang="en-US" sz="1400" b="1" dirty="0">
                <a:solidFill>
                  <a:srgbClr val="06B6D4"/>
                </a:solidFill>
              </a:rPr>
              <a:t>Table</a:t>
            </a:r>
            <a:endParaRPr lang="en-US" sz="1400" dirty="0"/>
          </a:p>
        </p:txBody>
      </p:sp>
      <p:sp>
        <p:nvSpPr>
          <p:cNvPr id="13" name="Text 11"/>
          <p:cNvSpPr/>
          <p:nvPr/>
        </p:nvSpPr>
        <p:spPr>
          <a:xfrm>
            <a:off x="2286000" y="1463040"/>
            <a:ext cx="1645920" cy="347472"/>
          </a:xfrm>
          <a:prstGeom prst="rect">
            <a:avLst/>
          </a:prstGeom>
          <a:noFill/>
        </p:spPr>
        <p:txBody>
          <a:bodyPr wrap="square" lIns="0" tIns="0" rIns="0" bIns="0" rtlCol="0" anchor="ctr"/>
          <a:lstStyle/>
          <a:p>
            <a:pPr marL="0" indent="0" algn="ctr">
              <a:buNone/>
            </a:pPr>
            <a:r>
              <a:rPr lang="en-US" sz="1200" dirty="0">
                <a:solidFill>
                  <a:srgbClr val="94A3B8"/>
                </a:solidFill>
              </a:rPr>
              <a:t>Virtual→Physical</a:t>
            </a:r>
            <a:endParaRPr lang="en-US" sz="1200" dirty="0"/>
          </a:p>
          <a:p>
            <a:pPr marL="0" indent="0" algn="ctr">
              <a:buNone/>
            </a:pPr>
            <a:r>
              <a:rPr lang="en-US" sz="1200" dirty="0">
                <a:solidFill>
                  <a:srgbClr val="94A3B8"/>
                </a:solidFill>
              </a:rPr>
              <a:t>Address Map</a:t>
            </a:r>
            <a:endParaRPr lang="en-US" sz="1200" dirty="0"/>
          </a:p>
        </p:txBody>
      </p:sp>
      <p:sp>
        <p:nvSpPr>
          <p:cNvPr id="14" name="Shape 12"/>
          <p:cNvSpPr/>
          <p:nvPr/>
        </p:nvSpPr>
        <p:spPr>
          <a:xfrm>
            <a:off x="3931920" y="1463040"/>
            <a:ext cx="457200" cy="0"/>
          </a:xfrm>
          <a:prstGeom prst="line">
            <a:avLst/>
          </a:prstGeom>
          <a:noFill/>
          <a:ln w="19050">
            <a:solidFill>
              <a:srgbClr val="94A3B8"/>
            </a:solidFill>
            <a:prstDash val="solid"/>
          </a:ln>
        </p:spPr>
        <p:txBody>
          <a:bodyPr/>
          <a:lstStyle/>
          <a:p>
            <a:endParaRPr lang="en-US"/>
          </a:p>
        </p:txBody>
      </p:sp>
      <p:sp>
        <p:nvSpPr>
          <p:cNvPr id="15" name="Shape 13"/>
          <p:cNvSpPr/>
          <p:nvPr/>
        </p:nvSpPr>
        <p:spPr>
          <a:xfrm>
            <a:off x="4389120" y="1005840"/>
            <a:ext cx="1828800" cy="914400"/>
          </a:xfrm>
          <a:prstGeom prst="rect">
            <a:avLst/>
          </a:prstGeom>
          <a:solidFill>
            <a:srgbClr val="1A2A4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16" name="Text 14"/>
          <p:cNvSpPr/>
          <p:nvPr/>
        </p:nvSpPr>
        <p:spPr>
          <a:xfrm>
            <a:off x="4389120" y="1097280"/>
            <a:ext cx="1828800" cy="274320"/>
          </a:xfrm>
          <a:prstGeom prst="rect">
            <a:avLst/>
          </a:prstGeom>
          <a:noFill/>
        </p:spPr>
        <p:txBody>
          <a:bodyPr wrap="square" lIns="0" tIns="0" rIns="0" bIns="0" rtlCol="0" anchor="ctr"/>
          <a:lstStyle/>
          <a:p>
            <a:pPr marL="0" indent="0" algn="ctr">
              <a:buNone/>
            </a:pPr>
            <a:r>
              <a:rPr lang="en-US" sz="1400" b="1" dirty="0">
                <a:solidFill>
                  <a:srgbClr val="F59E0B"/>
                </a:solidFill>
              </a:rPr>
              <a:t>DRAM</a:t>
            </a:r>
            <a:endParaRPr lang="en-US" sz="1400" dirty="0"/>
          </a:p>
        </p:txBody>
      </p:sp>
      <p:sp>
        <p:nvSpPr>
          <p:cNvPr id="17" name="Text 15"/>
          <p:cNvSpPr/>
          <p:nvPr/>
        </p:nvSpPr>
        <p:spPr>
          <a:xfrm>
            <a:off x="4389120" y="1371600"/>
            <a:ext cx="1828800" cy="411480"/>
          </a:xfrm>
          <a:prstGeom prst="rect">
            <a:avLst/>
          </a:prstGeom>
          <a:noFill/>
        </p:spPr>
        <p:txBody>
          <a:bodyPr wrap="square" lIns="0" tIns="0" rIns="0" bIns="0" rtlCol="0" anchor="ctr"/>
          <a:lstStyle/>
          <a:p>
            <a:pPr marL="0" indent="0" algn="ctr">
              <a:buNone/>
            </a:pPr>
            <a:r>
              <a:rPr lang="en-US" sz="1200" dirty="0">
                <a:solidFill>
                  <a:srgbClr val="94A3B8"/>
                </a:solidFill>
              </a:rPr>
              <a:t>DNN Weights</a:t>
            </a:r>
            <a:endParaRPr lang="en-US" sz="1200" dirty="0"/>
          </a:p>
          <a:p>
            <a:pPr marL="0" indent="0" algn="ctr">
              <a:buNone/>
            </a:pPr>
            <a:r>
              <a:rPr lang="en-US" sz="1200" dirty="0">
                <a:solidFill>
                  <a:srgbClr val="94A3B8"/>
                </a:solidFill>
              </a:rPr>
              <a:t>(W1, W2...WN)</a:t>
            </a:r>
            <a:endParaRPr lang="en-US" sz="1200" dirty="0"/>
          </a:p>
        </p:txBody>
      </p:sp>
      <p:sp>
        <p:nvSpPr>
          <p:cNvPr id="18" name="Shape 16"/>
          <p:cNvSpPr/>
          <p:nvPr/>
        </p:nvSpPr>
        <p:spPr>
          <a:xfrm>
            <a:off x="6217920" y="1463040"/>
            <a:ext cx="457200" cy="0"/>
          </a:xfrm>
          <a:prstGeom prst="line">
            <a:avLst/>
          </a:prstGeom>
          <a:noFill/>
          <a:ln w="19050">
            <a:solidFill>
              <a:srgbClr val="94A3B8"/>
            </a:solidFill>
            <a:prstDash val="solid"/>
          </a:ln>
        </p:spPr>
        <p:txBody>
          <a:bodyPr/>
          <a:lstStyle/>
          <a:p>
            <a:endParaRPr lang="en-US"/>
          </a:p>
        </p:txBody>
      </p:sp>
      <p:sp>
        <p:nvSpPr>
          <p:cNvPr id="19" name="Shape 17"/>
          <p:cNvSpPr/>
          <p:nvPr/>
        </p:nvSpPr>
        <p:spPr>
          <a:xfrm>
            <a:off x="6675120" y="1005840"/>
            <a:ext cx="2103120" cy="914400"/>
          </a:xfrm>
          <a:prstGeom prst="rect">
            <a:avLst/>
          </a:prstGeom>
          <a:solidFill>
            <a:srgbClr val="1A2A45"/>
          </a:solidFill>
          <a:ln w="19050">
            <a:solidFill>
              <a:srgbClr val="22C55E"/>
            </a:solidFill>
            <a:prstDash val="solid"/>
          </a:ln>
          <a:effectLst>
            <a:outerShdw blurRad="101600" dist="38100" dir="8100000" algn="bl" rotWithShape="0">
              <a:srgbClr val="000000">
                <a:alpha val="25000"/>
              </a:srgbClr>
            </a:outerShdw>
          </a:effectLst>
        </p:spPr>
        <p:txBody>
          <a:bodyPr/>
          <a:lstStyle/>
          <a:p>
            <a:endParaRPr lang="en-US" sz="1400"/>
          </a:p>
        </p:txBody>
      </p:sp>
      <p:sp>
        <p:nvSpPr>
          <p:cNvPr id="20" name="Text 18"/>
          <p:cNvSpPr/>
          <p:nvPr/>
        </p:nvSpPr>
        <p:spPr>
          <a:xfrm>
            <a:off x="6675120" y="1097280"/>
            <a:ext cx="2103120" cy="274320"/>
          </a:xfrm>
          <a:prstGeom prst="rect">
            <a:avLst/>
          </a:prstGeom>
          <a:noFill/>
        </p:spPr>
        <p:txBody>
          <a:bodyPr wrap="square" lIns="0" tIns="0" rIns="0" bIns="0" rtlCol="0" anchor="ctr"/>
          <a:lstStyle/>
          <a:p>
            <a:pPr marL="0" indent="0" algn="ctr">
              <a:buNone/>
            </a:pPr>
            <a:r>
              <a:rPr lang="en-US" sz="1300" b="1" dirty="0">
                <a:solidFill>
                  <a:srgbClr val="22C55E"/>
                </a:solidFill>
              </a:rPr>
              <a:t>DNN Model</a:t>
            </a:r>
            <a:endParaRPr lang="en-US" sz="1300" dirty="0"/>
          </a:p>
        </p:txBody>
      </p:sp>
      <p:sp>
        <p:nvSpPr>
          <p:cNvPr id="21" name="Text 19"/>
          <p:cNvSpPr/>
          <p:nvPr/>
        </p:nvSpPr>
        <p:spPr>
          <a:xfrm>
            <a:off x="6675120" y="1371600"/>
            <a:ext cx="2103120" cy="411480"/>
          </a:xfrm>
          <a:prstGeom prst="rect">
            <a:avLst/>
          </a:prstGeom>
          <a:noFill/>
        </p:spPr>
        <p:txBody>
          <a:bodyPr wrap="square" lIns="0" tIns="0" rIns="0" bIns="0" rtlCol="0" anchor="ctr"/>
          <a:lstStyle/>
          <a:p>
            <a:pPr marL="0" indent="0" algn="ctr">
              <a:buNone/>
            </a:pPr>
            <a:r>
              <a:rPr lang="en-US" sz="1200" dirty="0">
                <a:solidFill>
                  <a:srgbClr val="94A3B8"/>
                </a:solidFill>
              </a:rPr>
              <a:t>F(x; W)</a:t>
            </a:r>
            <a:endParaRPr lang="en-US" sz="1200" dirty="0"/>
          </a:p>
          <a:p>
            <a:pPr marL="0" indent="0" algn="ctr">
              <a:buNone/>
            </a:pPr>
            <a:r>
              <a:rPr lang="en-US" sz="1200" dirty="0">
                <a:solidFill>
                  <a:srgbClr val="94A3B8"/>
                </a:solidFill>
              </a:rPr>
              <a:t>Classifier</a:t>
            </a:r>
            <a:endParaRPr lang="en-US" sz="1200" dirty="0"/>
          </a:p>
        </p:txBody>
      </p:sp>
      <p:sp>
        <p:nvSpPr>
          <p:cNvPr id="24" name="Text 22"/>
          <p:cNvSpPr/>
          <p:nvPr/>
        </p:nvSpPr>
        <p:spPr>
          <a:xfrm>
            <a:off x="1490472" y="643524"/>
            <a:ext cx="5486400" cy="256032"/>
          </a:xfrm>
          <a:prstGeom prst="rect">
            <a:avLst/>
          </a:prstGeom>
          <a:noFill/>
        </p:spPr>
        <p:txBody>
          <a:bodyPr wrap="square" lIns="0" tIns="0" rIns="0" bIns="0" rtlCol="0" anchor="ctr"/>
          <a:lstStyle/>
          <a:p>
            <a:pPr marL="0" indent="0" algn="ctr">
              <a:buNone/>
            </a:pPr>
            <a:r>
              <a:rPr lang="en-US" sz="1000" b="1" dirty="0">
                <a:solidFill>
                  <a:srgbClr val="EF4444"/>
                </a:solidFill>
              </a:rPr>
              <a:t>RowHammer attack on Page Frame Number (PFN) → bit-flip redirects virtual-to-physical address mapping; target weight block W1 silently replaced by W2</a:t>
            </a:r>
            <a:endParaRPr lang="en-US" sz="1000" dirty="0"/>
          </a:p>
        </p:txBody>
      </p:sp>
      <p:sp>
        <p:nvSpPr>
          <p:cNvPr id="25" name="Shape 23"/>
          <p:cNvSpPr/>
          <p:nvPr/>
        </p:nvSpPr>
        <p:spPr>
          <a:xfrm>
            <a:off x="365760" y="2103120"/>
            <a:ext cx="4114800" cy="2651760"/>
          </a:xfrm>
          <a:prstGeom prst="rect">
            <a:avLst/>
          </a:prstGeom>
          <a:solidFill>
            <a:srgbClr val="162035"/>
          </a:solidFill>
          <a:ln w="1270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26" name="Text 24"/>
          <p:cNvSpPr/>
          <p:nvPr/>
        </p:nvSpPr>
        <p:spPr>
          <a:xfrm>
            <a:off x="457200" y="2167128"/>
            <a:ext cx="3931920" cy="274320"/>
          </a:xfrm>
          <a:prstGeom prst="rect">
            <a:avLst/>
          </a:prstGeom>
          <a:noFill/>
        </p:spPr>
        <p:txBody>
          <a:bodyPr wrap="square" lIns="0" tIns="0" rIns="0" bIns="0" rtlCol="0" anchor="ctr"/>
          <a:lstStyle/>
          <a:p>
            <a:pPr marL="0" indent="0">
              <a:buNone/>
            </a:pPr>
            <a:r>
              <a:rPr lang="en-US" sz="1300" b="1" dirty="0">
                <a:solidFill>
                  <a:srgbClr val="06B6D4"/>
                </a:solidFill>
              </a:rPr>
              <a:t>Page Table Bit-Flip Attack</a:t>
            </a:r>
            <a:endParaRPr lang="en-US" sz="1300" dirty="0"/>
          </a:p>
        </p:txBody>
      </p:sp>
      <p:sp>
        <p:nvSpPr>
          <p:cNvPr id="27" name="Shape 25"/>
          <p:cNvSpPr/>
          <p:nvPr/>
        </p:nvSpPr>
        <p:spPr>
          <a:xfrm>
            <a:off x="502920" y="2542032"/>
            <a:ext cx="1554480" cy="438912"/>
          </a:xfrm>
          <a:prstGeom prst="rect">
            <a:avLst/>
          </a:prstGeom>
          <a:solidFill>
            <a:srgbClr val="0F2040"/>
          </a:solidFill>
          <a:ln w="12700">
            <a:solidFill>
              <a:srgbClr val="F59E0B"/>
            </a:solidFill>
            <a:prstDash val="solid"/>
          </a:ln>
        </p:spPr>
        <p:txBody>
          <a:bodyPr/>
          <a:lstStyle/>
          <a:p>
            <a:endParaRPr lang="en-US"/>
          </a:p>
        </p:txBody>
      </p:sp>
      <p:sp>
        <p:nvSpPr>
          <p:cNvPr id="28" name="Text 26"/>
          <p:cNvSpPr/>
          <p:nvPr/>
        </p:nvSpPr>
        <p:spPr>
          <a:xfrm>
            <a:off x="521208" y="2633472"/>
            <a:ext cx="1517904" cy="256032"/>
          </a:xfrm>
          <a:prstGeom prst="rect">
            <a:avLst/>
          </a:prstGeom>
          <a:noFill/>
        </p:spPr>
        <p:txBody>
          <a:bodyPr wrap="square" lIns="0" tIns="0" rIns="0" bIns="0" rtlCol="0" anchor="ctr"/>
          <a:lstStyle/>
          <a:p>
            <a:pPr marL="0" indent="0" algn="ctr">
              <a:buNone/>
            </a:pPr>
            <a:r>
              <a:rPr lang="en-US" sz="950" dirty="0">
                <a:solidFill>
                  <a:srgbClr val="F59E0B"/>
                </a:solidFill>
              </a:rPr>
              <a:t>Virtual Addr A1</a:t>
            </a:r>
            <a:endParaRPr lang="en-US" sz="950" dirty="0"/>
          </a:p>
        </p:txBody>
      </p:sp>
      <p:sp>
        <p:nvSpPr>
          <p:cNvPr id="29" name="Shape 27"/>
          <p:cNvSpPr/>
          <p:nvPr/>
        </p:nvSpPr>
        <p:spPr>
          <a:xfrm>
            <a:off x="2057400" y="2761488"/>
            <a:ext cx="411480" cy="0"/>
          </a:xfrm>
          <a:prstGeom prst="line">
            <a:avLst/>
          </a:prstGeom>
          <a:noFill/>
          <a:ln w="19050">
            <a:solidFill>
              <a:srgbClr val="F59E0B"/>
            </a:solidFill>
            <a:prstDash val="solid"/>
          </a:ln>
        </p:spPr>
        <p:txBody>
          <a:bodyPr/>
          <a:lstStyle/>
          <a:p>
            <a:endParaRPr lang="en-US"/>
          </a:p>
        </p:txBody>
      </p:sp>
      <p:sp>
        <p:nvSpPr>
          <p:cNvPr id="30" name="Shape 28"/>
          <p:cNvSpPr/>
          <p:nvPr/>
        </p:nvSpPr>
        <p:spPr>
          <a:xfrm>
            <a:off x="2468880" y="2542032"/>
            <a:ext cx="1828800" cy="438912"/>
          </a:xfrm>
          <a:prstGeom prst="rect">
            <a:avLst/>
          </a:prstGeom>
          <a:solidFill>
            <a:srgbClr val="0F2040"/>
          </a:solidFill>
          <a:ln w="12700">
            <a:solidFill>
              <a:srgbClr val="F59E0B"/>
            </a:solidFill>
            <a:prstDash val="solid"/>
          </a:ln>
        </p:spPr>
        <p:txBody>
          <a:bodyPr/>
          <a:lstStyle/>
          <a:p>
            <a:endParaRPr lang="en-US"/>
          </a:p>
        </p:txBody>
      </p:sp>
      <p:sp>
        <p:nvSpPr>
          <p:cNvPr id="31" name="Text 29"/>
          <p:cNvSpPr/>
          <p:nvPr/>
        </p:nvSpPr>
        <p:spPr>
          <a:xfrm>
            <a:off x="2487168" y="2615184"/>
            <a:ext cx="1792224" cy="292608"/>
          </a:xfrm>
          <a:prstGeom prst="rect">
            <a:avLst/>
          </a:prstGeom>
          <a:noFill/>
        </p:spPr>
        <p:txBody>
          <a:bodyPr wrap="square" lIns="0" tIns="0" rIns="0" bIns="0" rtlCol="0" anchor="ctr"/>
          <a:lstStyle/>
          <a:p>
            <a:pPr marL="0" indent="0">
              <a:buNone/>
            </a:pPr>
            <a:r>
              <a:rPr lang="en-US" sz="900" dirty="0">
                <a:solidFill>
                  <a:srgbClr val="F59E0B"/>
                </a:solidFill>
              </a:rPr>
              <a:t>PFN → Row W1 (Target)</a:t>
            </a:r>
            <a:endParaRPr lang="en-US" sz="900" dirty="0"/>
          </a:p>
        </p:txBody>
      </p:sp>
      <p:sp>
        <p:nvSpPr>
          <p:cNvPr id="32" name="Shape 30"/>
          <p:cNvSpPr/>
          <p:nvPr/>
        </p:nvSpPr>
        <p:spPr>
          <a:xfrm>
            <a:off x="3017520" y="2980944"/>
            <a:ext cx="0" cy="164592"/>
          </a:xfrm>
          <a:prstGeom prst="line">
            <a:avLst/>
          </a:prstGeom>
          <a:noFill/>
          <a:ln w="19050">
            <a:solidFill>
              <a:srgbClr val="EF4444"/>
            </a:solidFill>
            <a:prstDash val="solid"/>
          </a:ln>
        </p:spPr>
        <p:txBody>
          <a:bodyPr/>
          <a:lstStyle/>
          <a:p>
            <a:endParaRPr lang="en-US"/>
          </a:p>
        </p:txBody>
      </p:sp>
      <p:sp>
        <p:nvSpPr>
          <p:cNvPr id="33" name="Text 31"/>
          <p:cNvSpPr/>
          <p:nvPr/>
        </p:nvSpPr>
        <p:spPr>
          <a:xfrm>
            <a:off x="502920" y="3136392"/>
            <a:ext cx="3840480" cy="256032"/>
          </a:xfrm>
          <a:prstGeom prst="rect">
            <a:avLst/>
          </a:prstGeom>
          <a:noFill/>
        </p:spPr>
        <p:txBody>
          <a:bodyPr wrap="square" lIns="0" tIns="0" rIns="0" bIns="0" rtlCol="0" anchor="ctr"/>
          <a:lstStyle/>
          <a:p>
            <a:pPr marL="0" indent="0">
              <a:buNone/>
            </a:pPr>
            <a:r>
              <a:rPr lang="en-US" sz="1000" b="1" i="1" dirty="0">
                <a:solidFill>
                  <a:srgbClr val="EF4444"/>
                </a:solidFill>
              </a:rPr>
              <a:t>bit-flip here → A1 now points to W2!</a:t>
            </a:r>
            <a:endParaRPr lang="en-US" sz="1000" dirty="0"/>
          </a:p>
        </p:txBody>
      </p:sp>
      <p:sp>
        <p:nvSpPr>
          <p:cNvPr id="34" name="Shape 32"/>
          <p:cNvSpPr/>
          <p:nvPr/>
        </p:nvSpPr>
        <p:spPr>
          <a:xfrm>
            <a:off x="502920" y="3136392"/>
            <a:ext cx="1554480" cy="438912"/>
          </a:xfrm>
          <a:prstGeom prst="rect">
            <a:avLst/>
          </a:prstGeom>
          <a:solidFill>
            <a:srgbClr val="0F2040"/>
          </a:solidFill>
          <a:ln w="12700">
            <a:solidFill>
              <a:srgbClr val="22C55E"/>
            </a:solidFill>
            <a:prstDash val="solid"/>
          </a:ln>
        </p:spPr>
        <p:txBody>
          <a:bodyPr/>
          <a:lstStyle/>
          <a:p>
            <a:endParaRPr lang="en-US"/>
          </a:p>
        </p:txBody>
      </p:sp>
      <p:sp>
        <p:nvSpPr>
          <p:cNvPr id="35" name="Text 33"/>
          <p:cNvSpPr/>
          <p:nvPr/>
        </p:nvSpPr>
        <p:spPr>
          <a:xfrm>
            <a:off x="521208" y="3227832"/>
            <a:ext cx="1517904" cy="256032"/>
          </a:xfrm>
          <a:prstGeom prst="rect">
            <a:avLst/>
          </a:prstGeom>
          <a:noFill/>
        </p:spPr>
        <p:txBody>
          <a:bodyPr wrap="square" lIns="0" tIns="0" rIns="0" bIns="0" rtlCol="0" anchor="ctr"/>
          <a:lstStyle/>
          <a:p>
            <a:pPr marL="0" indent="0" algn="ctr">
              <a:buNone/>
            </a:pPr>
            <a:r>
              <a:rPr lang="en-US" sz="950" dirty="0">
                <a:solidFill>
                  <a:srgbClr val="22C55E"/>
                </a:solidFill>
              </a:rPr>
              <a:t>Virtual Addr A2</a:t>
            </a:r>
            <a:endParaRPr lang="en-US" sz="950" dirty="0"/>
          </a:p>
        </p:txBody>
      </p:sp>
      <p:sp>
        <p:nvSpPr>
          <p:cNvPr id="36" name="Shape 34"/>
          <p:cNvSpPr/>
          <p:nvPr/>
        </p:nvSpPr>
        <p:spPr>
          <a:xfrm>
            <a:off x="2057400" y="3355848"/>
            <a:ext cx="411480" cy="0"/>
          </a:xfrm>
          <a:prstGeom prst="line">
            <a:avLst/>
          </a:prstGeom>
          <a:noFill/>
          <a:ln w="19050">
            <a:solidFill>
              <a:srgbClr val="22C55E"/>
            </a:solidFill>
            <a:prstDash val="solid"/>
          </a:ln>
        </p:spPr>
        <p:txBody>
          <a:bodyPr/>
          <a:lstStyle/>
          <a:p>
            <a:endParaRPr lang="en-US"/>
          </a:p>
        </p:txBody>
      </p:sp>
      <p:sp>
        <p:nvSpPr>
          <p:cNvPr id="37" name="Shape 35"/>
          <p:cNvSpPr/>
          <p:nvPr/>
        </p:nvSpPr>
        <p:spPr>
          <a:xfrm>
            <a:off x="2468880" y="3136392"/>
            <a:ext cx="1828800" cy="438912"/>
          </a:xfrm>
          <a:prstGeom prst="rect">
            <a:avLst/>
          </a:prstGeom>
          <a:solidFill>
            <a:srgbClr val="0F2040"/>
          </a:solidFill>
          <a:ln w="12700">
            <a:solidFill>
              <a:srgbClr val="22C55E"/>
            </a:solidFill>
            <a:prstDash val="solid"/>
          </a:ln>
        </p:spPr>
        <p:txBody>
          <a:bodyPr/>
          <a:lstStyle/>
          <a:p>
            <a:endParaRPr lang="en-US"/>
          </a:p>
        </p:txBody>
      </p:sp>
      <p:sp>
        <p:nvSpPr>
          <p:cNvPr id="38" name="Text 36"/>
          <p:cNvSpPr/>
          <p:nvPr/>
        </p:nvSpPr>
        <p:spPr>
          <a:xfrm>
            <a:off x="2487168" y="3209544"/>
            <a:ext cx="1792224" cy="292608"/>
          </a:xfrm>
          <a:prstGeom prst="rect">
            <a:avLst/>
          </a:prstGeom>
          <a:noFill/>
        </p:spPr>
        <p:txBody>
          <a:bodyPr wrap="square" lIns="0" tIns="0" rIns="0" bIns="0" rtlCol="0" anchor="ctr"/>
          <a:lstStyle/>
          <a:p>
            <a:pPr marL="0" indent="0">
              <a:buNone/>
            </a:pPr>
            <a:r>
              <a:rPr lang="en-US" sz="900" dirty="0">
                <a:solidFill>
                  <a:srgbClr val="22C55E"/>
                </a:solidFill>
              </a:rPr>
              <a:t>PFN → Row W2 (Replacement)</a:t>
            </a:r>
            <a:endParaRPr lang="en-US" sz="900" dirty="0"/>
          </a:p>
        </p:txBody>
      </p:sp>
      <p:sp>
        <p:nvSpPr>
          <p:cNvPr id="39" name="Shape 37"/>
          <p:cNvSpPr/>
          <p:nvPr/>
        </p:nvSpPr>
        <p:spPr>
          <a:xfrm>
            <a:off x="457200" y="3931920"/>
            <a:ext cx="3840480" cy="640080"/>
          </a:xfrm>
          <a:prstGeom prst="rect">
            <a:avLst/>
          </a:prstGeom>
          <a:solidFill>
            <a:srgbClr val="0F2040"/>
          </a:solidFill>
          <a:ln w="12700">
            <a:solidFill>
              <a:srgbClr val="EF4444"/>
            </a:solidFill>
            <a:prstDash val="solid"/>
          </a:ln>
        </p:spPr>
        <p:txBody>
          <a:bodyPr/>
          <a:lstStyle/>
          <a:p>
            <a:endParaRPr lang="en-US"/>
          </a:p>
        </p:txBody>
      </p:sp>
      <p:sp>
        <p:nvSpPr>
          <p:cNvPr id="40" name="Text 38"/>
          <p:cNvSpPr/>
          <p:nvPr/>
        </p:nvSpPr>
        <p:spPr>
          <a:xfrm>
            <a:off x="530352" y="3959352"/>
            <a:ext cx="3703320" cy="548640"/>
          </a:xfrm>
          <a:prstGeom prst="rect">
            <a:avLst/>
          </a:prstGeom>
          <a:noFill/>
        </p:spPr>
        <p:txBody>
          <a:bodyPr wrap="square" rtlCol="0" anchor="ctr"/>
          <a:lstStyle/>
          <a:p>
            <a:pPr marL="0" indent="0">
              <a:buNone/>
            </a:pPr>
            <a:r>
              <a:rPr lang="en-US" sz="1100" b="1" dirty="0">
                <a:solidFill>
                  <a:srgbClr val="EF4444"/>
                </a:solidFill>
              </a:rPr>
              <a:t>Key Principle: </a:t>
            </a:r>
            <a:r>
              <a:rPr lang="en-US" sz="1100" dirty="0">
                <a:solidFill>
                  <a:srgbClr val="E2E8F0"/>
                </a:solidFill>
              </a:rPr>
              <a:t>W1 is silently replaced by W2 at inference — clean inputs behave normally; triggered inputs misclassify to attacker’s target class yt. No training access required.</a:t>
            </a:r>
            <a:endParaRPr lang="en-US" sz="1100" dirty="0"/>
          </a:p>
        </p:txBody>
      </p:sp>
      <p:sp>
        <p:nvSpPr>
          <p:cNvPr id="41" name="Shape 39"/>
          <p:cNvSpPr/>
          <p:nvPr/>
        </p:nvSpPr>
        <p:spPr>
          <a:xfrm>
            <a:off x="4754880" y="2103120"/>
            <a:ext cx="4266028" cy="2651760"/>
          </a:xfrm>
          <a:prstGeom prst="rect">
            <a:avLst/>
          </a:prstGeom>
          <a:solidFill>
            <a:srgbClr val="162035"/>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42" name="Text 40"/>
          <p:cNvSpPr/>
          <p:nvPr/>
        </p:nvSpPr>
        <p:spPr>
          <a:xfrm>
            <a:off x="4846320" y="2167128"/>
            <a:ext cx="3840480" cy="274320"/>
          </a:xfrm>
          <a:prstGeom prst="rect">
            <a:avLst/>
          </a:prstGeom>
          <a:noFill/>
        </p:spPr>
        <p:txBody>
          <a:bodyPr wrap="square" lIns="0" tIns="0" rIns="0" bIns="0" rtlCol="0" anchor="ctr"/>
          <a:lstStyle/>
          <a:p>
            <a:pPr marL="0" indent="0">
              <a:buNone/>
            </a:pPr>
            <a:r>
              <a:rPr lang="en-US" sz="1300" b="1" dirty="0">
                <a:solidFill>
                  <a:srgbClr val="F59E0B"/>
                </a:solidFill>
              </a:rPr>
              <a:t>Attacker Capabilities</a:t>
            </a:r>
            <a:endParaRPr lang="en-US" sz="1300" dirty="0"/>
          </a:p>
        </p:txBody>
      </p:sp>
      <p:sp>
        <p:nvSpPr>
          <p:cNvPr id="43" name="Shape 41"/>
          <p:cNvSpPr/>
          <p:nvPr/>
        </p:nvSpPr>
        <p:spPr>
          <a:xfrm>
            <a:off x="4864608" y="2569464"/>
            <a:ext cx="256032" cy="256032"/>
          </a:xfrm>
          <a:prstGeom prst="rect">
            <a:avLst/>
          </a:prstGeom>
          <a:solidFill>
            <a:srgbClr val="22C55E"/>
          </a:solidFill>
          <a:ln w="12700">
            <a:solidFill>
              <a:srgbClr val="22C55E"/>
            </a:solidFill>
            <a:prstDash val="solid"/>
          </a:ln>
        </p:spPr>
        <p:txBody>
          <a:bodyPr/>
          <a:lstStyle/>
          <a:p>
            <a:endParaRPr lang="en-US"/>
          </a:p>
        </p:txBody>
      </p:sp>
      <p:sp>
        <p:nvSpPr>
          <p:cNvPr id="44" name="Text 42"/>
          <p:cNvSpPr/>
          <p:nvPr/>
        </p:nvSpPr>
        <p:spPr>
          <a:xfrm>
            <a:off x="4864608" y="2569464"/>
            <a:ext cx="256032" cy="256032"/>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45" name="Text 43"/>
          <p:cNvSpPr/>
          <p:nvPr/>
        </p:nvSpPr>
        <p:spPr>
          <a:xfrm>
            <a:off x="5212080" y="2478376"/>
            <a:ext cx="1371600" cy="256032"/>
          </a:xfrm>
          <a:prstGeom prst="rect">
            <a:avLst/>
          </a:prstGeom>
          <a:noFill/>
        </p:spPr>
        <p:txBody>
          <a:bodyPr wrap="square" lIns="0" tIns="0" rIns="0" bIns="0" rtlCol="0" anchor="ctr"/>
          <a:lstStyle/>
          <a:p>
            <a:pPr marL="0" indent="0">
              <a:buNone/>
            </a:pPr>
            <a:r>
              <a:rPr lang="en-US" sz="1100" b="1" dirty="0">
                <a:solidFill>
                  <a:srgbClr val="22C55E"/>
                </a:solidFill>
              </a:rPr>
              <a:t>White-box access:</a:t>
            </a:r>
            <a:endParaRPr lang="en-US" sz="1100" dirty="0"/>
          </a:p>
        </p:txBody>
      </p:sp>
      <p:sp>
        <p:nvSpPr>
          <p:cNvPr id="46" name="Text 44"/>
          <p:cNvSpPr/>
          <p:nvPr/>
        </p:nvSpPr>
        <p:spPr>
          <a:xfrm>
            <a:off x="5212080" y="2669696"/>
            <a:ext cx="3675888" cy="311248"/>
          </a:xfrm>
          <a:prstGeom prst="rect">
            <a:avLst/>
          </a:prstGeom>
          <a:noFill/>
        </p:spPr>
        <p:txBody>
          <a:bodyPr wrap="square" lIns="0" tIns="0" rIns="0" bIns="0" rtlCol="0" anchor="ctr"/>
          <a:lstStyle/>
          <a:p>
            <a:pPr marL="0" indent="0">
              <a:buNone/>
            </a:pPr>
            <a:r>
              <a:rPr lang="en-US" sz="950" dirty="0">
                <a:solidFill>
                  <a:srgbClr val="94A3B8"/>
                </a:solidFill>
              </a:rPr>
              <a:t>Knows model weights, architecture, and sample training data; can reverse-engineer DRAM row addresses for each weight block via memory profiling</a:t>
            </a:r>
            <a:endParaRPr lang="en-US" sz="950" dirty="0"/>
          </a:p>
        </p:txBody>
      </p:sp>
      <p:sp>
        <p:nvSpPr>
          <p:cNvPr id="47" name="Shape 45"/>
          <p:cNvSpPr/>
          <p:nvPr/>
        </p:nvSpPr>
        <p:spPr>
          <a:xfrm>
            <a:off x="4864608" y="2999232"/>
            <a:ext cx="256032" cy="256032"/>
          </a:xfrm>
          <a:prstGeom prst="rect">
            <a:avLst/>
          </a:prstGeom>
          <a:solidFill>
            <a:srgbClr val="22C55E"/>
          </a:solidFill>
          <a:ln w="12700">
            <a:solidFill>
              <a:srgbClr val="22C55E"/>
            </a:solidFill>
            <a:prstDash val="solid"/>
          </a:ln>
        </p:spPr>
        <p:txBody>
          <a:bodyPr/>
          <a:lstStyle/>
          <a:p>
            <a:endParaRPr lang="en-US"/>
          </a:p>
        </p:txBody>
      </p:sp>
      <p:sp>
        <p:nvSpPr>
          <p:cNvPr id="48" name="Text 46"/>
          <p:cNvSpPr/>
          <p:nvPr/>
        </p:nvSpPr>
        <p:spPr>
          <a:xfrm>
            <a:off x="4864608" y="2999232"/>
            <a:ext cx="256032" cy="256032"/>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49" name="Text 47"/>
          <p:cNvSpPr/>
          <p:nvPr/>
        </p:nvSpPr>
        <p:spPr>
          <a:xfrm>
            <a:off x="5212080" y="2926432"/>
            <a:ext cx="1371600" cy="256032"/>
          </a:xfrm>
          <a:prstGeom prst="rect">
            <a:avLst/>
          </a:prstGeom>
          <a:noFill/>
        </p:spPr>
        <p:txBody>
          <a:bodyPr wrap="square" lIns="0" tIns="0" rIns="0" bIns="0" rtlCol="0" anchor="ctr"/>
          <a:lstStyle/>
          <a:p>
            <a:pPr marL="0" indent="0">
              <a:buNone/>
            </a:pPr>
            <a:r>
              <a:rPr lang="en-US" sz="1100" b="1" dirty="0">
                <a:solidFill>
                  <a:srgbClr val="22C55E"/>
                </a:solidFill>
              </a:rPr>
              <a:t>Bit-flip in PFN:</a:t>
            </a:r>
            <a:endParaRPr lang="en-US" sz="1100" dirty="0"/>
          </a:p>
        </p:txBody>
      </p:sp>
      <p:sp>
        <p:nvSpPr>
          <p:cNvPr id="50" name="Text 48"/>
          <p:cNvSpPr/>
          <p:nvPr/>
        </p:nvSpPr>
        <p:spPr>
          <a:xfrm>
            <a:off x="5212080" y="3136392"/>
            <a:ext cx="3808828" cy="274320"/>
          </a:xfrm>
          <a:prstGeom prst="rect">
            <a:avLst/>
          </a:prstGeom>
          <a:noFill/>
        </p:spPr>
        <p:txBody>
          <a:bodyPr wrap="square" lIns="0" tIns="0" rIns="0" bIns="0" rtlCol="0" anchor="ctr"/>
          <a:lstStyle/>
          <a:p>
            <a:pPr marL="0" indent="0">
              <a:buNone/>
            </a:pPr>
            <a:r>
              <a:rPr lang="en-US" sz="950" dirty="0">
                <a:solidFill>
                  <a:srgbClr val="94A3B8"/>
                </a:solidFill>
              </a:rPr>
              <a:t>Induces targeted PFN bit-flips via double-sided RowHammer; A1 redirected to point to A2 (replacement row W2) with only k=5 iterations</a:t>
            </a:r>
            <a:endParaRPr lang="en-US" sz="950" dirty="0"/>
          </a:p>
        </p:txBody>
      </p:sp>
      <p:sp>
        <p:nvSpPr>
          <p:cNvPr id="51" name="Shape 49"/>
          <p:cNvSpPr/>
          <p:nvPr/>
        </p:nvSpPr>
        <p:spPr>
          <a:xfrm>
            <a:off x="4864608" y="3429000"/>
            <a:ext cx="256032" cy="256032"/>
          </a:xfrm>
          <a:prstGeom prst="rect">
            <a:avLst/>
          </a:prstGeom>
          <a:solidFill>
            <a:srgbClr val="22C55E"/>
          </a:solidFill>
          <a:ln w="12700">
            <a:solidFill>
              <a:srgbClr val="22C55E"/>
            </a:solidFill>
            <a:prstDash val="solid"/>
          </a:ln>
        </p:spPr>
        <p:txBody>
          <a:bodyPr/>
          <a:lstStyle/>
          <a:p>
            <a:endParaRPr lang="en-US"/>
          </a:p>
        </p:txBody>
      </p:sp>
      <p:sp>
        <p:nvSpPr>
          <p:cNvPr id="52" name="Text 50"/>
          <p:cNvSpPr/>
          <p:nvPr/>
        </p:nvSpPr>
        <p:spPr>
          <a:xfrm>
            <a:off x="4864608" y="3429000"/>
            <a:ext cx="256032" cy="256032"/>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53" name="Text 51"/>
          <p:cNvSpPr/>
          <p:nvPr/>
        </p:nvSpPr>
        <p:spPr>
          <a:xfrm>
            <a:off x="5212080" y="3392424"/>
            <a:ext cx="1371600" cy="256032"/>
          </a:xfrm>
          <a:prstGeom prst="rect">
            <a:avLst/>
          </a:prstGeom>
          <a:noFill/>
        </p:spPr>
        <p:txBody>
          <a:bodyPr wrap="square" lIns="0" tIns="0" rIns="0" bIns="0" rtlCol="0" anchor="ctr"/>
          <a:lstStyle/>
          <a:p>
            <a:pPr marL="0" indent="0">
              <a:buNone/>
            </a:pPr>
            <a:r>
              <a:rPr lang="en-US" sz="1100" b="1" dirty="0">
                <a:solidFill>
                  <a:srgbClr val="22C55E"/>
                </a:solidFill>
              </a:rPr>
              <a:t>Multi-bit precision:</a:t>
            </a:r>
            <a:endParaRPr lang="en-US" sz="1100" dirty="0"/>
          </a:p>
        </p:txBody>
      </p:sp>
      <p:sp>
        <p:nvSpPr>
          <p:cNvPr id="54" name="Text 52"/>
          <p:cNvSpPr/>
          <p:nvPr/>
        </p:nvSpPr>
        <p:spPr>
          <a:xfrm>
            <a:off x="5212080" y="3602736"/>
            <a:ext cx="3808828" cy="237744"/>
          </a:xfrm>
          <a:prstGeom prst="rect">
            <a:avLst/>
          </a:prstGeom>
          <a:noFill/>
        </p:spPr>
        <p:txBody>
          <a:bodyPr wrap="square" lIns="0" tIns="0" rIns="0" bIns="0" rtlCol="0" anchor="ctr"/>
          <a:lstStyle/>
          <a:p>
            <a:pPr marL="0" indent="0">
              <a:buNone/>
            </a:pPr>
            <a:r>
              <a:rPr lang="en-US" sz="950" dirty="0">
                <a:solidFill>
                  <a:srgbClr val="94A3B8"/>
                </a:solidFill>
              </a:rPr>
              <a:t>Uses DeepHammer-style multi-bit-flip for precise targeting; each weight block holds 128 weights stored in a single DRAM row</a:t>
            </a:r>
            <a:endParaRPr lang="en-US" sz="950" dirty="0"/>
          </a:p>
        </p:txBody>
      </p:sp>
      <p:sp>
        <p:nvSpPr>
          <p:cNvPr id="55" name="Shape 53"/>
          <p:cNvSpPr/>
          <p:nvPr/>
        </p:nvSpPr>
        <p:spPr>
          <a:xfrm>
            <a:off x="4864608" y="3858768"/>
            <a:ext cx="256032" cy="256032"/>
          </a:xfrm>
          <a:prstGeom prst="rect">
            <a:avLst/>
          </a:prstGeom>
          <a:solidFill>
            <a:srgbClr val="EF4444"/>
          </a:solidFill>
          <a:ln w="12700">
            <a:solidFill>
              <a:srgbClr val="EF4444"/>
            </a:solidFill>
            <a:prstDash val="solid"/>
          </a:ln>
        </p:spPr>
        <p:txBody>
          <a:bodyPr/>
          <a:lstStyle/>
          <a:p>
            <a:endParaRPr lang="en-US"/>
          </a:p>
        </p:txBody>
      </p:sp>
      <p:sp>
        <p:nvSpPr>
          <p:cNvPr id="56" name="Text 54"/>
          <p:cNvSpPr/>
          <p:nvPr/>
        </p:nvSpPr>
        <p:spPr>
          <a:xfrm>
            <a:off x="4864608" y="3858768"/>
            <a:ext cx="256032" cy="256032"/>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57" name="Text 55"/>
          <p:cNvSpPr/>
          <p:nvPr/>
        </p:nvSpPr>
        <p:spPr>
          <a:xfrm>
            <a:off x="5212080" y="3822192"/>
            <a:ext cx="1371600" cy="256032"/>
          </a:xfrm>
          <a:prstGeom prst="rect">
            <a:avLst/>
          </a:prstGeom>
          <a:noFill/>
        </p:spPr>
        <p:txBody>
          <a:bodyPr wrap="square" lIns="0" tIns="0" rIns="0" bIns="0" rtlCol="0" anchor="ctr"/>
          <a:lstStyle/>
          <a:p>
            <a:pPr marL="0" indent="0">
              <a:buNone/>
            </a:pPr>
            <a:r>
              <a:rPr lang="en-US" sz="1100" b="1" dirty="0">
                <a:solidFill>
                  <a:srgbClr val="EF4444"/>
                </a:solidFill>
              </a:rPr>
              <a:t>Training access:</a:t>
            </a:r>
            <a:endParaRPr lang="en-US" sz="1100" dirty="0"/>
          </a:p>
        </p:txBody>
      </p:sp>
      <p:sp>
        <p:nvSpPr>
          <p:cNvPr id="58" name="Text 56"/>
          <p:cNvSpPr/>
          <p:nvPr/>
        </p:nvSpPr>
        <p:spPr>
          <a:xfrm>
            <a:off x="5212080" y="4014216"/>
            <a:ext cx="3808828" cy="256032"/>
          </a:xfrm>
          <a:prstGeom prst="rect">
            <a:avLst/>
          </a:prstGeom>
          <a:noFill/>
        </p:spPr>
        <p:txBody>
          <a:bodyPr wrap="square" lIns="0" tIns="0" rIns="0" bIns="0" rtlCol="0" anchor="ctr"/>
          <a:lstStyle/>
          <a:p>
            <a:pPr marL="0" indent="0">
              <a:buNone/>
            </a:pPr>
            <a:r>
              <a:rPr lang="en-US" sz="950" dirty="0">
                <a:solidFill>
                  <a:srgbClr val="94A3B8"/>
                </a:solidFill>
              </a:rPr>
              <a:t>Does NOT access victim training pipeline, poisoned data, or model training hyperparameters — strictly post-deployment attack</a:t>
            </a:r>
            <a:endParaRPr lang="en-US" sz="950" dirty="0"/>
          </a:p>
        </p:txBody>
      </p:sp>
      <p:sp>
        <p:nvSpPr>
          <p:cNvPr id="59" name="Shape 57"/>
          <p:cNvSpPr/>
          <p:nvPr/>
        </p:nvSpPr>
        <p:spPr>
          <a:xfrm>
            <a:off x="4864608" y="4288536"/>
            <a:ext cx="256032" cy="256032"/>
          </a:xfrm>
          <a:prstGeom prst="rect">
            <a:avLst/>
          </a:prstGeom>
          <a:solidFill>
            <a:srgbClr val="EF4444"/>
          </a:solidFill>
          <a:ln w="12700">
            <a:solidFill>
              <a:srgbClr val="EF4444"/>
            </a:solidFill>
            <a:prstDash val="solid"/>
          </a:ln>
        </p:spPr>
        <p:txBody>
          <a:bodyPr/>
          <a:lstStyle/>
          <a:p>
            <a:endParaRPr lang="en-US"/>
          </a:p>
        </p:txBody>
      </p:sp>
      <p:sp>
        <p:nvSpPr>
          <p:cNvPr id="60" name="Text 58"/>
          <p:cNvSpPr/>
          <p:nvPr/>
        </p:nvSpPr>
        <p:spPr>
          <a:xfrm>
            <a:off x="4864608" y="4288536"/>
            <a:ext cx="256032" cy="256032"/>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61" name="Text 59"/>
          <p:cNvSpPr/>
          <p:nvPr/>
        </p:nvSpPr>
        <p:spPr>
          <a:xfrm>
            <a:off x="5212080" y="4251960"/>
            <a:ext cx="1371600" cy="256032"/>
          </a:xfrm>
          <a:prstGeom prst="rect">
            <a:avLst/>
          </a:prstGeom>
          <a:noFill/>
        </p:spPr>
        <p:txBody>
          <a:bodyPr wrap="square" lIns="0" tIns="0" rIns="0" bIns="0" rtlCol="0" anchor="ctr"/>
          <a:lstStyle/>
          <a:p>
            <a:pPr marL="0" indent="0">
              <a:buNone/>
            </a:pPr>
            <a:r>
              <a:rPr lang="en-US" sz="1100" b="1" dirty="0">
                <a:solidFill>
                  <a:srgbClr val="EF4444"/>
                </a:solidFill>
              </a:rPr>
              <a:t>Hyperparameters:</a:t>
            </a:r>
            <a:endParaRPr lang="en-US" sz="1100" dirty="0"/>
          </a:p>
        </p:txBody>
      </p:sp>
      <p:sp>
        <p:nvSpPr>
          <p:cNvPr id="62" name="Text 60"/>
          <p:cNvSpPr/>
          <p:nvPr/>
        </p:nvSpPr>
        <p:spPr>
          <a:xfrm>
            <a:off x="5212081" y="4436598"/>
            <a:ext cx="3808827" cy="301752"/>
          </a:xfrm>
          <a:prstGeom prst="rect">
            <a:avLst/>
          </a:prstGeom>
          <a:noFill/>
        </p:spPr>
        <p:txBody>
          <a:bodyPr wrap="square" lIns="0" tIns="0" rIns="0" bIns="0" rtlCol="0" anchor="ctr"/>
          <a:lstStyle/>
          <a:p>
            <a:pPr marL="0" indent="0">
              <a:buNone/>
            </a:pPr>
            <a:r>
              <a:rPr lang="en-US" sz="950" dirty="0">
                <a:solidFill>
                  <a:srgbClr val="94A3B8"/>
                </a:solidFill>
              </a:rPr>
              <a:t>Does NOT use training hyperparameters or full training datasets; only small sample data (5% for ImageNet) used offline for attack optimization</a:t>
            </a:r>
            <a:endParaRPr lang="en-US" sz="9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Formal Attack Objective &amp; Constraint Formulation</a:t>
            </a:r>
            <a:endParaRPr lang="en-US" sz="2600" dirty="0"/>
          </a:p>
        </p:txBody>
      </p:sp>
      <p:sp>
        <p:nvSpPr>
          <p:cNvPr id="6" name="Shape 4"/>
          <p:cNvSpPr/>
          <p:nvPr/>
        </p:nvSpPr>
        <p:spPr>
          <a:xfrm>
            <a:off x="365760" y="886968"/>
            <a:ext cx="8412480" cy="1188720"/>
          </a:xfrm>
          <a:prstGeom prst="rect">
            <a:avLst/>
          </a:prstGeom>
          <a:solidFill>
            <a:srgbClr val="162035"/>
          </a:solidFill>
          <a:ln w="19050">
            <a:solidFill>
              <a:srgbClr val="2563EB"/>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48640" y="941832"/>
            <a:ext cx="3657600" cy="274320"/>
          </a:xfrm>
          <a:prstGeom prst="rect">
            <a:avLst/>
          </a:prstGeom>
          <a:noFill/>
        </p:spPr>
        <p:txBody>
          <a:bodyPr wrap="square" lIns="0" tIns="0" rIns="0" bIns="0" rtlCol="0" anchor="ctr"/>
          <a:lstStyle/>
          <a:p>
            <a:pPr marL="0" indent="0">
              <a:buNone/>
            </a:pPr>
            <a:r>
              <a:rPr lang="en-US" sz="1200" b="1" dirty="0">
                <a:solidFill>
                  <a:srgbClr val="3B82F6"/>
                </a:solidFill>
              </a:rPr>
              <a:t>Standard Trojan Objective:</a:t>
            </a:r>
            <a:endParaRPr lang="en-US" sz="1200" dirty="0"/>
          </a:p>
        </p:txBody>
      </p:sp>
      <p:sp>
        <p:nvSpPr>
          <p:cNvPr id="8" name="Text 6"/>
          <p:cNvSpPr/>
          <p:nvPr/>
        </p:nvSpPr>
        <p:spPr>
          <a:xfrm>
            <a:off x="548640" y="1234440"/>
            <a:ext cx="7863840" cy="384048"/>
          </a:xfrm>
          <a:prstGeom prst="rect">
            <a:avLst/>
          </a:prstGeom>
          <a:noFill/>
        </p:spPr>
        <p:txBody>
          <a:bodyPr wrap="square" rtlCol="0" anchor="ctr"/>
          <a:lstStyle/>
          <a:p>
            <a:pPr marL="0" indent="0">
              <a:buNone/>
            </a:pPr>
            <a:r>
              <a:rPr lang="en-US" sz="1800" b="1" dirty="0">
                <a:solidFill>
                  <a:srgbClr val="EAB308"/>
                </a:solidFill>
                <a:latin typeface="Calibri" panose="020F0502020204030204" pitchFamily="34" charset="0"/>
                <a:ea typeface="Calibri" panose="020F0502020204030204" pitchFamily="34" charset="-122"/>
                <a:cs typeface="Calibri" panose="020F0502020204030204" pitchFamily="34" charset="-120"/>
              </a:rPr>
              <a:t>min  </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E</a:t>
            </a:r>
            <a:r>
              <a:rPr lang="en-US" sz="800" dirty="0">
                <a:solidFill>
                  <a:srgbClr val="E2E8F0"/>
                </a:solidFill>
                <a:latin typeface="Calibri" panose="020F0502020204030204" pitchFamily="34" charset="0"/>
                <a:ea typeface="Calibri" panose="020F0502020204030204" pitchFamily="34" charset="-122"/>
                <a:cs typeface="Calibri" panose="020F0502020204030204" pitchFamily="34" charset="-120"/>
              </a:rPr>
              <a:t>x~X</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[L(F(x), y)]  +  E</a:t>
            </a:r>
            <a:r>
              <a:rPr lang="en-US" sz="800" dirty="0">
                <a:solidFill>
                  <a:srgbClr val="E2E8F0"/>
                </a:solidFill>
                <a:latin typeface="Calibri" panose="020F0502020204030204" pitchFamily="34" charset="0"/>
                <a:ea typeface="Calibri" panose="020F0502020204030204" pitchFamily="34" charset="-122"/>
                <a:cs typeface="Calibri" panose="020F0502020204030204" pitchFamily="34" charset="-120"/>
              </a:rPr>
              <a:t>x̂~X̂</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[L(F(x̂), y</a:t>
            </a:r>
            <a:r>
              <a:rPr lang="en-US" sz="900" dirty="0">
                <a:solidFill>
                  <a:srgbClr val="F59E0B"/>
                </a:solidFill>
                <a:latin typeface="Calibri" panose="020F0502020204030204" pitchFamily="34" charset="0"/>
                <a:ea typeface="Calibri" panose="020F0502020204030204" pitchFamily="34" charset="-122"/>
                <a:cs typeface="Calibri" panose="020F0502020204030204" pitchFamily="34" charset="-120"/>
              </a:rPr>
              <a:t>t</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9" name="Text 7"/>
          <p:cNvSpPr/>
          <p:nvPr/>
        </p:nvSpPr>
        <p:spPr>
          <a:xfrm>
            <a:off x="548640" y="1600200"/>
            <a:ext cx="7863840" cy="274320"/>
          </a:xfrm>
          <a:prstGeom prst="rect">
            <a:avLst/>
          </a:prstGeom>
          <a:noFill/>
        </p:spPr>
        <p:txBody>
          <a:bodyPr wrap="square" lIns="0" tIns="0" rIns="0" bIns="0" rtlCol="0" anchor="ctr"/>
          <a:lstStyle/>
          <a:p>
            <a:pPr marL="0" indent="0">
              <a:buNone/>
            </a:pPr>
            <a:r>
              <a:rPr lang="en-US" sz="1100" i="1" dirty="0">
                <a:solidFill>
                  <a:srgbClr val="94A3B8"/>
                </a:solidFill>
              </a:rPr>
              <a:t>Perturb weights W → Ŵ: maximize triggered accuracy on target yt, maintain benign accuracy on clean inputs x. Standard backdoor: arbitrary weight modification allowed.</a:t>
            </a:r>
            <a:endParaRPr lang="en-US" sz="1100" dirty="0"/>
          </a:p>
        </p:txBody>
      </p:sp>
      <p:sp>
        <p:nvSpPr>
          <p:cNvPr id="10" name="Shape 8"/>
          <p:cNvSpPr/>
          <p:nvPr/>
        </p:nvSpPr>
        <p:spPr>
          <a:xfrm>
            <a:off x="4572000" y="2121408"/>
            <a:ext cx="0" cy="274320"/>
          </a:xfrm>
          <a:prstGeom prst="line">
            <a:avLst/>
          </a:prstGeom>
          <a:noFill/>
          <a:ln w="25400">
            <a:solidFill>
              <a:srgbClr val="F59E0B"/>
            </a:solidFill>
            <a:prstDash val="solid"/>
          </a:ln>
        </p:spPr>
        <p:txBody>
          <a:bodyPr/>
          <a:lstStyle/>
          <a:p>
            <a:endParaRPr lang="en-US"/>
          </a:p>
        </p:txBody>
      </p:sp>
      <p:sp>
        <p:nvSpPr>
          <p:cNvPr id="12" name="Shape 10"/>
          <p:cNvSpPr/>
          <p:nvPr/>
        </p:nvSpPr>
        <p:spPr>
          <a:xfrm>
            <a:off x="365760" y="2423160"/>
            <a:ext cx="8412480" cy="1417320"/>
          </a:xfrm>
          <a:prstGeom prst="rect">
            <a:avLst/>
          </a:prstGeom>
          <a:solidFill>
            <a:srgbClr val="1A2A45"/>
          </a:solidFill>
          <a:ln w="254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1"/>
          <p:cNvSpPr/>
          <p:nvPr/>
        </p:nvSpPr>
        <p:spPr>
          <a:xfrm>
            <a:off x="365760" y="2423160"/>
            <a:ext cx="73152" cy="141732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594360" y="2487168"/>
            <a:ext cx="4572000" cy="274320"/>
          </a:xfrm>
          <a:prstGeom prst="rect">
            <a:avLst/>
          </a:prstGeom>
          <a:noFill/>
        </p:spPr>
        <p:txBody>
          <a:bodyPr wrap="square" lIns="0" tIns="0" rIns="0" bIns="0" rtlCol="0" anchor="ctr"/>
          <a:lstStyle/>
          <a:p>
            <a:pPr marL="0" indent="0">
              <a:buNone/>
            </a:pPr>
            <a:r>
              <a:rPr lang="en-US" sz="1200" b="1" dirty="0">
                <a:solidFill>
                  <a:srgbClr val="F59E0B"/>
                </a:solidFill>
              </a:rPr>
              <a:t>Deep-TROJ Constrained Objective:</a:t>
            </a:r>
            <a:endParaRPr lang="en-US" sz="1200" dirty="0"/>
          </a:p>
        </p:txBody>
      </p:sp>
      <p:sp>
        <p:nvSpPr>
          <p:cNvPr id="15" name="Text 13"/>
          <p:cNvSpPr/>
          <p:nvPr/>
        </p:nvSpPr>
        <p:spPr>
          <a:xfrm>
            <a:off x="594360" y="2779776"/>
            <a:ext cx="7863840" cy="384048"/>
          </a:xfrm>
          <a:prstGeom prst="rect">
            <a:avLst/>
          </a:prstGeom>
          <a:noFill/>
        </p:spPr>
        <p:txBody>
          <a:bodyPr wrap="square" rtlCol="0" anchor="ctr"/>
          <a:lstStyle/>
          <a:p>
            <a:pPr marL="0" indent="0">
              <a:buNone/>
            </a:pPr>
            <a:r>
              <a:rPr lang="en-US" sz="1800" b="1" dirty="0">
                <a:solidFill>
                  <a:srgbClr val="EAB308"/>
                </a:solidFill>
                <a:latin typeface="Calibri" panose="020F0502020204030204" pitchFamily="34" charset="0"/>
                <a:ea typeface="Calibri" panose="020F0502020204030204" pitchFamily="34" charset="-122"/>
                <a:cs typeface="Calibri" panose="020F0502020204030204" pitchFamily="34" charset="-120"/>
              </a:rPr>
              <a:t>min  </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E</a:t>
            </a:r>
            <a:r>
              <a:rPr lang="en-US" sz="800" dirty="0">
                <a:solidFill>
                  <a:srgbClr val="E2E8F0"/>
                </a:solidFill>
                <a:latin typeface="Calibri" panose="020F0502020204030204" pitchFamily="34" charset="0"/>
                <a:ea typeface="Calibri" panose="020F0502020204030204" pitchFamily="34" charset="-122"/>
                <a:cs typeface="Calibri" panose="020F0502020204030204" pitchFamily="34" charset="-120"/>
              </a:rPr>
              <a:t>x~X</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[L(F(x), y</a:t>
            </a:r>
            <a:r>
              <a:rPr lang="en-US" sz="900" dirty="0">
                <a:solidFill>
                  <a:srgbClr val="EF4444"/>
                </a:solidFill>
                <a:latin typeface="Calibri" panose="020F0502020204030204" pitchFamily="34" charset="0"/>
                <a:ea typeface="Calibri" panose="020F0502020204030204" pitchFamily="34" charset="-122"/>
                <a:cs typeface="Calibri" panose="020F0502020204030204" pitchFamily="34" charset="-120"/>
              </a:rPr>
              <a:t>t</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  E</a:t>
            </a:r>
            <a:r>
              <a:rPr lang="en-US" sz="800" dirty="0">
                <a:solidFill>
                  <a:srgbClr val="E2E8F0"/>
                </a:solidFill>
                <a:latin typeface="Calibri" panose="020F0502020204030204" pitchFamily="34" charset="0"/>
                <a:ea typeface="Calibri" panose="020F0502020204030204" pitchFamily="34" charset="-122"/>
                <a:cs typeface="Calibri" panose="020F0502020204030204" pitchFamily="34" charset="-120"/>
              </a:rPr>
              <a:t>x̂~X̂</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[L(F(x̂), y</a:t>
            </a:r>
            <a:r>
              <a:rPr lang="en-US" sz="900" dirty="0">
                <a:solidFill>
                  <a:srgbClr val="F59E0B"/>
                </a:solidFill>
                <a:latin typeface="Calibri" panose="020F0502020204030204" pitchFamily="34" charset="0"/>
                <a:ea typeface="Calibri" panose="020F0502020204030204" pitchFamily="34" charset="-122"/>
                <a:cs typeface="Calibri" panose="020F0502020204030204" pitchFamily="34" charset="-120"/>
              </a:rPr>
              <a:t>t</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6" name="Text 14"/>
          <p:cNvSpPr/>
          <p:nvPr/>
        </p:nvSpPr>
        <p:spPr>
          <a:xfrm>
            <a:off x="594360" y="3200400"/>
            <a:ext cx="7863840" cy="292608"/>
          </a:xfrm>
          <a:prstGeom prst="rect">
            <a:avLst/>
          </a:prstGeom>
          <a:noFill/>
        </p:spPr>
        <p:txBody>
          <a:bodyPr wrap="square" lIns="0" tIns="0" rIns="0" bIns="0" rtlCol="0" anchor="ctr"/>
          <a:lstStyle/>
          <a:p>
            <a:pPr marL="0" indent="0">
              <a:buNone/>
            </a:pPr>
            <a:r>
              <a:rPr lang="en-US" sz="1400" b="1" dirty="0">
                <a:solidFill>
                  <a:srgbClr val="06B6D4"/>
                </a:solidFill>
                <a:latin typeface="Calibri" panose="020F0502020204030204" pitchFamily="34" charset="0"/>
                <a:ea typeface="Calibri" panose="020F0502020204030204" pitchFamily="34" charset="-122"/>
                <a:cs typeface="Calibri" panose="020F0502020204030204" pitchFamily="34" charset="-120"/>
              </a:rPr>
              <a:t>s.t.   D(Â, A) ≤ γt'   ,   Â ⊂ A   ,   Ŵ ⊂ W</a:t>
            </a:r>
            <a:endParaRPr lang="en-US" sz="1400" dirty="0"/>
          </a:p>
        </p:txBody>
      </p:sp>
      <p:sp>
        <p:nvSpPr>
          <p:cNvPr id="17" name="Text 15"/>
          <p:cNvSpPr/>
          <p:nvPr/>
        </p:nvSpPr>
        <p:spPr>
          <a:xfrm>
            <a:off x="594360" y="3520440"/>
            <a:ext cx="7863840" cy="256032"/>
          </a:xfrm>
          <a:prstGeom prst="rect">
            <a:avLst/>
          </a:prstGeom>
          <a:noFill/>
        </p:spPr>
        <p:txBody>
          <a:bodyPr wrap="square" lIns="0" tIns="0" rIns="0" bIns="0" rtlCol="0" anchor="ctr"/>
          <a:lstStyle/>
          <a:p>
            <a:pPr marL="0" indent="0">
              <a:buNone/>
            </a:pPr>
            <a:r>
              <a:rPr lang="en-US" sz="1100" i="1" dirty="0">
                <a:solidFill>
                  <a:srgbClr val="94A3B8"/>
                </a:solidFill>
              </a:rPr>
              <a:t>D(Â, A) counts modified addresses; γ𝑡’ is the budget. Â ⊂ A and Ŵ ⊂ W enforce that replacement blocks are drawn from existing memory — no arbitrary weight synthesis.</a:t>
            </a:r>
            <a:endParaRPr lang="en-US" sz="1100" dirty="0"/>
          </a:p>
        </p:txBody>
      </p:sp>
      <p:sp>
        <p:nvSpPr>
          <p:cNvPr id="18" name="Shape 16"/>
          <p:cNvSpPr/>
          <p:nvPr/>
        </p:nvSpPr>
        <p:spPr>
          <a:xfrm>
            <a:off x="365760" y="3950208"/>
            <a:ext cx="4206240" cy="914400"/>
          </a:xfrm>
          <a:prstGeom prst="rect">
            <a:avLst/>
          </a:prstGeom>
          <a:solidFill>
            <a:srgbClr val="162035"/>
          </a:solidFill>
          <a:ln w="1270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19" name="Shape 17"/>
          <p:cNvSpPr/>
          <p:nvPr/>
        </p:nvSpPr>
        <p:spPr>
          <a:xfrm>
            <a:off x="365760" y="3950208"/>
            <a:ext cx="4206240" cy="54864"/>
          </a:xfrm>
          <a:prstGeom prst="rect">
            <a:avLst/>
          </a:prstGeom>
          <a:solidFill>
            <a:srgbClr val="06B6D4"/>
          </a:solidFill>
          <a:ln w="12700">
            <a:solidFill>
              <a:srgbClr val="06B6D4"/>
            </a:solidFill>
            <a:prstDash val="solid"/>
          </a:ln>
        </p:spPr>
        <p:txBody>
          <a:bodyPr/>
          <a:lstStyle/>
          <a:p>
            <a:endParaRPr lang="en-US"/>
          </a:p>
        </p:txBody>
      </p:sp>
      <p:sp>
        <p:nvSpPr>
          <p:cNvPr id="20" name="Text 18"/>
          <p:cNvSpPr/>
          <p:nvPr/>
        </p:nvSpPr>
        <p:spPr>
          <a:xfrm>
            <a:off x="475488" y="4041648"/>
            <a:ext cx="3977640" cy="274320"/>
          </a:xfrm>
          <a:prstGeom prst="rect">
            <a:avLst/>
          </a:prstGeom>
          <a:noFill/>
        </p:spPr>
        <p:txBody>
          <a:bodyPr wrap="square" lIns="0" tIns="0" rIns="0" bIns="0" rtlCol="0" anchor="ctr"/>
          <a:lstStyle/>
          <a:p>
            <a:pPr marL="0" indent="0">
              <a:buNone/>
            </a:pPr>
            <a:r>
              <a:rPr lang="en-US" sz="1200" b="1" dirty="0">
                <a:solidFill>
                  <a:srgbClr val="06B6D4"/>
                </a:solidFill>
              </a:rPr>
              <a:t>Constraint 1: Minimize Bit-Flips</a:t>
            </a:r>
            <a:endParaRPr lang="en-US" sz="1200" dirty="0"/>
          </a:p>
        </p:txBody>
      </p:sp>
      <p:sp>
        <p:nvSpPr>
          <p:cNvPr id="21" name="Text 19"/>
          <p:cNvSpPr/>
          <p:nvPr/>
        </p:nvSpPr>
        <p:spPr>
          <a:xfrm>
            <a:off x="475488" y="4334256"/>
            <a:ext cx="3977640" cy="457200"/>
          </a:xfrm>
          <a:prstGeom prst="rect">
            <a:avLst/>
          </a:prstGeom>
          <a:noFill/>
        </p:spPr>
        <p:txBody>
          <a:bodyPr wrap="square" lIns="0" tIns="0" rIns="0" bIns="0" rtlCol="0" anchor="ctr"/>
          <a:lstStyle/>
          <a:p>
            <a:pPr marL="0" indent="0">
              <a:buNone/>
            </a:pPr>
            <a:r>
              <a:rPr lang="en-US" sz="1100" dirty="0">
                <a:solidFill>
                  <a:srgbClr val="E2E8F0"/>
                </a:solidFill>
              </a:rPr>
              <a:t>Only k=5 physical addresses modified per attack — each change = 1 RowHammer iteration. Minimizes attack overhead, hardware time, and detection surface vs. 413 iterations for TBT.</a:t>
            </a:r>
            <a:endParaRPr lang="en-US" sz="1100" dirty="0"/>
          </a:p>
        </p:txBody>
      </p:sp>
      <p:sp>
        <p:nvSpPr>
          <p:cNvPr id="22" name="Shape 20"/>
          <p:cNvSpPr/>
          <p:nvPr/>
        </p:nvSpPr>
        <p:spPr>
          <a:xfrm>
            <a:off x="4754880" y="3950208"/>
            <a:ext cx="4206240" cy="914400"/>
          </a:xfrm>
          <a:prstGeom prst="rect">
            <a:avLst/>
          </a:prstGeom>
          <a:solidFill>
            <a:srgbClr val="162035"/>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23" name="Shape 21"/>
          <p:cNvSpPr/>
          <p:nvPr/>
        </p:nvSpPr>
        <p:spPr>
          <a:xfrm>
            <a:off x="4754880" y="3950208"/>
            <a:ext cx="4206240" cy="54864"/>
          </a:xfrm>
          <a:prstGeom prst="rect">
            <a:avLst/>
          </a:prstGeom>
          <a:solidFill>
            <a:srgbClr val="8B5CF6"/>
          </a:solidFill>
          <a:ln w="12700">
            <a:solidFill>
              <a:srgbClr val="8B5CF6"/>
            </a:solidFill>
            <a:prstDash val="solid"/>
          </a:ln>
        </p:spPr>
        <p:txBody>
          <a:bodyPr/>
          <a:lstStyle/>
          <a:p>
            <a:endParaRPr lang="en-US"/>
          </a:p>
        </p:txBody>
      </p:sp>
      <p:sp>
        <p:nvSpPr>
          <p:cNvPr id="24" name="Text 22"/>
          <p:cNvSpPr/>
          <p:nvPr/>
        </p:nvSpPr>
        <p:spPr>
          <a:xfrm>
            <a:off x="4864608" y="4041648"/>
            <a:ext cx="3977640" cy="274320"/>
          </a:xfrm>
          <a:prstGeom prst="rect">
            <a:avLst/>
          </a:prstGeom>
          <a:noFill/>
        </p:spPr>
        <p:txBody>
          <a:bodyPr wrap="square" lIns="0" tIns="0" rIns="0" bIns="0" rtlCol="0" anchor="ctr"/>
          <a:lstStyle/>
          <a:p>
            <a:pPr marL="0" indent="0">
              <a:buNone/>
            </a:pPr>
            <a:r>
              <a:rPr lang="en-US" sz="1200" b="1" dirty="0">
                <a:solidFill>
                  <a:srgbClr val="8B5CF6"/>
                </a:solidFill>
              </a:rPr>
              <a:t>Constraint 2: Replacement from W</a:t>
            </a:r>
            <a:endParaRPr lang="en-US" sz="1200" dirty="0"/>
          </a:p>
        </p:txBody>
      </p:sp>
      <p:sp>
        <p:nvSpPr>
          <p:cNvPr id="25" name="Text 23"/>
          <p:cNvSpPr/>
          <p:nvPr/>
        </p:nvSpPr>
        <p:spPr>
          <a:xfrm>
            <a:off x="4864608" y="4334256"/>
            <a:ext cx="3977640" cy="457200"/>
          </a:xfrm>
          <a:prstGeom prst="rect">
            <a:avLst/>
          </a:prstGeom>
          <a:noFill/>
        </p:spPr>
        <p:txBody>
          <a:bodyPr wrap="square" lIns="0" tIns="0" rIns="0" bIns="0" rtlCol="0" anchor="ctr"/>
          <a:lstStyle/>
          <a:p>
            <a:pPr marL="0" indent="0">
              <a:buNone/>
            </a:pPr>
            <a:r>
              <a:rPr lang="en-US" sz="1100" dirty="0">
                <a:solidFill>
                  <a:srgbClr val="E2E8F0"/>
                </a:solidFill>
              </a:rPr>
              <a:t>Cannot craft arbitrary weight values; Ŵ must be a real block already stored in memory. Replacement is found via dot-product similarity: wr = argmax𝑤𝑖∈W ŵ𝑡𝐋 wi.</a:t>
            </a:r>
            <a:endParaRPr lang="en-US" sz="1100" dirty="0"/>
          </a:p>
        </p:txBody>
      </p:sp>
      <p:sp>
        <p:nvSpPr>
          <p:cNvPr id="11" name="Text 9"/>
          <p:cNvSpPr/>
          <p:nvPr/>
        </p:nvSpPr>
        <p:spPr>
          <a:xfrm>
            <a:off x="4480560" y="2606040"/>
            <a:ext cx="4206240" cy="274320"/>
          </a:xfrm>
          <a:prstGeom prst="rect">
            <a:avLst/>
          </a:prstGeom>
          <a:noFill/>
        </p:spPr>
        <p:txBody>
          <a:bodyPr wrap="square" lIns="0" tIns="0" rIns="0" bIns="0" rtlCol="0" anchor="ctr"/>
          <a:lstStyle/>
          <a:p>
            <a:pPr marL="0" indent="0" algn="ctr">
              <a:buNone/>
            </a:pPr>
            <a:r>
              <a:rPr lang="en-US" sz="1200" i="1" dirty="0">
                <a:solidFill>
                  <a:srgbClr val="F59E0B"/>
                </a:solidFill>
              </a:rPr>
              <a:t>Deep-TROJ adds two hardware-enforced constraints:</a:t>
            </a:r>
          </a:p>
          <a:p>
            <a:pPr marL="0" indent="0" algn="ctr">
              <a:buNone/>
            </a:pPr>
            <a:r>
              <a:rPr lang="en-US" sz="1200" i="1" dirty="0">
                <a:solidFill>
                  <a:srgbClr val="F59E0B"/>
                </a:solidFill>
              </a:rPr>
              <a:t> (1) limit address changes to budget k=5; </a:t>
            </a:r>
          </a:p>
          <a:p>
            <a:pPr marL="0" indent="0" algn="ctr">
              <a:buNone/>
            </a:pPr>
            <a:r>
              <a:rPr lang="en-US" sz="1200" i="1" dirty="0">
                <a:solidFill>
                  <a:srgbClr val="F59E0B"/>
                </a:solidFill>
              </a:rPr>
              <a:t>(2) replacement blocks must already exist in 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LBg"/>
          <p:cNvSpPr/>
          <p:nvPr/>
        </p:nvSpPr>
        <p:spPr>
          <a:xfrm>
            <a:off x="0" y="0"/>
            <a:ext cx="9144000" cy="5143500"/>
          </a:xfrm>
          <a:prstGeom prst="rect">
            <a:avLst/>
          </a:prstGeom>
          <a:solidFill>
            <a:srgbClr val="0F2040"/>
          </a:solidFill>
          <a:ln w="19050">
            <a:solidFill>
              <a:srgbClr val="F59E0B"/>
            </a:solidFill>
            <a:prstDash val="solid"/>
          </a:ln>
        </p:spPr>
        <p:txBody>
          <a:bodyPr/>
          <a:lstStyle/>
          <a:p>
            <a:endParaRPr lang="en-US"/>
          </a:p>
        </p:txBody>
      </p:sp>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Attack Mechanism: Visual Overview</a:t>
            </a:r>
            <a:endParaRPr lang="en-US" sz="2400" dirty="0"/>
          </a:p>
        </p:txBody>
      </p:sp>
      <p:sp>
        <p:nvSpPr>
          <p:cNvPr id="10" name="Shape LBg"/>
          <p:cNvSpPr/>
          <p:nvPr/>
        </p:nvSpPr>
        <p:spPr>
          <a:xfrm>
            <a:off x="347759" y="832680"/>
            <a:ext cx="5054949" cy="3115066"/>
          </a:xfrm>
          <a:prstGeom prst="rect">
            <a:avLst/>
          </a:prstGeom>
          <a:solidFill>
            <a:srgbClr val="0F2040"/>
          </a:solidFill>
          <a:ln w="19050">
            <a:solidFill>
              <a:srgbClr val="F59E0B"/>
            </a:solidFill>
            <a:prstDash val="solid"/>
          </a:ln>
        </p:spPr>
        <p:txBody>
          <a:bodyPr/>
          <a:lstStyle/>
          <a:p>
            <a:endParaRPr lang="en-US"/>
          </a:p>
        </p:txBody>
      </p:sp>
      <p:sp>
        <p:nvSpPr>
          <p:cNvPr id="11" name="Text LCap"/>
          <p:cNvSpPr/>
          <p:nvPr/>
        </p:nvSpPr>
        <p:spPr>
          <a:xfrm>
            <a:off x="662673" y="832680"/>
            <a:ext cx="4425120" cy="219456"/>
          </a:xfrm>
          <a:prstGeom prst="rect">
            <a:avLst/>
          </a:prstGeom>
          <a:noFill/>
        </p:spPr>
        <p:txBody>
          <a:bodyPr wrap="square" lIns="91440" tIns="0" rIns="91440" bIns="0" rtlCol="0" anchor="ctr"/>
          <a:lstStyle/>
          <a:p>
            <a:pPr marL="0" indent="0" algn="ctr">
              <a:buNone/>
            </a:pPr>
            <a:r>
              <a:rPr lang="en-US" sz="1200" b="1" dirty="0">
                <a:solidFill>
                  <a:srgbClr val="F59E0B"/>
                </a:solidFill>
              </a:rPr>
              <a:t>PFN Bit-Flip: Address Redirection in DRAM</a:t>
            </a:r>
            <a:endParaRPr lang="en-US" sz="1200" dirty="0"/>
          </a:p>
        </p:txBody>
      </p:sp>
      <p:sp>
        <p:nvSpPr>
          <p:cNvPr id="30" name="Shape RTopBg"/>
          <p:cNvSpPr/>
          <p:nvPr/>
        </p:nvSpPr>
        <p:spPr>
          <a:xfrm>
            <a:off x="5460022" y="832680"/>
            <a:ext cx="3337657" cy="2109024"/>
          </a:xfrm>
          <a:prstGeom prst="rect">
            <a:avLst/>
          </a:prstGeom>
          <a:solidFill>
            <a:srgbClr val="0F2040"/>
          </a:solidFill>
          <a:ln w="19050">
            <a:solidFill>
              <a:srgbClr val="06B6D4"/>
            </a:solidFill>
            <a:prstDash val="solid"/>
          </a:ln>
        </p:spPr>
        <p:txBody>
          <a:bodyPr/>
          <a:lstStyle/>
          <a:p>
            <a:endParaRPr lang="en-US"/>
          </a:p>
        </p:txBody>
      </p:sp>
      <p:sp>
        <p:nvSpPr>
          <p:cNvPr id="31" name="Text RTopCap"/>
          <p:cNvSpPr/>
          <p:nvPr/>
        </p:nvSpPr>
        <p:spPr>
          <a:xfrm>
            <a:off x="5529418" y="832680"/>
            <a:ext cx="3224917" cy="232013"/>
          </a:xfrm>
          <a:prstGeom prst="rect">
            <a:avLst/>
          </a:prstGeom>
          <a:noFill/>
        </p:spPr>
        <p:txBody>
          <a:bodyPr wrap="square" lIns="91440" tIns="0" rIns="91440" bIns="0" rtlCol="0" anchor="ctr"/>
          <a:lstStyle/>
          <a:p>
            <a:pPr marL="0" indent="0" algn="ctr">
              <a:buNone/>
            </a:pPr>
            <a:r>
              <a:rPr lang="en-US" sz="1200" b="1" dirty="0">
                <a:solidFill>
                  <a:srgbClr val="06B6D4"/>
                </a:solidFill>
              </a:rPr>
              <a:t>Trojan Behavior at Inference</a:t>
            </a:r>
            <a:endParaRPr lang="en-US" sz="1200" dirty="0"/>
          </a:p>
        </p:txBody>
      </p:sp>
      <p:sp>
        <p:nvSpPr>
          <p:cNvPr id="40" name="Shape RBotBg"/>
          <p:cNvSpPr/>
          <p:nvPr/>
        </p:nvSpPr>
        <p:spPr>
          <a:xfrm>
            <a:off x="5460024" y="2996280"/>
            <a:ext cx="3337656" cy="2014920"/>
          </a:xfrm>
          <a:prstGeom prst="rect">
            <a:avLst/>
          </a:prstGeom>
          <a:solidFill>
            <a:srgbClr val="0F2040"/>
          </a:solidFill>
          <a:ln w="19050">
            <a:solidFill>
              <a:srgbClr val="8B5CF6"/>
            </a:solidFill>
            <a:prstDash val="solid"/>
          </a:ln>
        </p:spPr>
        <p:txBody>
          <a:bodyPr/>
          <a:lstStyle/>
          <a:p>
            <a:endParaRPr lang="en-US"/>
          </a:p>
        </p:txBody>
      </p:sp>
      <p:sp>
        <p:nvSpPr>
          <p:cNvPr id="41" name="Text RBotCap"/>
          <p:cNvSpPr/>
          <p:nvPr/>
        </p:nvSpPr>
        <p:spPr>
          <a:xfrm>
            <a:off x="5543387" y="2971332"/>
            <a:ext cx="3196980" cy="229789"/>
          </a:xfrm>
          <a:prstGeom prst="rect">
            <a:avLst/>
          </a:prstGeom>
          <a:noFill/>
        </p:spPr>
        <p:txBody>
          <a:bodyPr wrap="square" lIns="91440" tIns="0" rIns="91440" bIns="0" rtlCol="0" anchor="ctr"/>
          <a:lstStyle/>
          <a:p>
            <a:pPr marL="0" indent="0" algn="ctr">
              <a:buNone/>
            </a:pPr>
            <a:r>
              <a:rPr lang="en-US" sz="1200" b="1" dirty="0">
                <a:solidFill>
                  <a:srgbClr val="8B5CF6"/>
                </a:solidFill>
              </a:rPr>
              <a:t>Offline Attack Optimization</a:t>
            </a:r>
            <a:endParaRPr lang="en-US" sz="1200" dirty="0"/>
          </a:p>
        </p:txBody>
      </p:sp>
      <p:sp>
        <p:nvSpPr>
          <p:cNvPr id="99" name="Shape Bot"/>
          <p:cNvSpPr/>
          <p:nvPr/>
        </p:nvSpPr>
        <p:spPr>
          <a:xfrm>
            <a:off x="0" y="5065776"/>
            <a:ext cx="9144000" cy="73152"/>
          </a:xfrm>
          <a:prstGeom prst="rect">
            <a:avLst/>
          </a:prstGeom>
          <a:solidFill>
            <a:srgbClr val="2563EB"/>
          </a:solidFill>
          <a:ln w="12700">
            <a:solidFill>
              <a:srgbClr val="2563EB"/>
            </a:solidFill>
            <a:prstDash val="solid"/>
          </a:ln>
        </p:spPr>
        <p:txBody>
          <a:bodyPr/>
          <a:lstStyle/>
          <a:p>
            <a:endParaRPr lang="en-US"/>
          </a:p>
        </p:txBody>
      </p:sp>
      <p:pic>
        <p:nvPicPr>
          <p:cNvPr id="12" name="Picture 11"/>
          <p:cNvPicPr>
            <a:picLocks noChangeAspect="1"/>
          </p:cNvPicPr>
          <p:nvPr/>
        </p:nvPicPr>
        <p:blipFill>
          <a:blip r:embed="rId3"/>
          <a:stretch>
            <a:fillRect/>
          </a:stretch>
        </p:blipFill>
        <p:spPr>
          <a:xfrm>
            <a:off x="5529419" y="1083529"/>
            <a:ext cx="3224917" cy="1829556"/>
          </a:xfrm>
          <a:prstGeom prst="rect">
            <a:avLst/>
          </a:prstGeom>
        </p:spPr>
      </p:pic>
      <p:pic>
        <p:nvPicPr>
          <p:cNvPr id="14" name="Picture 13"/>
          <p:cNvPicPr>
            <a:picLocks noChangeAspect="1"/>
          </p:cNvPicPr>
          <p:nvPr/>
        </p:nvPicPr>
        <p:blipFill>
          <a:blip r:embed="rId4"/>
          <a:stretch>
            <a:fillRect/>
          </a:stretch>
        </p:blipFill>
        <p:spPr>
          <a:xfrm>
            <a:off x="5529419" y="3219956"/>
            <a:ext cx="3224917" cy="1722115"/>
          </a:xfrm>
          <a:prstGeom prst="rect">
            <a:avLst/>
          </a:prstGeom>
        </p:spPr>
      </p:pic>
      <p:pic>
        <p:nvPicPr>
          <p:cNvPr id="16" name="Picture 15"/>
          <p:cNvPicPr>
            <a:picLocks noChangeAspect="1"/>
          </p:cNvPicPr>
          <p:nvPr/>
        </p:nvPicPr>
        <p:blipFill>
          <a:blip r:embed="rId5"/>
          <a:stretch>
            <a:fillRect/>
          </a:stretch>
        </p:blipFill>
        <p:spPr>
          <a:xfrm>
            <a:off x="512064" y="1083529"/>
            <a:ext cx="4745282" cy="2787162"/>
          </a:xfrm>
          <a:prstGeom prst="rect">
            <a:avLst/>
          </a:prstGeom>
        </p:spPr>
      </p:pic>
      <p:sp>
        <p:nvSpPr>
          <p:cNvPr id="17" name="Text LAnnote"/>
          <p:cNvSpPr/>
          <p:nvPr/>
        </p:nvSpPr>
        <p:spPr>
          <a:xfrm>
            <a:off x="346320" y="4058467"/>
            <a:ext cx="5056388" cy="580896"/>
          </a:xfrm>
          <a:prstGeom prst="rect">
            <a:avLst/>
          </a:prstGeom>
          <a:noFill/>
        </p:spPr>
        <p:txBody>
          <a:bodyPr wrap="square" lIns="91440" tIns="45720" rIns="91440" bIns="0" rtlCol="0" anchor="t"/>
          <a:lstStyle/>
          <a:p>
            <a:pPr marL="0" indent="0" algn="ctr">
              <a:buNone/>
            </a:pPr>
            <a:r>
              <a:rPr lang="en-US" sz="1200" dirty="0">
                <a:solidFill>
                  <a:srgbClr val="94A3B8"/>
                </a:solidFill>
              </a:rPr>
              <a:t>Attacker flips bits in the PFN field of the OS page table, silently redirecting virtual address A1 (pointing to target weight block W1) to A2 (pointing to replacement block W2 already in DRAM).</a:t>
            </a:r>
          </a:p>
        </p:txBody>
      </p:sp>
      <p:sp>
        <p:nvSpPr>
          <p:cNvPr id="18" name="Text LCallout"/>
          <p:cNvSpPr/>
          <p:nvPr/>
        </p:nvSpPr>
        <p:spPr>
          <a:xfrm>
            <a:off x="554172" y="4716418"/>
            <a:ext cx="4351680" cy="256032"/>
          </a:xfrm>
          <a:prstGeom prst="rect">
            <a:avLst/>
          </a:prstGeom>
          <a:noFill/>
        </p:spPr>
        <p:txBody>
          <a:bodyPr wrap="square" lIns="91440" tIns="0" rIns="91440" bIns="0" rtlCol="0" anchor="ctr"/>
          <a:lstStyle/>
          <a:p>
            <a:pPr marL="0" indent="0" algn="ctr">
              <a:buNone/>
            </a:pPr>
            <a:r>
              <a:rPr lang="en-US" sz="1200" b="1" dirty="0">
                <a:solidFill>
                  <a:srgbClr val="22C55E"/>
                </a:solidFill>
              </a:rPr>
              <a:t>✓  Only k=5 address changes required — no training access needed</a:t>
            </a:r>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The Three-Strategy Attack Algorithm</a:t>
            </a:r>
            <a:endParaRPr lang="en-US" sz="2600" dirty="0"/>
          </a:p>
        </p:txBody>
      </p:sp>
      <p:sp>
        <p:nvSpPr>
          <p:cNvPr id="6" name="Shape 4"/>
          <p:cNvSpPr/>
          <p:nvPr/>
        </p:nvSpPr>
        <p:spPr>
          <a:xfrm>
            <a:off x="274320" y="960120"/>
            <a:ext cx="1645920" cy="1463040"/>
          </a:xfrm>
          <a:prstGeom prst="rect">
            <a:avLst/>
          </a:prstGeom>
          <a:solidFill>
            <a:srgbClr val="1A2A45"/>
          </a:solidFill>
          <a:ln w="1270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274320" y="960120"/>
            <a:ext cx="1645920" cy="274320"/>
          </a:xfrm>
          <a:prstGeom prst="rect">
            <a:avLst/>
          </a:prstGeom>
          <a:noFill/>
        </p:spPr>
        <p:txBody>
          <a:bodyPr wrap="square" lIns="0" tIns="0" rIns="0" bIns="0" rtlCol="0" anchor="ctr"/>
          <a:lstStyle/>
          <a:p>
            <a:pPr marL="0" indent="0" algn="ctr">
              <a:buNone/>
            </a:pPr>
            <a:r>
              <a:rPr lang="en-US" sz="1000" b="1" dirty="0">
                <a:solidFill>
                  <a:srgbClr val="3B82F6"/>
                </a:solidFill>
              </a:rPr>
              <a:t>INPUTS</a:t>
            </a:r>
            <a:endParaRPr lang="en-US" sz="1000" dirty="0"/>
          </a:p>
        </p:txBody>
      </p:sp>
      <p:sp>
        <p:nvSpPr>
          <p:cNvPr id="8" name="Text 6"/>
          <p:cNvSpPr/>
          <p:nvPr/>
        </p:nvSpPr>
        <p:spPr>
          <a:xfrm>
            <a:off x="356616" y="1179867"/>
            <a:ext cx="1554480" cy="1097280"/>
          </a:xfrm>
          <a:prstGeom prst="rect">
            <a:avLst/>
          </a:prstGeom>
          <a:noFill/>
        </p:spPr>
        <p:txBody>
          <a:bodyPr wrap="square" lIns="0" tIns="0" rIns="0" bIns="0" rtlCol="0" anchor="ctr"/>
          <a:lstStyle/>
          <a:p>
            <a:pPr marL="0" indent="0">
              <a:buNone/>
            </a:pPr>
            <a:r>
              <a:rPr lang="en-US" sz="1000" i="1" dirty="0">
                <a:solidFill>
                  <a:srgbClr val="22C55E"/>
                </a:solidFill>
              </a:rPr>
              <a:t>x</a:t>
            </a:r>
            <a:r>
              <a:rPr lang="en-US" sz="1000" dirty="0">
                <a:solidFill>
                  <a:srgbClr val="E2E8F0"/>
                </a:solidFill>
              </a:rPr>
              <a:t> (clean)
</a:t>
            </a:r>
            <a:r>
              <a:rPr lang="en-US" sz="1000" i="1" dirty="0">
                <a:solidFill>
                  <a:srgbClr val="EF4444"/>
                </a:solidFill>
              </a:rPr>
              <a:t>x̂</a:t>
            </a:r>
            <a:r>
              <a:rPr lang="en-US" sz="1000" dirty="0">
                <a:solidFill>
                  <a:srgbClr val="E2E8F0"/>
                </a:solidFill>
              </a:rPr>
              <a:t> (triggered)
</a:t>
            </a:r>
            <a:r>
              <a:rPr lang="en-US" sz="1000" dirty="0">
                <a:solidFill>
                  <a:srgbClr val="06B6D4"/>
                </a:solidFill>
              </a:rPr>
              <a:t>DNN F(·)
</a:t>
            </a:r>
            <a:r>
              <a:rPr lang="en-US" sz="1000" dirty="0">
                <a:solidFill>
                  <a:srgbClr val="F59E0B"/>
                </a:solidFill>
              </a:rPr>
              <a:t>Weights W</a:t>
            </a:r>
            <a:endParaRPr lang="en-US" sz="1000" dirty="0"/>
          </a:p>
        </p:txBody>
      </p:sp>
      <p:sp>
        <p:nvSpPr>
          <p:cNvPr id="9" name="Shape 7"/>
          <p:cNvSpPr/>
          <p:nvPr/>
        </p:nvSpPr>
        <p:spPr>
          <a:xfrm>
            <a:off x="1920240" y="1691640"/>
            <a:ext cx="365760" cy="0"/>
          </a:xfrm>
          <a:prstGeom prst="line">
            <a:avLst/>
          </a:prstGeom>
          <a:noFill/>
          <a:ln w="19050">
            <a:solidFill>
              <a:srgbClr val="94A3B8"/>
            </a:solidFill>
            <a:prstDash val="solid"/>
          </a:ln>
        </p:spPr>
        <p:txBody>
          <a:bodyPr/>
          <a:lstStyle/>
          <a:p>
            <a:endParaRPr lang="en-US"/>
          </a:p>
        </p:txBody>
      </p:sp>
      <p:sp>
        <p:nvSpPr>
          <p:cNvPr id="10" name="Shape 8"/>
          <p:cNvSpPr/>
          <p:nvPr/>
        </p:nvSpPr>
        <p:spPr>
          <a:xfrm>
            <a:off x="2286000" y="960120"/>
            <a:ext cx="1828800" cy="1463040"/>
          </a:xfrm>
          <a:prstGeom prst="rect">
            <a:avLst/>
          </a:prstGeom>
          <a:solidFill>
            <a:srgbClr val="162035"/>
          </a:solidFill>
          <a:ln w="1905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9"/>
          <p:cNvSpPr/>
          <p:nvPr/>
        </p:nvSpPr>
        <p:spPr>
          <a:xfrm>
            <a:off x="2286000" y="960120"/>
            <a:ext cx="1828800" cy="292608"/>
          </a:xfrm>
          <a:prstGeom prst="rect">
            <a:avLst/>
          </a:prstGeom>
          <a:solidFill>
            <a:srgbClr val="3B82F6"/>
          </a:solidFill>
          <a:ln w="12700">
            <a:solidFill>
              <a:srgbClr val="3B82F6"/>
            </a:solidFill>
            <a:prstDash val="solid"/>
          </a:ln>
        </p:spPr>
        <p:txBody>
          <a:bodyPr/>
          <a:lstStyle/>
          <a:p>
            <a:endParaRPr lang="en-US"/>
          </a:p>
        </p:txBody>
      </p:sp>
      <p:sp>
        <p:nvSpPr>
          <p:cNvPr id="12" name="Shape 10"/>
          <p:cNvSpPr/>
          <p:nvPr/>
        </p:nvSpPr>
        <p:spPr>
          <a:xfrm>
            <a:off x="2331720" y="978408"/>
            <a:ext cx="256032" cy="256032"/>
          </a:xfrm>
          <a:prstGeom prst="ellipse">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2331720" y="978408"/>
            <a:ext cx="256032" cy="256032"/>
          </a:xfrm>
          <a:prstGeom prst="rect">
            <a:avLst/>
          </a:prstGeom>
          <a:noFill/>
        </p:spPr>
        <p:txBody>
          <a:bodyPr wrap="square" lIns="0" tIns="0" rIns="0" bIns="0" rtlCol="0" anchor="ctr"/>
          <a:lstStyle/>
          <a:p>
            <a:pPr marL="0" indent="0" algn="ctr">
              <a:buNone/>
            </a:pPr>
            <a:r>
              <a:rPr lang="en-US" sz="1100" b="1" dirty="0">
                <a:solidFill>
                  <a:srgbClr val="3B82F6"/>
                </a:solidFill>
              </a:rPr>
              <a:t>1</a:t>
            </a:r>
            <a:endParaRPr lang="en-US" sz="1100" dirty="0"/>
          </a:p>
        </p:txBody>
      </p:sp>
      <p:sp>
        <p:nvSpPr>
          <p:cNvPr id="14" name="Text 12"/>
          <p:cNvSpPr/>
          <p:nvPr/>
        </p:nvSpPr>
        <p:spPr>
          <a:xfrm>
            <a:off x="2606040" y="978408"/>
            <a:ext cx="1463040" cy="274320"/>
          </a:xfrm>
          <a:prstGeom prst="rect">
            <a:avLst/>
          </a:prstGeom>
          <a:noFill/>
        </p:spPr>
        <p:txBody>
          <a:bodyPr wrap="square" lIns="0" tIns="0" rIns="0" bIns="0" rtlCol="0" anchor="ctr"/>
          <a:lstStyle/>
          <a:p>
            <a:pPr marL="0" indent="0">
              <a:buNone/>
            </a:pPr>
            <a:r>
              <a:rPr lang="en-US" sz="900" b="1" dirty="0">
                <a:solidFill>
                  <a:srgbClr val="FFFFFF"/>
                </a:solidFill>
              </a:rPr>
              <a:t>Target Block</a:t>
            </a:r>
            <a:endParaRPr lang="en-US" sz="900" dirty="0"/>
          </a:p>
          <a:p>
            <a:pPr marL="0" indent="0">
              <a:buNone/>
            </a:pPr>
            <a:r>
              <a:rPr lang="en-US" sz="900" b="1" dirty="0">
                <a:solidFill>
                  <a:srgbClr val="FFFFFF"/>
                </a:solidFill>
              </a:rPr>
              <a:t>Identification</a:t>
            </a:r>
            <a:endParaRPr lang="en-US" sz="900" dirty="0"/>
          </a:p>
        </p:txBody>
      </p:sp>
      <p:sp>
        <p:nvSpPr>
          <p:cNvPr id="15" name="Text 13"/>
          <p:cNvSpPr/>
          <p:nvPr/>
        </p:nvSpPr>
        <p:spPr>
          <a:xfrm>
            <a:off x="2331720" y="1385185"/>
            <a:ext cx="1691640" cy="921952"/>
          </a:xfrm>
          <a:prstGeom prst="rect">
            <a:avLst/>
          </a:prstGeom>
          <a:noFill/>
        </p:spPr>
        <p:txBody>
          <a:bodyPr wrap="square" lIns="0" tIns="0" rIns="0" bIns="0" rtlCol="0" anchor="ctr"/>
          <a:lstStyle/>
          <a:p>
            <a:pPr marL="0" indent="0">
              <a:buNone/>
            </a:pPr>
            <a:r>
              <a:rPr lang="en-US" sz="1000" dirty="0">
                <a:solidFill>
                  <a:srgbClr val="E2E8F0"/>
                </a:solidFill>
              </a:rPr>
              <a:t>ranking of weight</a:t>
            </a:r>
            <a:r>
              <a:rPr lang="en-US" sz="1000" dirty="0"/>
              <a:t> </a:t>
            </a:r>
            <a:r>
              <a:rPr lang="en-US" sz="1000" dirty="0">
                <a:solidFill>
                  <a:srgbClr val="E2E8F0"/>
                </a:solidFill>
              </a:rPr>
              <a:t>blocks via L2-norm</a:t>
            </a:r>
            <a:r>
              <a:rPr lang="en-US" sz="1000" dirty="0"/>
              <a:t> </a:t>
            </a:r>
            <a:r>
              <a:rPr lang="en-US" sz="1000" dirty="0">
                <a:solidFill>
                  <a:srgbClr val="E2E8F0"/>
                </a:solidFill>
              </a:rPr>
              <a:t>of ∇w </a:t>
            </a:r>
            <a:r>
              <a:rPr lang="en-US" sz="1000" dirty="0" err="1">
                <a:solidFill>
                  <a:srgbClr val="E2E8F0"/>
                </a:solidFill>
              </a:rPr>
              <a:t>L_trojan</a:t>
            </a:r>
            <a:endParaRPr lang="en-US" sz="1000" dirty="0">
              <a:solidFill>
                <a:srgbClr val="E2E8F0"/>
              </a:solidFill>
            </a:endParaRPr>
          </a:p>
          <a:p>
            <a:pPr marL="0" indent="0">
              <a:buNone/>
            </a:pPr>
            <a:endParaRPr lang="en-US" sz="1000" dirty="0"/>
          </a:p>
          <a:p>
            <a:pPr marL="0" indent="0">
              <a:buNone/>
            </a:pPr>
            <a:r>
              <a:rPr lang="en-US" sz="1000" dirty="0">
                <a:solidFill>
                  <a:srgbClr val="E2E8F0"/>
                </a:solidFill>
              </a:rPr>
              <a:t>Select top-k=5 blocks from last 5 layers (last layers most impactful on classification)</a:t>
            </a:r>
            <a:endParaRPr lang="en-US" sz="1000" dirty="0"/>
          </a:p>
        </p:txBody>
      </p:sp>
      <p:sp>
        <p:nvSpPr>
          <p:cNvPr id="16" name="Shape 14"/>
          <p:cNvSpPr/>
          <p:nvPr/>
        </p:nvSpPr>
        <p:spPr>
          <a:xfrm>
            <a:off x="4114800" y="1691640"/>
            <a:ext cx="320040" cy="0"/>
          </a:xfrm>
          <a:prstGeom prst="line">
            <a:avLst/>
          </a:prstGeom>
          <a:noFill/>
          <a:ln w="19050">
            <a:solidFill>
              <a:srgbClr val="94A3B8"/>
            </a:solidFill>
            <a:prstDash val="solid"/>
          </a:ln>
        </p:spPr>
        <p:txBody>
          <a:bodyPr/>
          <a:lstStyle/>
          <a:p>
            <a:endParaRPr lang="en-US"/>
          </a:p>
        </p:txBody>
      </p:sp>
      <p:sp>
        <p:nvSpPr>
          <p:cNvPr id="17" name="Shape 15"/>
          <p:cNvSpPr/>
          <p:nvPr/>
        </p:nvSpPr>
        <p:spPr>
          <a:xfrm>
            <a:off x="4434840" y="960120"/>
            <a:ext cx="1828800" cy="146304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18" name="Shape 16"/>
          <p:cNvSpPr/>
          <p:nvPr/>
        </p:nvSpPr>
        <p:spPr>
          <a:xfrm>
            <a:off x="4434840" y="960120"/>
            <a:ext cx="1828800" cy="292608"/>
          </a:xfrm>
          <a:prstGeom prst="rect">
            <a:avLst/>
          </a:prstGeom>
          <a:solidFill>
            <a:srgbClr val="F59E0B"/>
          </a:solidFill>
          <a:ln w="12700">
            <a:solidFill>
              <a:srgbClr val="F59E0B"/>
            </a:solidFill>
            <a:prstDash val="solid"/>
          </a:ln>
        </p:spPr>
        <p:txBody>
          <a:bodyPr/>
          <a:lstStyle/>
          <a:p>
            <a:endParaRPr lang="en-US"/>
          </a:p>
        </p:txBody>
      </p:sp>
      <p:sp>
        <p:nvSpPr>
          <p:cNvPr id="19" name="Shape 17"/>
          <p:cNvSpPr/>
          <p:nvPr/>
        </p:nvSpPr>
        <p:spPr>
          <a:xfrm>
            <a:off x="4480560" y="978408"/>
            <a:ext cx="256032" cy="256032"/>
          </a:xfrm>
          <a:prstGeom prst="ellipse">
            <a:avLst/>
          </a:prstGeom>
          <a:solidFill>
            <a:srgbClr val="FFFFFF"/>
          </a:solidFill>
          <a:ln w="12700">
            <a:solidFill>
              <a:srgbClr val="FFFFFF"/>
            </a:solidFill>
            <a:prstDash val="solid"/>
          </a:ln>
        </p:spPr>
        <p:txBody>
          <a:bodyPr/>
          <a:lstStyle/>
          <a:p>
            <a:endParaRPr lang="en-US"/>
          </a:p>
        </p:txBody>
      </p:sp>
      <p:sp>
        <p:nvSpPr>
          <p:cNvPr id="20" name="Text 18"/>
          <p:cNvSpPr/>
          <p:nvPr/>
        </p:nvSpPr>
        <p:spPr>
          <a:xfrm>
            <a:off x="4480560" y="978408"/>
            <a:ext cx="256032" cy="256032"/>
          </a:xfrm>
          <a:prstGeom prst="rect">
            <a:avLst/>
          </a:prstGeom>
          <a:noFill/>
        </p:spPr>
        <p:txBody>
          <a:bodyPr wrap="square" lIns="0" tIns="0" rIns="0" bIns="0" rtlCol="0" anchor="ctr"/>
          <a:lstStyle/>
          <a:p>
            <a:pPr marL="0" indent="0" algn="ctr">
              <a:buNone/>
            </a:pPr>
            <a:r>
              <a:rPr lang="en-US" sz="1100" b="1" dirty="0">
                <a:solidFill>
                  <a:srgbClr val="F59E0B"/>
                </a:solidFill>
              </a:rPr>
              <a:t>2</a:t>
            </a:r>
            <a:endParaRPr lang="en-US" sz="1100" dirty="0"/>
          </a:p>
        </p:txBody>
      </p:sp>
      <p:sp>
        <p:nvSpPr>
          <p:cNvPr id="21" name="Text 19"/>
          <p:cNvSpPr/>
          <p:nvPr/>
        </p:nvSpPr>
        <p:spPr>
          <a:xfrm>
            <a:off x="4754880" y="978408"/>
            <a:ext cx="1463040" cy="274320"/>
          </a:xfrm>
          <a:prstGeom prst="rect">
            <a:avLst/>
          </a:prstGeom>
          <a:noFill/>
        </p:spPr>
        <p:txBody>
          <a:bodyPr wrap="square" lIns="0" tIns="0" rIns="0" bIns="0" rtlCol="0" anchor="ctr"/>
          <a:lstStyle/>
          <a:p>
            <a:pPr marL="0" indent="0">
              <a:buNone/>
            </a:pPr>
            <a:r>
              <a:rPr lang="en-US" sz="900" b="1" dirty="0">
                <a:solidFill>
                  <a:srgbClr val="FFFFFF"/>
                </a:solidFill>
              </a:rPr>
              <a:t>Replacement</a:t>
            </a:r>
            <a:endParaRPr lang="en-US" sz="900" dirty="0"/>
          </a:p>
          <a:p>
            <a:pPr marL="0" indent="0">
              <a:buNone/>
            </a:pPr>
            <a:r>
              <a:rPr lang="en-US" sz="900" b="1" dirty="0">
                <a:solidFill>
                  <a:srgbClr val="FFFFFF"/>
                </a:solidFill>
              </a:rPr>
              <a:t>Block Search</a:t>
            </a:r>
            <a:endParaRPr lang="en-US" sz="900" dirty="0"/>
          </a:p>
        </p:txBody>
      </p:sp>
      <p:sp>
        <p:nvSpPr>
          <p:cNvPr id="22" name="Text 20"/>
          <p:cNvSpPr/>
          <p:nvPr/>
        </p:nvSpPr>
        <p:spPr>
          <a:xfrm>
            <a:off x="4480560" y="1285726"/>
            <a:ext cx="1691640" cy="1024128"/>
          </a:xfrm>
          <a:prstGeom prst="rect">
            <a:avLst/>
          </a:prstGeom>
          <a:noFill/>
        </p:spPr>
        <p:txBody>
          <a:bodyPr wrap="square" lIns="0" tIns="0" rIns="0" bIns="0" rtlCol="0" anchor="ctr"/>
          <a:lstStyle/>
          <a:p>
            <a:pPr marL="0" indent="0">
              <a:buNone/>
            </a:pPr>
            <a:r>
              <a:rPr lang="en-US" sz="1000" dirty="0">
                <a:solidFill>
                  <a:srgbClr val="E2E8F0"/>
                </a:solidFill>
              </a:rPr>
              <a:t>Optimize target</a:t>
            </a:r>
            <a:r>
              <a:rPr lang="en-US" sz="1000" dirty="0"/>
              <a:t> </a:t>
            </a:r>
            <a:r>
              <a:rPr lang="en-US" sz="1000" dirty="0">
                <a:solidFill>
                  <a:srgbClr val="E2E8F0"/>
                </a:solidFill>
              </a:rPr>
              <a:t>blocks; </a:t>
            </a:r>
          </a:p>
          <a:p>
            <a:pPr marL="0" indent="0">
              <a:buNone/>
            </a:pPr>
            <a:endParaRPr lang="en-US" sz="1000" dirty="0"/>
          </a:p>
          <a:p>
            <a:pPr marL="0" indent="0">
              <a:buNone/>
            </a:pPr>
            <a:r>
              <a:rPr lang="en-US" sz="1000" dirty="0">
                <a:solidFill>
                  <a:srgbClr val="E2E8F0"/>
                </a:solidFill>
              </a:rPr>
              <a:t>After optimization, select the feasible memory block closest to the ideal update</a:t>
            </a:r>
            <a:endParaRPr lang="en-US" sz="1000" dirty="0"/>
          </a:p>
          <a:p>
            <a:pPr marL="0" indent="0">
              <a:buNone/>
            </a:pPr>
            <a:endParaRPr lang="en-US" sz="1000" dirty="0"/>
          </a:p>
        </p:txBody>
      </p:sp>
      <p:sp>
        <p:nvSpPr>
          <p:cNvPr id="23" name="Shape 21"/>
          <p:cNvSpPr/>
          <p:nvPr/>
        </p:nvSpPr>
        <p:spPr>
          <a:xfrm>
            <a:off x="6263640" y="1691640"/>
            <a:ext cx="320040" cy="0"/>
          </a:xfrm>
          <a:prstGeom prst="line">
            <a:avLst/>
          </a:prstGeom>
          <a:noFill/>
          <a:ln w="19050">
            <a:solidFill>
              <a:srgbClr val="94A3B8"/>
            </a:solidFill>
            <a:prstDash val="solid"/>
          </a:ln>
        </p:spPr>
        <p:txBody>
          <a:bodyPr/>
          <a:lstStyle/>
          <a:p>
            <a:endParaRPr lang="en-US"/>
          </a:p>
        </p:txBody>
      </p:sp>
      <p:sp>
        <p:nvSpPr>
          <p:cNvPr id="24" name="Shape 22"/>
          <p:cNvSpPr/>
          <p:nvPr/>
        </p:nvSpPr>
        <p:spPr>
          <a:xfrm>
            <a:off x="6583680" y="960120"/>
            <a:ext cx="1828800" cy="1463040"/>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6583680" y="960120"/>
            <a:ext cx="1828800" cy="292608"/>
          </a:xfrm>
          <a:prstGeom prst="rect">
            <a:avLst/>
          </a:prstGeom>
          <a:solidFill>
            <a:srgbClr val="8B5CF6"/>
          </a:solidFill>
          <a:ln w="12700">
            <a:solidFill>
              <a:srgbClr val="8B5CF6"/>
            </a:solidFill>
            <a:prstDash val="solid"/>
          </a:ln>
        </p:spPr>
        <p:txBody>
          <a:bodyPr/>
          <a:lstStyle/>
          <a:p>
            <a:endParaRPr lang="en-US"/>
          </a:p>
        </p:txBody>
      </p:sp>
      <p:sp>
        <p:nvSpPr>
          <p:cNvPr id="26" name="Shape 24"/>
          <p:cNvSpPr/>
          <p:nvPr/>
        </p:nvSpPr>
        <p:spPr>
          <a:xfrm>
            <a:off x="6629400" y="978408"/>
            <a:ext cx="256032" cy="256032"/>
          </a:xfrm>
          <a:prstGeom prst="ellipse">
            <a:avLst/>
          </a:prstGeom>
          <a:solidFill>
            <a:srgbClr val="FFFFFF"/>
          </a:solidFill>
          <a:ln w="12700">
            <a:solidFill>
              <a:srgbClr val="FFFFFF"/>
            </a:solidFill>
            <a:prstDash val="solid"/>
          </a:ln>
        </p:spPr>
        <p:txBody>
          <a:bodyPr/>
          <a:lstStyle/>
          <a:p>
            <a:endParaRPr lang="en-US"/>
          </a:p>
        </p:txBody>
      </p:sp>
      <p:sp>
        <p:nvSpPr>
          <p:cNvPr id="27" name="Text 25"/>
          <p:cNvSpPr/>
          <p:nvPr/>
        </p:nvSpPr>
        <p:spPr>
          <a:xfrm>
            <a:off x="6629400" y="978408"/>
            <a:ext cx="256032" cy="256032"/>
          </a:xfrm>
          <a:prstGeom prst="rect">
            <a:avLst/>
          </a:prstGeom>
          <a:noFill/>
        </p:spPr>
        <p:txBody>
          <a:bodyPr wrap="square" lIns="0" tIns="0" rIns="0" bIns="0" rtlCol="0" anchor="ctr"/>
          <a:lstStyle/>
          <a:p>
            <a:pPr marL="0" indent="0" algn="ctr">
              <a:buNone/>
            </a:pPr>
            <a:r>
              <a:rPr lang="en-US" sz="1100" b="1" dirty="0">
                <a:solidFill>
                  <a:srgbClr val="8B5CF6"/>
                </a:solidFill>
              </a:rPr>
              <a:t>3</a:t>
            </a:r>
            <a:endParaRPr lang="en-US" sz="1100" dirty="0"/>
          </a:p>
        </p:txBody>
      </p:sp>
      <p:sp>
        <p:nvSpPr>
          <p:cNvPr id="28" name="Text 26"/>
          <p:cNvSpPr/>
          <p:nvPr/>
        </p:nvSpPr>
        <p:spPr>
          <a:xfrm>
            <a:off x="6903720" y="978408"/>
            <a:ext cx="1463040" cy="274320"/>
          </a:xfrm>
          <a:prstGeom prst="rect">
            <a:avLst/>
          </a:prstGeom>
          <a:noFill/>
        </p:spPr>
        <p:txBody>
          <a:bodyPr wrap="square" lIns="0" tIns="0" rIns="0" bIns="0" rtlCol="0" anchor="ctr"/>
          <a:lstStyle/>
          <a:p>
            <a:pPr marL="0" indent="0">
              <a:buNone/>
            </a:pPr>
            <a:r>
              <a:rPr lang="en-US" sz="900" b="1" dirty="0">
                <a:solidFill>
                  <a:srgbClr val="FFFFFF"/>
                </a:solidFill>
              </a:rPr>
              <a:t>Trigger</a:t>
            </a:r>
            <a:endParaRPr lang="en-US" sz="900" dirty="0"/>
          </a:p>
          <a:p>
            <a:pPr marL="0" indent="0">
              <a:buNone/>
            </a:pPr>
            <a:r>
              <a:rPr lang="en-US" sz="900" b="1" dirty="0">
                <a:solidFill>
                  <a:srgbClr val="FFFFFF"/>
                </a:solidFill>
              </a:rPr>
              <a:t>Enhancement</a:t>
            </a:r>
            <a:endParaRPr lang="en-US" sz="900" dirty="0"/>
          </a:p>
        </p:txBody>
      </p:sp>
      <p:sp>
        <p:nvSpPr>
          <p:cNvPr id="29" name="Text 27"/>
          <p:cNvSpPr/>
          <p:nvPr/>
        </p:nvSpPr>
        <p:spPr>
          <a:xfrm>
            <a:off x="6656832" y="1417320"/>
            <a:ext cx="1691640" cy="1024128"/>
          </a:xfrm>
          <a:prstGeom prst="rect">
            <a:avLst/>
          </a:prstGeom>
          <a:noFill/>
        </p:spPr>
        <p:txBody>
          <a:bodyPr wrap="square" lIns="0" tIns="0" rIns="0" bIns="0" rtlCol="0" anchor="ctr"/>
          <a:lstStyle/>
          <a:p>
            <a:pPr marL="0" indent="0">
              <a:buNone/>
            </a:pPr>
            <a:r>
              <a:rPr lang="en-US" sz="1000" dirty="0">
                <a:solidFill>
                  <a:srgbClr val="E2E8F0"/>
                </a:solidFill>
              </a:rPr>
              <a:t>Joint optimize with block search to maximize ASR</a:t>
            </a:r>
            <a:endParaRPr lang="en-US" sz="1000" dirty="0"/>
          </a:p>
          <a:p>
            <a:pPr marL="0" indent="0">
              <a:buNone/>
            </a:pPr>
            <a:r>
              <a:rPr lang="en-US" sz="1000" dirty="0">
                <a:solidFill>
                  <a:srgbClr val="E2E8F0"/>
                </a:solidFill>
              </a:rPr>
              <a:t>trigger constrains within valid pixel range [xmin, xmax] per channel to avoid artifacts</a:t>
            </a:r>
            <a:endParaRPr lang="en-US" sz="1000" dirty="0"/>
          </a:p>
          <a:p>
            <a:pPr marL="0" indent="0">
              <a:buNone/>
            </a:pPr>
            <a:endParaRPr lang="en-US" sz="1000" dirty="0"/>
          </a:p>
        </p:txBody>
      </p:sp>
      <p:sp>
        <p:nvSpPr>
          <p:cNvPr id="30" name="Shape 28"/>
          <p:cNvSpPr/>
          <p:nvPr/>
        </p:nvSpPr>
        <p:spPr>
          <a:xfrm>
            <a:off x="8412480" y="1691640"/>
            <a:ext cx="320040" cy="0"/>
          </a:xfrm>
          <a:prstGeom prst="line">
            <a:avLst/>
          </a:prstGeom>
          <a:noFill/>
          <a:ln w="19050">
            <a:solidFill>
              <a:srgbClr val="94A3B8"/>
            </a:solidFill>
            <a:prstDash val="solid"/>
          </a:ln>
        </p:spPr>
        <p:txBody>
          <a:bodyPr/>
          <a:lstStyle/>
          <a:p>
            <a:endParaRPr lang="en-US"/>
          </a:p>
        </p:txBody>
      </p:sp>
      <p:sp>
        <p:nvSpPr>
          <p:cNvPr id="31" name="Shape 29"/>
          <p:cNvSpPr/>
          <p:nvPr/>
        </p:nvSpPr>
        <p:spPr>
          <a:xfrm>
            <a:off x="8732520" y="1261872"/>
            <a:ext cx="0" cy="859536"/>
          </a:xfrm>
          <a:prstGeom prst="rect">
            <a:avLst/>
          </a:prstGeom>
          <a:solidFill>
            <a:srgbClr val="22C55E"/>
          </a:solidFill>
          <a:ln w="12700">
            <a:solidFill>
              <a:srgbClr val="22C55E"/>
            </a:solidFill>
            <a:prstDash val="solid"/>
          </a:ln>
        </p:spPr>
        <p:txBody>
          <a:bodyPr/>
          <a:lstStyle/>
          <a:p>
            <a:endParaRPr lang="en-US"/>
          </a:p>
        </p:txBody>
      </p:sp>
      <p:sp>
        <p:nvSpPr>
          <p:cNvPr id="32" name="Shape 30"/>
          <p:cNvSpPr/>
          <p:nvPr/>
        </p:nvSpPr>
        <p:spPr>
          <a:xfrm>
            <a:off x="274320" y="2578608"/>
            <a:ext cx="8595360" cy="713232"/>
          </a:xfrm>
          <a:prstGeom prst="rect">
            <a:avLst/>
          </a:prstGeom>
          <a:solidFill>
            <a:srgbClr val="1A2A45"/>
          </a:solidFill>
          <a:ln w="19050">
            <a:solidFill>
              <a:srgbClr val="EAB308"/>
            </a:solidFill>
            <a:prstDash val="solid"/>
          </a:ln>
          <a:effectLst>
            <a:outerShdw blurRad="101600" dist="38100" dir="8100000" algn="bl" rotWithShape="0">
              <a:srgbClr val="000000">
                <a:alpha val="25000"/>
              </a:srgbClr>
            </a:outerShdw>
          </a:effectLst>
        </p:spPr>
        <p:txBody>
          <a:bodyPr/>
          <a:lstStyle/>
          <a:p>
            <a:endParaRPr lang="en-US"/>
          </a:p>
        </p:txBody>
      </p:sp>
      <p:sp>
        <p:nvSpPr>
          <p:cNvPr id="33" name="Text 31"/>
          <p:cNvSpPr/>
          <p:nvPr/>
        </p:nvSpPr>
        <p:spPr>
          <a:xfrm>
            <a:off x="457200" y="2633472"/>
            <a:ext cx="2560320" cy="256032"/>
          </a:xfrm>
          <a:prstGeom prst="rect">
            <a:avLst/>
          </a:prstGeom>
          <a:noFill/>
        </p:spPr>
        <p:txBody>
          <a:bodyPr wrap="square" lIns="0" tIns="0" rIns="0" bIns="0" rtlCol="0" anchor="ctr"/>
          <a:lstStyle/>
          <a:p>
            <a:pPr marL="0" indent="0">
              <a:buNone/>
            </a:pPr>
            <a:r>
              <a:rPr lang="en-US" sz="1200" b="1" dirty="0">
                <a:solidFill>
                  <a:srgbClr val="EAB308"/>
                </a:solidFill>
              </a:rPr>
              <a:t>Combined Loss Function:</a:t>
            </a:r>
            <a:endParaRPr lang="en-US" sz="1200" dirty="0"/>
          </a:p>
        </p:txBody>
      </p:sp>
      <p:sp>
        <p:nvSpPr>
          <p:cNvPr id="34" name="Text 32"/>
          <p:cNvSpPr/>
          <p:nvPr/>
        </p:nvSpPr>
        <p:spPr>
          <a:xfrm>
            <a:off x="457200" y="2871216"/>
            <a:ext cx="7315200" cy="347472"/>
          </a:xfrm>
          <a:prstGeom prst="rect">
            <a:avLst/>
          </a:prstGeom>
          <a:noFill/>
        </p:spPr>
        <p:txBody>
          <a:bodyPr wrap="square" rtlCol="0" anchor="ctr"/>
          <a:lstStyle/>
          <a:p>
            <a:pPr marL="0" indent="0">
              <a:buNone/>
            </a:pPr>
            <a:r>
              <a:rPr lang="en-US" sz="1800" b="1" dirty="0">
                <a:solidFill>
                  <a:srgbClr val="EAB308"/>
                </a:solidFill>
                <a:latin typeface="Calibri" panose="020F0502020204030204" pitchFamily="34" charset="0"/>
                <a:ea typeface="Calibri" panose="020F0502020204030204" pitchFamily="34" charset="-122"/>
                <a:cs typeface="Calibri" panose="020F0502020204030204" pitchFamily="34" charset="-120"/>
              </a:rPr>
              <a:t>L</a:t>
            </a:r>
            <a:r>
              <a:rPr lang="en-US" sz="900" dirty="0">
                <a:solidFill>
                  <a:srgbClr val="EAB308"/>
                </a:solidFill>
                <a:latin typeface="Calibri" panose="020F0502020204030204" pitchFamily="34" charset="0"/>
                <a:ea typeface="Calibri" panose="020F0502020204030204" pitchFamily="34" charset="-122"/>
                <a:cs typeface="Calibri" panose="020F0502020204030204" pitchFamily="34" charset="-120"/>
              </a:rPr>
              <a:t>Deep-TROJ</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  L</a:t>
            </a:r>
            <a:r>
              <a:rPr lang="en-US" sz="900" dirty="0">
                <a:solidFill>
                  <a:srgbClr val="E2E8F0"/>
                </a:solidFill>
                <a:latin typeface="Calibri" panose="020F0502020204030204" pitchFamily="34" charset="0"/>
                <a:ea typeface="Calibri" panose="020F0502020204030204" pitchFamily="34" charset="-122"/>
                <a:cs typeface="Calibri" panose="020F0502020204030204" pitchFamily="34" charset="-120"/>
              </a:rPr>
              <a:t>trojan</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  α · L</a:t>
            </a:r>
            <a:r>
              <a:rPr lang="en-US" sz="900" dirty="0">
                <a:solidFill>
                  <a:srgbClr val="F59E0B"/>
                </a:solidFill>
                <a:latin typeface="Calibri" panose="020F0502020204030204" pitchFamily="34" charset="0"/>
                <a:ea typeface="Calibri" panose="020F0502020204030204" pitchFamily="34" charset="-122"/>
                <a:cs typeface="Calibri" panose="020F0502020204030204" pitchFamily="34" charset="-120"/>
              </a:rPr>
              <a:t>constraint</a:t>
            </a:r>
            <a:r>
              <a:rPr lang="en-US" sz="1800" dirty="0">
                <a:solidFill>
                  <a:srgbClr val="E2E8F0"/>
                </a:solidFill>
                <a:latin typeface="Calibri" panose="020F0502020204030204" pitchFamily="34" charset="0"/>
                <a:ea typeface="Calibri" panose="020F0502020204030204" pitchFamily="34" charset="-122"/>
                <a:cs typeface="Calibri" panose="020F0502020204030204" pitchFamily="34" charset="-120"/>
              </a:rPr>
              <a:t>  +  β · L</a:t>
            </a:r>
            <a:r>
              <a:rPr lang="en-US" sz="900" dirty="0">
                <a:solidFill>
                  <a:srgbClr val="8B5CF6"/>
                </a:solidFill>
                <a:latin typeface="Calibri" panose="020F0502020204030204" pitchFamily="34" charset="0"/>
                <a:ea typeface="Calibri" panose="020F0502020204030204" pitchFamily="34" charset="-122"/>
                <a:cs typeface="Calibri" panose="020F0502020204030204" pitchFamily="34" charset="-120"/>
              </a:rPr>
              <a:t>trigger</a:t>
            </a:r>
            <a:endParaRPr lang="en-US" sz="1800" dirty="0"/>
          </a:p>
        </p:txBody>
      </p:sp>
      <p:sp>
        <p:nvSpPr>
          <p:cNvPr id="35" name="Text 33"/>
          <p:cNvSpPr/>
          <p:nvPr/>
        </p:nvSpPr>
        <p:spPr>
          <a:xfrm>
            <a:off x="274320" y="3255264"/>
            <a:ext cx="8229600" cy="256032"/>
          </a:xfrm>
          <a:prstGeom prst="rect">
            <a:avLst/>
          </a:prstGeom>
          <a:noFill/>
        </p:spPr>
        <p:txBody>
          <a:bodyPr wrap="square" lIns="0" tIns="0" rIns="0" bIns="0" rtlCol="0" anchor="ctr"/>
          <a:lstStyle/>
          <a:p>
            <a:pPr marL="0" indent="0">
              <a:buNone/>
            </a:pPr>
            <a:r>
              <a:rPr lang="en-US" sz="1100" i="1" dirty="0">
                <a:solidFill>
                  <a:srgbClr val="94A3B8"/>
                </a:solidFill>
              </a:rPr>
              <a:t>Joint minimization: min𝓌t,Δ LDeep-TROJ with α=β=1, batch=128, 10 epochs (CIFAR) / 5 epochs (ImageNet)</a:t>
            </a:r>
            <a:endParaRPr lang="en-US" sz="1100" dirty="0"/>
          </a:p>
        </p:txBody>
      </p:sp>
      <p:sp>
        <p:nvSpPr>
          <p:cNvPr id="36" name="Shape 34"/>
          <p:cNvSpPr/>
          <p:nvPr/>
        </p:nvSpPr>
        <p:spPr>
          <a:xfrm>
            <a:off x="274320" y="3584448"/>
            <a:ext cx="8595360" cy="1511013"/>
          </a:xfrm>
          <a:prstGeom prst="rect">
            <a:avLst/>
          </a:prstGeom>
          <a:solidFill>
            <a:srgbClr val="162035"/>
          </a:solidFill>
          <a:ln w="1270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37" name="Text 35"/>
          <p:cNvSpPr/>
          <p:nvPr/>
        </p:nvSpPr>
        <p:spPr>
          <a:xfrm>
            <a:off x="457200" y="3657600"/>
            <a:ext cx="3657600" cy="256032"/>
          </a:xfrm>
          <a:prstGeom prst="rect">
            <a:avLst/>
          </a:prstGeom>
          <a:noFill/>
        </p:spPr>
        <p:txBody>
          <a:bodyPr wrap="square" lIns="0" tIns="0" rIns="0" bIns="0" rtlCol="0" anchor="ctr"/>
          <a:lstStyle/>
          <a:p>
            <a:pPr marL="0" indent="0">
              <a:buNone/>
            </a:pPr>
            <a:r>
              <a:rPr lang="en-US" sz="1200" b="1" dirty="0">
                <a:solidFill>
                  <a:srgbClr val="06B6D4"/>
                </a:solidFill>
              </a:rPr>
              <a:t>Algorithm : Deep-TROJ</a:t>
            </a:r>
            <a:endParaRPr lang="en-US" sz="1200" dirty="0"/>
          </a:p>
        </p:txBody>
      </p:sp>
      <p:sp>
        <p:nvSpPr>
          <p:cNvPr id="38" name="Text 36"/>
          <p:cNvSpPr/>
          <p:nvPr/>
        </p:nvSpPr>
        <p:spPr>
          <a:xfrm>
            <a:off x="448056" y="3895344"/>
            <a:ext cx="8321040" cy="1200117"/>
          </a:xfrm>
          <a:prstGeom prst="rect">
            <a:avLst/>
          </a:prstGeom>
          <a:noFill/>
        </p:spPr>
        <p:txBody>
          <a:bodyPr wrap="square" lIns="0" tIns="0" rIns="0" bIns="0" rtlCol="0" anchor="t"/>
          <a:lstStyle/>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1.  Compute gi = Σn ∇wi Ltrojan over n=100 iters; select top-k=5 blocks by rank(wi)=‖gi‖2</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2.  Freeze all wi ∉ Wt; initialize trigger Δ randomly; restrict search to last 5 feature layers</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3.  For each epoch / batch: generate x̂ = (1-m)x + mΔ;  minimize LDeep-TROJ jointly over {Ŵt, Δ}</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   a.  LDeep-TROJ = Ltrojan + α·Lconstraint + β·Ltrigger; Ltrojan = LCE(F(x),y) + LCE(F(x̂),yt)</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   b.  At epoch end: wr = argmax wi≠wt ŵt𝐋wi (dot-product) selects nearest feasible block</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4.  Post-optimization: locate DRAM addresses of {wt, wr}; flip PFN bits via RowHammer to redirect A1 → A2</a:t>
            </a:r>
            <a:endParaRPr lang="en-US" sz="1000" dirty="0"/>
          </a:p>
          <a:p>
            <a:pPr marL="0" indent="0">
              <a:lnSpc>
                <a:spcPct val="110000"/>
              </a:lnSpc>
              <a:buNone/>
            </a:pPr>
            <a:r>
              <a:rPr lang="en-US" sz="1000" dirty="0">
                <a:solidFill>
                  <a:srgbClr val="E2E8F0"/>
                </a:solidFill>
                <a:ea typeface="Courier New" panose="02070309020205020404" pitchFamily="34" charset="-122"/>
                <a:cs typeface="Courier New" panose="02070309020205020404" pitchFamily="34" charset="-120"/>
              </a:rPr>
              <a:t>5.  Result: wt silently replaced by wr at inference; attacker deploys trigger Δ on any input to force class yt</a:t>
            </a:r>
            <a:endParaRPr lang="en-US" sz="10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1401318"/>
            <a:ext cx="5742432" cy="3689604"/>
          </a:xfrm>
          <a:prstGeom prst="rect">
            <a:avLst/>
          </a:prstGeom>
        </p:spPr>
      </p:pic>
      <p:sp>
        <p:nvSpPr>
          <p:cNvPr id="4" name="Shape 1"/>
          <p:cNvSpPr/>
          <p:nvPr/>
        </p:nvSpPr>
        <p:spPr>
          <a:xfrm>
            <a:off x="0" y="0"/>
            <a:ext cx="5742432" cy="1837940"/>
          </a:xfrm>
          <a:prstGeom prst="rect">
            <a:avLst/>
          </a:prstGeom>
          <a:solidFill>
            <a:srgbClr val="050E1C">
              <a:alpha val="85000"/>
            </a:srgbClr>
          </a:solidFill>
          <a:ln w="12700">
            <a:solidFill>
              <a:srgbClr val="050E1C">
                <a:alpha val="85000"/>
              </a:srgbClr>
            </a:solidFill>
            <a:prstDash val="solid"/>
          </a:ln>
        </p:spPr>
        <p:txBody>
          <a:bodyPr/>
          <a:lstStyle/>
          <a:p>
            <a:endParaRPr lang="en-US"/>
          </a:p>
        </p:txBody>
      </p:sp>
      <p:sp>
        <p:nvSpPr>
          <p:cNvPr id="5" name="Shape 2"/>
          <p:cNvSpPr/>
          <p:nvPr/>
        </p:nvSpPr>
        <p:spPr>
          <a:xfrm>
            <a:off x="0" y="4133088"/>
            <a:ext cx="5742432" cy="1005840"/>
          </a:xfrm>
          <a:prstGeom prst="rect">
            <a:avLst/>
          </a:prstGeom>
          <a:solidFill>
            <a:srgbClr val="050E1C">
              <a:alpha val="90000"/>
            </a:srgbClr>
          </a:solidFill>
          <a:ln w="12700">
            <a:solidFill>
              <a:srgbClr val="050E1C">
                <a:alpha val="90000"/>
              </a:srgbClr>
            </a:solidFill>
            <a:prstDash val="solid"/>
          </a:ln>
        </p:spPr>
        <p:txBody>
          <a:bodyPr/>
          <a:lstStyle/>
          <a:p>
            <a:endParaRPr lang="en-US"/>
          </a:p>
        </p:txBody>
      </p:sp>
      <p:sp>
        <p:nvSpPr>
          <p:cNvPr id="6" name="Shape 3"/>
          <p:cNvSpPr/>
          <p:nvPr/>
        </p:nvSpPr>
        <p:spPr>
          <a:xfrm>
            <a:off x="384048" y="274320"/>
            <a:ext cx="1426464" cy="228600"/>
          </a:xfrm>
          <a:prstGeom prst="rect">
            <a:avLst/>
          </a:prstGeom>
          <a:solidFill>
            <a:srgbClr val="00C9A7"/>
          </a:solidFill>
          <a:ln w="12700">
            <a:solidFill>
              <a:srgbClr val="00C9A7"/>
            </a:solidFill>
            <a:prstDash val="solid"/>
          </a:ln>
        </p:spPr>
        <p:txBody>
          <a:bodyPr/>
          <a:lstStyle/>
          <a:p>
            <a:endParaRPr lang="en-US"/>
          </a:p>
        </p:txBody>
      </p:sp>
      <p:sp>
        <p:nvSpPr>
          <p:cNvPr id="7" name="Text 4"/>
          <p:cNvSpPr/>
          <p:nvPr/>
        </p:nvSpPr>
        <p:spPr>
          <a:xfrm>
            <a:off x="384048" y="274320"/>
            <a:ext cx="1426464" cy="228600"/>
          </a:xfrm>
          <a:prstGeom prst="rect">
            <a:avLst/>
          </a:prstGeom>
          <a:noFill/>
          <a:ln/>
        </p:spPr>
        <p:txBody>
          <a:bodyPr wrap="square" lIns="0" tIns="0" rIns="0" bIns="0" rtlCol="0" anchor="ctr"/>
          <a:lstStyle/>
          <a:p>
            <a:pPr marL="0" indent="0" algn="ctr">
              <a:buNone/>
            </a:pPr>
            <a:r>
              <a:rPr lang="en-US" sz="850" b="1" kern="0" spc="200" dirty="0">
                <a:solidFill>
                  <a:srgbClr val="050E1C"/>
                </a:solidFill>
                <a:latin typeface="Calibri" pitchFamily="34" charset="0"/>
                <a:ea typeface="Calibri" pitchFamily="34" charset="-122"/>
                <a:cs typeface="Calibri" pitchFamily="34" charset="-120"/>
              </a:rPr>
              <a:t>DRAM BENDER</a:t>
            </a:r>
            <a:endParaRPr lang="en-US" sz="850" dirty="0"/>
          </a:p>
        </p:txBody>
      </p:sp>
      <p:sp>
        <p:nvSpPr>
          <p:cNvPr id="8" name="Text 5"/>
          <p:cNvSpPr/>
          <p:nvPr/>
        </p:nvSpPr>
        <p:spPr>
          <a:xfrm>
            <a:off x="384048" y="566928"/>
            <a:ext cx="5120640" cy="457200"/>
          </a:xfrm>
          <a:prstGeom prst="rect">
            <a:avLst/>
          </a:prstGeom>
          <a:noFill/>
          <a:ln/>
        </p:spPr>
        <p:txBody>
          <a:bodyPr wrap="square" lIns="0" tIns="0" rIns="0" bIns="0" rtlCol="0" anchor="ctr"/>
          <a:lstStyle/>
          <a:p>
            <a:pPr marL="0" indent="0">
              <a:buNone/>
            </a:pPr>
            <a:r>
              <a:rPr lang="en-US" sz="3300" b="1" dirty="0">
                <a:solidFill>
                  <a:srgbClr val="FFFFFF"/>
                </a:solidFill>
                <a:latin typeface="Calibri" pitchFamily="34" charset="0"/>
                <a:ea typeface="Calibri" pitchFamily="34" charset="-122"/>
                <a:cs typeface="Calibri" pitchFamily="34" charset="-120"/>
              </a:rPr>
              <a:t>Experimental</a:t>
            </a:r>
            <a:endParaRPr lang="en-US" sz="3300" dirty="0"/>
          </a:p>
        </p:txBody>
      </p:sp>
      <p:sp>
        <p:nvSpPr>
          <p:cNvPr id="9" name="Text 6"/>
          <p:cNvSpPr/>
          <p:nvPr/>
        </p:nvSpPr>
        <p:spPr>
          <a:xfrm>
            <a:off x="384048" y="996696"/>
            <a:ext cx="5120640" cy="457200"/>
          </a:xfrm>
          <a:prstGeom prst="rect">
            <a:avLst/>
          </a:prstGeom>
          <a:noFill/>
          <a:ln/>
        </p:spPr>
        <p:txBody>
          <a:bodyPr wrap="square" lIns="0" tIns="0" rIns="0" bIns="0" rtlCol="0" anchor="ctr"/>
          <a:lstStyle/>
          <a:p>
            <a:pPr marL="0" indent="0">
              <a:buNone/>
            </a:pPr>
            <a:r>
              <a:rPr lang="en-US" sz="3300" b="1" dirty="0">
                <a:solidFill>
                  <a:srgbClr val="00C9A7"/>
                </a:solidFill>
                <a:latin typeface="Calibri" pitchFamily="34" charset="0"/>
                <a:ea typeface="Calibri" pitchFamily="34" charset="-122"/>
                <a:cs typeface="Calibri" pitchFamily="34" charset="-120"/>
              </a:rPr>
              <a:t>Platform &amp; Setup</a:t>
            </a:r>
            <a:endParaRPr lang="en-US" sz="3300" dirty="0"/>
          </a:p>
        </p:txBody>
      </p:sp>
      <p:sp>
        <p:nvSpPr>
          <p:cNvPr id="10" name="Text 7"/>
          <p:cNvSpPr/>
          <p:nvPr/>
        </p:nvSpPr>
        <p:spPr>
          <a:xfrm>
            <a:off x="384048" y="1508760"/>
            <a:ext cx="5029200" cy="256032"/>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FPGA-based DRAM characterization for RowHammer &amp; RowPress profiling</a:t>
            </a:r>
            <a:endParaRPr lang="en-US" sz="1100" dirty="0"/>
          </a:p>
        </p:txBody>
      </p:sp>
      <p:sp>
        <p:nvSpPr>
          <p:cNvPr id="11" name="Text 8"/>
          <p:cNvSpPr/>
          <p:nvPr/>
        </p:nvSpPr>
        <p:spPr>
          <a:xfrm>
            <a:off x="384048" y="4206240"/>
            <a:ext cx="5029200" cy="201168"/>
          </a:xfrm>
          <a:prstGeom prst="rect">
            <a:avLst/>
          </a:prstGeom>
          <a:noFill/>
          <a:ln/>
        </p:spPr>
        <p:txBody>
          <a:bodyPr wrap="square" lIns="0" tIns="0" rIns="0" bIns="0" rtlCol="0" anchor="ctr"/>
          <a:lstStyle/>
          <a:p>
            <a:pPr marL="0" indent="0">
              <a:buNone/>
            </a:pPr>
            <a:r>
              <a:rPr lang="en-US" sz="900" b="1" dirty="0">
                <a:solidFill>
                  <a:srgbClr val="94A3B8"/>
                </a:solidFill>
                <a:latin typeface="Calibri" pitchFamily="34" charset="0"/>
                <a:ea typeface="Calibri" pitchFamily="34" charset="-122"/>
                <a:cs typeface="Calibri" pitchFamily="34" charset="-120"/>
              </a:rPr>
              <a:t>Key hardware components:</a:t>
            </a:r>
            <a:endParaRPr lang="en-US" sz="900" dirty="0"/>
          </a:p>
        </p:txBody>
      </p:sp>
      <p:sp>
        <p:nvSpPr>
          <p:cNvPr id="12" name="Shape 9"/>
          <p:cNvSpPr/>
          <p:nvPr/>
        </p:nvSpPr>
        <p:spPr>
          <a:xfrm>
            <a:off x="384048" y="4425696"/>
            <a:ext cx="1828800" cy="237744"/>
          </a:xfrm>
          <a:prstGeom prst="rect">
            <a:avLst/>
          </a:prstGeom>
          <a:solidFill>
            <a:srgbClr val="F97316">
              <a:alpha val="70000"/>
            </a:srgbClr>
          </a:solidFill>
          <a:ln w="7620">
            <a:solidFill>
              <a:srgbClr val="F97316"/>
            </a:solidFill>
            <a:prstDash val="solid"/>
          </a:ln>
        </p:spPr>
        <p:txBody>
          <a:bodyPr/>
          <a:lstStyle/>
          <a:p>
            <a:endParaRPr lang="en-US"/>
          </a:p>
        </p:txBody>
      </p:sp>
      <p:sp>
        <p:nvSpPr>
          <p:cNvPr id="13" name="Text 10"/>
          <p:cNvSpPr/>
          <p:nvPr/>
        </p:nvSpPr>
        <p:spPr>
          <a:xfrm>
            <a:off x="457200" y="4425696"/>
            <a:ext cx="1719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Xilinx U200 FPGA</a:t>
            </a:r>
            <a:endParaRPr lang="en-US" sz="850" dirty="0"/>
          </a:p>
        </p:txBody>
      </p:sp>
      <p:sp>
        <p:nvSpPr>
          <p:cNvPr id="14" name="Shape 11"/>
          <p:cNvSpPr/>
          <p:nvPr/>
        </p:nvSpPr>
        <p:spPr>
          <a:xfrm>
            <a:off x="2377440" y="4425696"/>
            <a:ext cx="1828800" cy="237744"/>
          </a:xfrm>
          <a:prstGeom prst="rect">
            <a:avLst/>
          </a:prstGeom>
          <a:solidFill>
            <a:srgbClr val="38BDF8">
              <a:alpha val="70000"/>
            </a:srgbClr>
          </a:solidFill>
          <a:ln w="7620">
            <a:solidFill>
              <a:srgbClr val="38BDF8"/>
            </a:solidFill>
            <a:prstDash val="solid"/>
          </a:ln>
        </p:spPr>
        <p:txBody>
          <a:bodyPr/>
          <a:lstStyle/>
          <a:p>
            <a:endParaRPr lang="en-US"/>
          </a:p>
        </p:txBody>
      </p:sp>
      <p:sp>
        <p:nvSpPr>
          <p:cNvPr id="15" name="Text 12"/>
          <p:cNvSpPr/>
          <p:nvPr/>
        </p:nvSpPr>
        <p:spPr>
          <a:xfrm>
            <a:off x="2450592" y="4425696"/>
            <a:ext cx="1719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DDR4 DRAM modules</a:t>
            </a:r>
            <a:endParaRPr lang="en-US" sz="850" dirty="0"/>
          </a:p>
        </p:txBody>
      </p:sp>
      <p:sp>
        <p:nvSpPr>
          <p:cNvPr id="16" name="Shape 13"/>
          <p:cNvSpPr/>
          <p:nvPr/>
        </p:nvSpPr>
        <p:spPr>
          <a:xfrm>
            <a:off x="384048" y="4736592"/>
            <a:ext cx="1828800" cy="237744"/>
          </a:xfrm>
          <a:prstGeom prst="rect">
            <a:avLst/>
          </a:prstGeom>
          <a:solidFill>
            <a:srgbClr val="4ADE80">
              <a:alpha val="70000"/>
            </a:srgbClr>
          </a:solidFill>
          <a:ln w="7620">
            <a:solidFill>
              <a:srgbClr val="4ADE80"/>
            </a:solidFill>
            <a:prstDash val="solid"/>
          </a:ln>
        </p:spPr>
        <p:txBody>
          <a:bodyPr/>
          <a:lstStyle/>
          <a:p>
            <a:endParaRPr lang="en-US"/>
          </a:p>
        </p:txBody>
      </p:sp>
      <p:sp>
        <p:nvSpPr>
          <p:cNvPr id="17" name="Text 14"/>
          <p:cNvSpPr/>
          <p:nvPr/>
        </p:nvSpPr>
        <p:spPr>
          <a:xfrm>
            <a:off x="457200" y="4736592"/>
            <a:ext cx="1719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Host machine (PCIe)</a:t>
            </a:r>
            <a:endParaRPr lang="en-US" sz="850" dirty="0"/>
          </a:p>
        </p:txBody>
      </p:sp>
      <p:sp>
        <p:nvSpPr>
          <p:cNvPr id="18" name="Shape 15"/>
          <p:cNvSpPr/>
          <p:nvPr/>
        </p:nvSpPr>
        <p:spPr>
          <a:xfrm>
            <a:off x="2377440" y="4736592"/>
            <a:ext cx="1828800" cy="237744"/>
          </a:xfrm>
          <a:prstGeom prst="rect">
            <a:avLst/>
          </a:prstGeom>
          <a:solidFill>
            <a:srgbClr val="A78BFA">
              <a:alpha val="70000"/>
            </a:srgbClr>
          </a:solidFill>
          <a:ln w="7620">
            <a:solidFill>
              <a:srgbClr val="A78BFA"/>
            </a:solidFill>
            <a:prstDash val="solid"/>
          </a:ln>
        </p:spPr>
        <p:txBody>
          <a:bodyPr/>
          <a:lstStyle/>
          <a:p>
            <a:endParaRPr lang="en-US"/>
          </a:p>
        </p:txBody>
      </p:sp>
      <p:sp>
        <p:nvSpPr>
          <p:cNvPr id="19" name="Text 16"/>
          <p:cNvSpPr/>
          <p:nvPr/>
        </p:nvSpPr>
        <p:spPr>
          <a:xfrm>
            <a:off x="2450592" y="4736592"/>
            <a:ext cx="1719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Temp ctrl  25°C / 45°C</a:t>
            </a:r>
            <a:endParaRPr lang="en-US" sz="850" dirty="0"/>
          </a:p>
        </p:txBody>
      </p:sp>
      <p:sp>
        <p:nvSpPr>
          <p:cNvPr id="20" name="Shape 17"/>
          <p:cNvSpPr/>
          <p:nvPr/>
        </p:nvSpPr>
        <p:spPr>
          <a:xfrm>
            <a:off x="5742432" y="0"/>
            <a:ext cx="3401568" cy="5143500"/>
          </a:xfrm>
          <a:prstGeom prst="rect">
            <a:avLst/>
          </a:prstGeom>
          <a:solidFill>
            <a:srgbClr val="0D1F35"/>
          </a:solidFill>
          <a:ln w="12700">
            <a:solidFill>
              <a:srgbClr val="0D1F35"/>
            </a:solidFill>
            <a:prstDash val="solid"/>
          </a:ln>
        </p:spPr>
        <p:txBody>
          <a:bodyPr/>
          <a:lstStyle/>
          <a:p>
            <a:endParaRPr lang="en-US"/>
          </a:p>
        </p:txBody>
      </p:sp>
      <p:sp>
        <p:nvSpPr>
          <p:cNvPr id="21" name="Shape 18"/>
          <p:cNvSpPr/>
          <p:nvPr/>
        </p:nvSpPr>
        <p:spPr>
          <a:xfrm>
            <a:off x="5742432" y="0"/>
            <a:ext cx="3401568" cy="36576"/>
          </a:xfrm>
          <a:prstGeom prst="rect">
            <a:avLst/>
          </a:prstGeom>
          <a:solidFill>
            <a:srgbClr val="00C9A7"/>
          </a:solidFill>
          <a:ln w="12700">
            <a:solidFill>
              <a:srgbClr val="00C9A7"/>
            </a:solidFill>
            <a:prstDash val="solid"/>
          </a:ln>
        </p:spPr>
        <p:txBody>
          <a:bodyPr/>
          <a:lstStyle/>
          <a:p>
            <a:endParaRPr lang="en-US"/>
          </a:p>
        </p:txBody>
      </p:sp>
      <p:sp>
        <p:nvSpPr>
          <p:cNvPr id="22" name="Text 19"/>
          <p:cNvSpPr/>
          <p:nvPr/>
        </p:nvSpPr>
        <p:spPr>
          <a:xfrm>
            <a:off x="5888736" y="164592"/>
            <a:ext cx="3090672"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What is DRAM Bender?</a:t>
            </a:r>
            <a:endParaRPr lang="en-US" sz="1350" dirty="0"/>
          </a:p>
        </p:txBody>
      </p:sp>
      <p:sp>
        <p:nvSpPr>
          <p:cNvPr id="23" name="Text 20"/>
          <p:cNvSpPr/>
          <p:nvPr/>
        </p:nvSpPr>
        <p:spPr>
          <a:xfrm>
            <a:off x="5888736" y="475488"/>
            <a:ext cx="3090672" cy="694944"/>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Open-source FPGA infrastructure that sends arbitrary commands to DRAM modules with cycle-level precision — enabling systematic characterization of RowHammer and RowPress bit-flip vulnerabilities.</a:t>
            </a:r>
            <a:endParaRPr lang="en-US" sz="950" dirty="0"/>
          </a:p>
        </p:txBody>
      </p:sp>
      <p:sp>
        <p:nvSpPr>
          <p:cNvPr id="24" name="Shape 21"/>
          <p:cNvSpPr/>
          <p:nvPr/>
        </p:nvSpPr>
        <p:spPr>
          <a:xfrm>
            <a:off x="5888736" y="1225296"/>
            <a:ext cx="2907792" cy="0"/>
          </a:xfrm>
          <a:prstGeom prst="line">
            <a:avLst/>
          </a:prstGeom>
          <a:noFill/>
          <a:ln w="8890">
            <a:solidFill>
              <a:srgbClr val="1E3A5F"/>
            </a:solidFill>
            <a:prstDash val="solid"/>
          </a:ln>
        </p:spPr>
        <p:txBody>
          <a:bodyPr/>
          <a:lstStyle/>
          <a:p>
            <a:endParaRPr lang="en-US"/>
          </a:p>
        </p:txBody>
      </p:sp>
      <p:sp>
        <p:nvSpPr>
          <p:cNvPr id="25" name="Shape 22"/>
          <p:cNvSpPr/>
          <p:nvPr/>
        </p:nvSpPr>
        <p:spPr>
          <a:xfrm>
            <a:off x="5888736" y="1389888"/>
            <a:ext cx="292608" cy="292608"/>
          </a:xfrm>
          <a:prstGeom prst="rect">
            <a:avLst/>
          </a:prstGeom>
          <a:solidFill>
            <a:srgbClr val="00C9A7">
              <a:alpha val="28000"/>
            </a:srgbClr>
          </a:solidFill>
          <a:ln w="6350">
            <a:solidFill>
              <a:srgbClr val="00C9A7"/>
            </a:solidFill>
            <a:prstDash val="solid"/>
          </a:ln>
        </p:spPr>
        <p:txBody>
          <a:bodyPr/>
          <a:lstStyle/>
          <a:p>
            <a:endParaRPr lang="en-US"/>
          </a:p>
        </p:txBody>
      </p:sp>
      <p:sp>
        <p:nvSpPr>
          <p:cNvPr id="26" name="Text 23"/>
          <p:cNvSpPr/>
          <p:nvPr/>
        </p:nvSpPr>
        <p:spPr>
          <a:xfrm>
            <a:off x="5888736" y="1389888"/>
            <a:ext cx="292608" cy="292608"/>
          </a:xfrm>
          <a:prstGeom prst="rect">
            <a:avLst/>
          </a:prstGeom>
          <a:noFill/>
          <a:ln/>
        </p:spPr>
        <p:txBody>
          <a:bodyPr wrap="square" lIns="0" tIns="0" rIns="0" bIns="0" rtlCol="0" anchor="ctr"/>
          <a:lstStyle/>
          <a:p>
            <a:pPr marL="0" indent="0" algn="ctr">
              <a:buNone/>
            </a:pPr>
            <a:r>
              <a:rPr lang="en-US" sz="900" b="1" dirty="0">
                <a:solidFill>
                  <a:srgbClr val="00C9A7"/>
                </a:solidFill>
                <a:latin typeface="Calibri" pitchFamily="34" charset="0"/>
                <a:ea typeface="Calibri" pitchFamily="34" charset="-122"/>
                <a:cs typeface="Calibri" pitchFamily="34" charset="-120"/>
              </a:rPr>
              <a:t>01</a:t>
            </a:r>
            <a:endParaRPr lang="en-US" sz="900" dirty="0"/>
          </a:p>
        </p:txBody>
      </p:sp>
      <p:sp>
        <p:nvSpPr>
          <p:cNvPr id="27" name="Text 24"/>
          <p:cNvSpPr/>
          <p:nvPr/>
        </p:nvSpPr>
        <p:spPr>
          <a:xfrm>
            <a:off x="6236208" y="1389888"/>
            <a:ext cx="274320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FPGA precision control</a:t>
            </a:r>
            <a:endParaRPr lang="en-US" sz="1050" dirty="0"/>
          </a:p>
        </p:txBody>
      </p:sp>
      <p:sp>
        <p:nvSpPr>
          <p:cNvPr id="28" name="Text 25"/>
          <p:cNvSpPr/>
          <p:nvPr/>
        </p:nvSpPr>
        <p:spPr>
          <a:xfrm>
            <a:off x="6236208" y="1618488"/>
            <a:ext cx="2743200" cy="457200"/>
          </a:xfrm>
          <a:prstGeom prst="rect">
            <a:avLst/>
          </a:prstGeom>
          <a:noFill/>
          <a:ln/>
        </p:spPr>
        <p:txBody>
          <a:bodyPr wrap="square" lIns="0" tIns="0" rIns="0" bIns="0" rtlCol="0" anchor="t"/>
          <a:lstStyle/>
          <a:p>
            <a:pPr marL="0" indent="0">
              <a:buNone/>
            </a:pPr>
            <a:r>
              <a:rPr lang="en-US" sz="880" dirty="0">
                <a:solidFill>
                  <a:srgbClr val="64748B"/>
                </a:solidFill>
                <a:latin typeface="Calibri" pitchFamily="34" charset="0"/>
                <a:ea typeface="Calibri" pitchFamily="34" charset="-122"/>
                <a:cs typeface="Calibri" pitchFamily="34" charset="-120"/>
              </a:rPr>
              <a:t>Xilinx U200 issues RowHammer double-sided hammering and RowPress extended-open commands with nanosecond timing</a:t>
            </a:r>
            <a:endParaRPr lang="en-US" sz="880" dirty="0"/>
          </a:p>
        </p:txBody>
      </p:sp>
      <p:sp>
        <p:nvSpPr>
          <p:cNvPr id="29" name="Shape 26"/>
          <p:cNvSpPr/>
          <p:nvPr/>
        </p:nvSpPr>
        <p:spPr>
          <a:xfrm>
            <a:off x="6236208" y="2103120"/>
            <a:ext cx="2743200" cy="0"/>
          </a:xfrm>
          <a:prstGeom prst="line">
            <a:avLst/>
          </a:prstGeom>
          <a:noFill/>
          <a:ln w="6350">
            <a:solidFill>
              <a:srgbClr val="172A42"/>
            </a:solidFill>
            <a:prstDash val="solid"/>
          </a:ln>
        </p:spPr>
        <p:txBody>
          <a:bodyPr/>
          <a:lstStyle/>
          <a:p>
            <a:endParaRPr lang="en-US"/>
          </a:p>
        </p:txBody>
      </p:sp>
      <p:sp>
        <p:nvSpPr>
          <p:cNvPr id="30" name="Shape 27"/>
          <p:cNvSpPr/>
          <p:nvPr/>
        </p:nvSpPr>
        <p:spPr>
          <a:xfrm>
            <a:off x="5888736" y="2231136"/>
            <a:ext cx="292608" cy="292608"/>
          </a:xfrm>
          <a:prstGeom prst="rect">
            <a:avLst/>
          </a:prstGeom>
          <a:solidFill>
            <a:srgbClr val="38BDF8">
              <a:alpha val="28000"/>
            </a:srgbClr>
          </a:solidFill>
          <a:ln w="6350">
            <a:solidFill>
              <a:srgbClr val="38BDF8"/>
            </a:solidFill>
            <a:prstDash val="solid"/>
          </a:ln>
        </p:spPr>
        <p:txBody>
          <a:bodyPr/>
          <a:lstStyle/>
          <a:p>
            <a:endParaRPr lang="en-US"/>
          </a:p>
        </p:txBody>
      </p:sp>
      <p:sp>
        <p:nvSpPr>
          <p:cNvPr id="31" name="Text 28"/>
          <p:cNvSpPr/>
          <p:nvPr/>
        </p:nvSpPr>
        <p:spPr>
          <a:xfrm>
            <a:off x="5888736" y="2231136"/>
            <a:ext cx="292608" cy="292608"/>
          </a:xfrm>
          <a:prstGeom prst="rect">
            <a:avLst/>
          </a:prstGeom>
          <a:noFill/>
          <a:ln/>
        </p:spPr>
        <p:txBody>
          <a:bodyPr wrap="square" lIns="0" tIns="0" rIns="0" bIns="0" rtlCol="0" anchor="ctr"/>
          <a:lstStyle/>
          <a:p>
            <a:pPr marL="0" indent="0" algn="ctr">
              <a:buNone/>
            </a:pPr>
            <a:r>
              <a:rPr lang="en-US" sz="900" b="1" dirty="0">
                <a:solidFill>
                  <a:srgbClr val="38BDF8"/>
                </a:solidFill>
                <a:latin typeface="Calibri" pitchFamily="34" charset="0"/>
                <a:ea typeface="Calibri" pitchFamily="34" charset="-122"/>
                <a:cs typeface="Calibri" pitchFamily="34" charset="-120"/>
              </a:rPr>
              <a:t>02</a:t>
            </a:r>
            <a:endParaRPr lang="en-US" sz="900" dirty="0"/>
          </a:p>
        </p:txBody>
      </p:sp>
      <p:sp>
        <p:nvSpPr>
          <p:cNvPr id="32" name="Text 29"/>
          <p:cNvSpPr/>
          <p:nvPr/>
        </p:nvSpPr>
        <p:spPr>
          <a:xfrm>
            <a:off x="6236208" y="2231136"/>
            <a:ext cx="274320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Full DRAM profiling</a:t>
            </a:r>
            <a:endParaRPr lang="en-US" sz="1050" dirty="0"/>
          </a:p>
        </p:txBody>
      </p:sp>
      <p:sp>
        <p:nvSpPr>
          <p:cNvPr id="33" name="Text 30"/>
          <p:cNvSpPr/>
          <p:nvPr/>
        </p:nvSpPr>
        <p:spPr>
          <a:xfrm>
            <a:off x="6236208" y="2459736"/>
            <a:ext cx="2743200" cy="457200"/>
          </a:xfrm>
          <a:prstGeom prst="rect">
            <a:avLst/>
          </a:prstGeom>
          <a:noFill/>
          <a:ln/>
        </p:spPr>
        <p:txBody>
          <a:bodyPr wrap="square" lIns="0" tIns="0" rIns="0" bIns="0" rtlCol="0" anchor="t"/>
          <a:lstStyle/>
          <a:p>
            <a:pPr marL="0" indent="0">
              <a:buNone/>
            </a:pPr>
            <a:r>
              <a:rPr lang="en-US" sz="880" dirty="0">
                <a:solidFill>
                  <a:srgbClr val="64748B"/>
                </a:solidFill>
                <a:latin typeface="Calibri" pitchFamily="34" charset="0"/>
                <a:ea typeface="Calibri" pitchFamily="34" charset="-122"/>
                <a:cs typeface="Calibri" pitchFamily="34" charset="-120"/>
              </a:rPr>
              <a:t>Scans 250K rows × 32KB columns — maps every bit-cell's flip susceptibility under both RH and RP attack modes</a:t>
            </a:r>
            <a:endParaRPr lang="en-US" sz="880" dirty="0"/>
          </a:p>
        </p:txBody>
      </p:sp>
      <p:sp>
        <p:nvSpPr>
          <p:cNvPr id="34" name="Shape 31"/>
          <p:cNvSpPr/>
          <p:nvPr/>
        </p:nvSpPr>
        <p:spPr>
          <a:xfrm>
            <a:off x="6236208" y="2944368"/>
            <a:ext cx="2743200" cy="0"/>
          </a:xfrm>
          <a:prstGeom prst="line">
            <a:avLst/>
          </a:prstGeom>
          <a:noFill/>
          <a:ln w="6350">
            <a:solidFill>
              <a:srgbClr val="172A42"/>
            </a:solidFill>
            <a:prstDash val="solid"/>
          </a:ln>
        </p:spPr>
        <p:txBody>
          <a:bodyPr/>
          <a:lstStyle/>
          <a:p>
            <a:endParaRPr lang="en-US"/>
          </a:p>
        </p:txBody>
      </p:sp>
      <p:sp>
        <p:nvSpPr>
          <p:cNvPr id="35" name="Shape 32"/>
          <p:cNvSpPr/>
          <p:nvPr/>
        </p:nvSpPr>
        <p:spPr>
          <a:xfrm>
            <a:off x="5888736" y="3072384"/>
            <a:ext cx="292608" cy="292608"/>
          </a:xfrm>
          <a:prstGeom prst="rect">
            <a:avLst/>
          </a:prstGeom>
          <a:solidFill>
            <a:srgbClr val="A78BFA">
              <a:alpha val="28000"/>
            </a:srgbClr>
          </a:solidFill>
          <a:ln w="6350">
            <a:solidFill>
              <a:srgbClr val="A78BFA"/>
            </a:solidFill>
            <a:prstDash val="solid"/>
          </a:ln>
        </p:spPr>
        <p:txBody>
          <a:bodyPr/>
          <a:lstStyle/>
          <a:p>
            <a:endParaRPr lang="en-US"/>
          </a:p>
        </p:txBody>
      </p:sp>
      <p:sp>
        <p:nvSpPr>
          <p:cNvPr id="36" name="Text 33"/>
          <p:cNvSpPr/>
          <p:nvPr/>
        </p:nvSpPr>
        <p:spPr>
          <a:xfrm>
            <a:off x="5888736" y="3072384"/>
            <a:ext cx="292608" cy="292608"/>
          </a:xfrm>
          <a:prstGeom prst="rect">
            <a:avLst/>
          </a:prstGeom>
          <a:noFill/>
          <a:ln/>
        </p:spPr>
        <p:txBody>
          <a:bodyPr wrap="square" lIns="0" tIns="0" rIns="0" bIns="0" rtlCol="0" anchor="ctr"/>
          <a:lstStyle/>
          <a:p>
            <a:pPr marL="0" indent="0" algn="ctr">
              <a:buNone/>
            </a:pPr>
            <a:r>
              <a:rPr lang="en-US" sz="900" b="1" dirty="0">
                <a:solidFill>
                  <a:srgbClr val="A78BFA"/>
                </a:solidFill>
                <a:latin typeface="Calibri" pitchFamily="34" charset="0"/>
                <a:ea typeface="Calibri" pitchFamily="34" charset="-122"/>
                <a:cs typeface="Calibri" pitchFamily="34" charset="-120"/>
              </a:rPr>
              <a:t>03</a:t>
            </a:r>
            <a:endParaRPr lang="en-US" sz="900" dirty="0"/>
          </a:p>
        </p:txBody>
      </p:sp>
      <p:sp>
        <p:nvSpPr>
          <p:cNvPr id="37" name="Text 34"/>
          <p:cNvSpPr/>
          <p:nvPr/>
        </p:nvSpPr>
        <p:spPr>
          <a:xfrm>
            <a:off x="6236208" y="3072384"/>
            <a:ext cx="274320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Temperature controlled</a:t>
            </a:r>
            <a:endParaRPr lang="en-US" sz="1050" dirty="0"/>
          </a:p>
        </p:txBody>
      </p:sp>
      <p:sp>
        <p:nvSpPr>
          <p:cNvPr id="38" name="Text 35"/>
          <p:cNvSpPr/>
          <p:nvPr/>
        </p:nvSpPr>
        <p:spPr>
          <a:xfrm>
            <a:off x="6236208" y="3300984"/>
            <a:ext cx="2743200" cy="457200"/>
          </a:xfrm>
          <a:prstGeom prst="rect">
            <a:avLst/>
          </a:prstGeom>
          <a:noFill/>
          <a:ln/>
        </p:spPr>
        <p:txBody>
          <a:bodyPr wrap="square" lIns="0" tIns="0" rIns="0" bIns="0" rtlCol="0" anchor="t"/>
          <a:lstStyle/>
          <a:p>
            <a:pPr marL="0" indent="0">
              <a:buNone/>
            </a:pPr>
            <a:r>
              <a:rPr lang="en-US" sz="880" dirty="0">
                <a:solidFill>
                  <a:srgbClr val="64748B"/>
                </a:solidFill>
                <a:latin typeface="Calibri" pitchFamily="34" charset="0"/>
                <a:ea typeface="Calibri" pitchFamily="34" charset="-122"/>
                <a:cs typeface="Calibri" pitchFamily="34" charset="-120"/>
              </a:rPr>
              <a:t>Runs at 25°C and 45°C — higher temp reduces retention time and lowers RowPress activation threshold</a:t>
            </a:r>
            <a:endParaRPr lang="en-US" sz="880" dirty="0"/>
          </a:p>
        </p:txBody>
      </p:sp>
      <p:sp>
        <p:nvSpPr>
          <p:cNvPr id="39" name="Shape 36"/>
          <p:cNvSpPr/>
          <p:nvPr/>
        </p:nvSpPr>
        <p:spPr>
          <a:xfrm>
            <a:off x="6236208" y="3785616"/>
            <a:ext cx="2743200" cy="0"/>
          </a:xfrm>
          <a:prstGeom prst="line">
            <a:avLst/>
          </a:prstGeom>
          <a:noFill/>
          <a:ln w="6350">
            <a:solidFill>
              <a:srgbClr val="172A42"/>
            </a:solidFill>
            <a:prstDash val="solid"/>
          </a:ln>
        </p:spPr>
        <p:txBody>
          <a:bodyPr/>
          <a:lstStyle/>
          <a:p>
            <a:endParaRPr lang="en-US"/>
          </a:p>
        </p:txBody>
      </p:sp>
      <p:sp>
        <p:nvSpPr>
          <p:cNvPr id="40" name="Shape 37"/>
          <p:cNvSpPr/>
          <p:nvPr/>
        </p:nvSpPr>
        <p:spPr>
          <a:xfrm>
            <a:off x="5888736" y="3913632"/>
            <a:ext cx="292608" cy="292608"/>
          </a:xfrm>
          <a:prstGeom prst="rect">
            <a:avLst/>
          </a:prstGeom>
          <a:solidFill>
            <a:srgbClr val="F97316">
              <a:alpha val="28000"/>
            </a:srgbClr>
          </a:solidFill>
          <a:ln w="6350">
            <a:solidFill>
              <a:srgbClr val="F97316"/>
            </a:solidFill>
            <a:prstDash val="solid"/>
          </a:ln>
        </p:spPr>
        <p:txBody>
          <a:bodyPr/>
          <a:lstStyle/>
          <a:p>
            <a:endParaRPr lang="en-US"/>
          </a:p>
        </p:txBody>
      </p:sp>
      <p:sp>
        <p:nvSpPr>
          <p:cNvPr id="41" name="Text 38"/>
          <p:cNvSpPr/>
          <p:nvPr/>
        </p:nvSpPr>
        <p:spPr>
          <a:xfrm>
            <a:off x="5888736" y="3913632"/>
            <a:ext cx="292608" cy="292608"/>
          </a:xfrm>
          <a:prstGeom prst="rect">
            <a:avLst/>
          </a:prstGeom>
          <a:noFill/>
          <a:ln/>
        </p:spPr>
        <p:txBody>
          <a:bodyPr wrap="square" lIns="0" tIns="0" rIns="0" bIns="0" rtlCol="0" anchor="ctr"/>
          <a:lstStyle/>
          <a:p>
            <a:pPr marL="0" indent="0" algn="ctr">
              <a:buNone/>
            </a:pPr>
            <a:r>
              <a:rPr lang="en-US" sz="900" b="1" dirty="0">
                <a:solidFill>
                  <a:srgbClr val="F97316"/>
                </a:solidFill>
                <a:latin typeface="Calibri" pitchFamily="34" charset="0"/>
                <a:ea typeface="Calibri" pitchFamily="34" charset="-122"/>
                <a:cs typeface="Calibri" pitchFamily="34" charset="-120"/>
              </a:rPr>
              <a:t>04</a:t>
            </a:r>
            <a:endParaRPr lang="en-US" sz="900" dirty="0"/>
          </a:p>
        </p:txBody>
      </p:sp>
      <p:sp>
        <p:nvSpPr>
          <p:cNvPr id="42" name="Text 39"/>
          <p:cNvSpPr/>
          <p:nvPr/>
        </p:nvSpPr>
        <p:spPr>
          <a:xfrm>
            <a:off x="6236208" y="3913632"/>
            <a:ext cx="274320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Feeds Deep-TROJ pipeline</a:t>
            </a:r>
            <a:endParaRPr lang="en-US" sz="1050" dirty="0"/>
          </a:p>
        </p:txBody>
      </p:sp>
      <p:sp>
        <p:nvSpPr>
          <p:cNvPr id="43" name="Text 40"/>
          <p:cNvSpPr/>
          <p:nvPr/>
        </p:nvSpPr>
        <p:spPr>
          <a:xfrm>
            <a:off x="6236208" y="4142232"/>
            <a:ext cx="2743200" cy="457200"/>
          </a:xfrm>
          <a:prstGeom prst="rect">
            <a:avLst/>
          </a:prstGeom>
          <a:noFill/>
          <a:ln/>
        </p:spPr>
        <p:txBody>
          <a:bodyPr wrap="square" lIns="0" tIns="0" rIns="0" bIns="0" rtlCol="0" anchor="t"/>
          <a:lstStyle/>
          <a:p>
            <a:pPr marL="0" indent="0">
              <a:buNone/>
            </a:pPr>
            <a:r>
              <a:rPr lang="en-US" sz="880" dirty="0">
                <a:solidFill>
                  <a:srgbClr val="64748B"/>
                </a:solidFill>
                <a:latin typeface="Calibri" pitchFamily="34" charset="0"/>
                <a:ea typeface="Calibri" pitchFamily="34" charset="-122"/>
                <a:cs typeface="Calibri" pitchFamily="34" charset="-120"/>
              </a:rPr>
              <a:t>Offline profile pinpoints k=5 target addresses for PFN bit-flip, enabling the full Trojan insertion attack</a:t>
            </a:r>
            <a:endParaRPr lang="en-US" sz="880" dirty="0"/>
          </a:p>
        </p:txBody>
      </p:sp>
      <p:sp>
        <p:nvSpPr>
          <p:cNvPr id="44" name="Shape 41"/>
          <p:cNvSpPr/>
          <p:nvPr/>
        </p:nvSpPr>
        <p:spPr>
          <a:xfrm>
            <a:off x="5742432" y="4818888"/>
            <a:ext cx="3401568" cy="324612"/>
          </a:xfrm>
          <a:prstGeom prst="rect">
            <a:avLst/>
          </a:prstGeom>
          <a:solidFill>
            <a:srgbClr val="061120"/>
          </a:solidFill>
          <a:ln w="12700">
            <a:solidFill>
              <a:srgbClr val="061120"/>
            </a:solidFill>
            <a:prstDash val="solid"/>
          </a:ln>
        </p:spPr>
        <p:txBody>
          <a:bodyPr/>
          <a:lstStyle/>
          <a:p>
            <a:endParaRPr lang="en-US"/>
          </a:p>
        </p:txBody>
      </p:sp>
      <p:sp>
        <p:nvSpPr>
          <p:cNvPr id="45" name="Text 42"/>
          <p:cNvSpPr/>
          <p:nvPr/>
        </p:nvSpPr>
        <p:spPr>
          <a:xfrm>
            <a:off x="5833872" y="4846320"/>
            <a:ext cx="1005840" cy="164592"/>
          </a:xfrm>
          <a:prstGeom prst="rect">
            <a:avLst/>
          </a:prstGeom>
          <a:noFill/>
          <a:ln/>
        </p:spPr>
        <p:txBody>
          <a:bodyPr wrap="square" lIns="0" tIns="0" rIns="0" bIns="0" rtlCol="0" anchor="ctr"/>
          <a:lstStyle/>
          <a:p>
            <a:pPr marL="0" indent="0" algn="ctr">
              <a:buNone/>
            </a:pPr>
            <a:r>
              <a:rPr lang="en-US" sz="1150" b="1" dirty="0">
                <a:solidFill>
                  <a:srgbClr val="00C9A7"/>
                </a:solidFill>
                <a:latin typeface="Calibri" pitchFamily="34" charset="0"/>
                <a:ea typeface="Calibri" pitchFamily="34" charset="-122"/>
                <a:cs typeface="Calibri" pitchFamily="34" charset="-120"/>
              </a:rPr>
              <a:t>250K</a:t>
            </a:r>
            <a:endParaRPr lang="en-US" sz="1150" dirty="0"/>
          </a:p>
        </p:txBody>
      </p:sp>
      <p:sp>
        <p:nvSpPr>
          <p:cNvPr id="46" name="Text 43"/>
          <p:cNvSpPr/>
          <p:nvPr/>
        </p:nvSpPr>
        <p:spPr>
          <a:xfrm>
            <a:off x="5833872" y="5020056"/>
            <a:ext cx="1005840" cy="128016"/>
          </a:xfrm>
          <a:prstGeom prst="rect">
            <a:avLst/>
          </a:prstGeom>
          <a:noFill/>
          <a:ln/>
        </p:spPr>
        <p:txBody>
          <a:bodyPr wrap="square" lIns="0" tIns="0" rIns="0" bIns="0" rtlCol="0" anchor="ctr"/>
          <a:lstStyle/>
          <a:p>
            <a:pPr marL="0" indent="0" algn="ctr">
              <a:buNone/>
            </a:pPr>
            <a:r>
              <a:rPr lang="en-US" sz="750" dirty="0">
                <a:solidFill>
                  <a:srgbClr val="475569"/>
                </a:solidFill>
                <a:latin typeface="Calibri" pitchFamily="34" charset="0"/>
                <a:ea typeface="Calibri" pitchFamily="34" charset="-122"/>
                <a:cs typeface="Calibri" pitchFamily="34" charset="-120"/>
              </a:rPr>
              <a:t>rows</a:t>
            </a:r>
            <a:endParaRPr lang="en-US" sz="750" dirty="0"/>
          </a:p>
        </p:txBody>
      </p:sp>
      <p:sp>
        <p:nvSpPr>
          <p:cNvPr id="47" name="Shape 44"/>
          <p:cNvSpPr/>
          <p:nvPr/>
        </p:nvSpPr>
        <p:spPr>
          <a:xfrm>
            <a:off x="6876288" y="4873752"/>
            <a:ext cx="0" cy="192024"/>
          </a:xfrm>
          <a:prstGeom prst="line">
            <a:avLst/>
          </a:prstGeom>
          <a:noFill/>
          <a:ln w="6350">
            <a:solidFill>
              <a:srgbClr val="1E3A5F"/>
            </a:solidFill>
            <a:prstDash val="solid"/>
          </a:ln>
        </p:spPr>
        <p:txBody>
          <a:bodyPr/>
          <a:lstStyle/>
          <a:p>
            <a:endParaRPr lang="en-US"/>
          </a:p>
        </p:txBody>
      </p:sp>
      <p:sp>
        <p:nvSpPr>
          <p:cNvPr id="48" name="Text 45"/>
          <p:cNvSpPr/>
          <p:nvPr/>
        </p:nvSpPr>
        <p:spPr>
          <a:xfrm>
            <a:off x="6967728" y="4846320"/>
            <a:ext cx="1005840" cy="164592"/>
          </a:xfrm>
          <a:prstGeom prst="rect">
            <a:avLst/>
          </a:prstGeom>
          <a:noFill/>
          <a:ln/>
        </p:spPr>
        <p:txBody>
          <a:bodyPr wrap="square" lIns="0" tIns="0" rIns="0" bIns="0" rtlCol="0" anchor="ctr"/>
          <a:lstStyle/>
          <a:p>
            <a:pPr marL="0" indent="0" algn="ctr">
              <a:buNone/>
            </a:pPr>
            <a:r>
              <a:rPr lang="en-US" sz="1150" b="1" dirty="0">
                <a:solidFill>
                  <a:srgbClr val="00C9A7"/>
                </a:solidFill>
                <a:latin typeface="Calibri" pitchFamily="34" charset="0"/>
                <a:ea typeface="Calibri" pitchFamily="34" charset="-122"/>
                <a:cs typeface="Calibri" pitchFamily="34" charset="-120"/>
              </a:rPr>
              <a:t>32 KB</a:t>
            </a:r>
            <a:endParaRPr lang="en-US" sz="1150" dirty="0"/>
          </a:p>
        </p:txBody>
      </p:sp>
      <p:sp>
        <p:nvSpPr>
          <p:cNvPr id="49" name="Text 46"/>
          <p:cNvSpPr/>
          <p:nvPr/>
        </p:nvSpPr>
        <p:spPr>
          <a:xfrm>
            <a:off x="6967728" y="5020056"/>
            <a:ext cx="1005840" cy="128016"/>
          </a:xfrm>
          <a:prstGeom prst="rect">
            <a:avLst/>
          </a:prstGeom>
          <a:noFill/>
          <a:ln/>
        </p:spPr>
        <p:txBody>
          <a:bodyPr wrap="square" lIns="0" tIns="0" rIns="0" bIns="0" rtlCol="0" anchor="ctr"/>
          <a:lstStyle/>
          <a:p>
            <a:pPr marL="0" indent="0" algn="ctr">
              <a:buNone/>
            </a:pPr>
            <a:r>
              <a:rPr lang="en-US" sz="750" dirty="0">
                <a:solidFill>
                  <a:srgbClr val="475569"/>
                </a:solidFill>
                <a:latin typeface="Calibri" pitchFamily="34" charset="0"/>
                <a:ea typeface="Calibri" pitchFamily="34" charset="-122"/>
                <a:cs typeface="Calibri" pitchFamily="34" charset="-120"/>
              </a:rPr>
              <a:t>per row</a:t>
            </a:r>
            <a:endParaRPr lang="en-US" sz="750" dirty="0"/>
          </a:p>
        </p:txBody>
      </p:sp>
      <p:sp>
        <p:nvSpPr>
          <p:cNvPr id="50" name="Shape 47"/>
          <p:cNvSpPr/>
          <p:nvPr/>
        </p:nvSpPr>
        <p:spPr>
          <a:xfrm>
            <a:off x="8010144" y="4873752"/>
            <a:ext cx="0" cy="192024"/>
          </a:xfrm>
          <a:prstGeom prst="line">
            <a:avLst/>
          </a:prstGeom>
          <a:noFill/>
          <a:ln w="6350">
            <a:solidFill>
              <a:srgbClr val="1E3A5F"/>
            </a:solidFill>
            <a:prstDash val="solid"/>
          </a:ln>
        </p:spPr>
        <p:txBody>
          <a:bodyPr/>
          <a:lstStyle/>
          <a:p>
            <a:endParaRPr lang="en-US"/>
          </a:p>
        </p:txBody>
      </p:sp>
      <p:sp>
        <p:nvSpPr>
          <p:cNvPr id="51" name="Text 48"/>
          <p:cNvSpPr/>
          <p:nvPr/>
        </p:nvSpPr>
        <p:spPr>
          <a:xfrm>
            <a:off x="8101584" y="4846320"/>
            <a:ext cx="1005840" cy="164592"/>
          </a:xfrm>
          <a:prstGeom prst="rect">
            <a:avLst/>
          </a:prstGeom>
          <a:noFill/>
          <a:ln/>
        </p:spPr>
        <p:txBody>
          <a:bodyPr wrap="square" lIns="0" tIns="0" rIns="0" bIns="0" rtlCol="0" anchor="ctr"/>
          <a:lstStyle/>
          <a:p>
            <a:pPr marL="0" indent="0" algn="ctr">
              <a:buNone/>
            </a:pPr>
            <a:r>
              <a:rPr lang="en-US" sz="1150" b="1" dirty="0">
                <a:solidFill>
                  <a:srgbClr val="00C9A7"/>
                </a:solidFill>
                <a:latin typeface="Calibri" pitchFamily="34" charset="0"/>
                <a:ea typeface="Calibri" pitchFamily="34" charset="-122"/>
                <a:cs typeface="Calibri" pitchFamily="34" charset="-120"/>
              </a:rPr>
              <a:t>k = 5</a:t>
            </a:r>
            <a:endParaRPr lang="en-US" sz="1150" dirty="0"/>
          </a:p>
        </p:txBody>
      </p:sp>
      <p:sp>
        <p:nvSpPr>
          <p:cNvPr id="52" name="Text 49"/>
          <p:cNvSpPr/>
          <p:nvPr/>
        </p:nvSpPr>
        <p:spPr>
          <a:xfrm>
            <a:off x="8101584" y="5020056"/>
            <a:ext cx="1005840" cy="128016"/>
          </a:xfrm>
          <a:prstGeom prst="rect">
            <a:avLst/>
          </a:prstGeom>
          <a:noFill/>
          <a:ln/>
        </p:spPr>
        <p:txBody>
          <a:bodyPr wrap="square" lIns="0" tIns="0" rIns="0" bIns="0" rtlCol="0" anchor="ctr"/>
          <a:lstStyle/>
          <a:p>
            <a:pPr marL="0" indent="0" algn="ctr">
              <a:buNone/>
            </a:pPr>
            <a:r>
              <a:rPr lang="en-US" sz="750" dirty="0">
                <a:solidFill>
                  <a:srgbClr val="475569"/>
                </a:solidFill>
                <a:latin typeface="Calibri" pitchFamily="34" charset="0"/>
                <a:ea typeface="Calibri" pitchFamily="34" charset="-122"/>
                <a:cs typeface="Calibri" pitchFamily="34" charset="-120"/>
              </a:rPr>
              <a:t>PFN flips</a:t>
            </a:r>
            <a:endParaRPr lang="en-US" sz="7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 </a:t>
            </a:r>
            <a:endParaRPr lang="en-US" sz="900" dirty="0"/>
          </a:p>
        </p:txBody>
      </p:sp>
      <p:sp>
        <p:nvSpPr>
          <p:cNvPr id="5" name="Text 3"/>
          <p:cNvSpPr/>
          <p:nvPr/>
        </p:nvSpPr>
        <p:spPr>
          <a:xfrm>
            <a:off x="548640" y="292078"/>
            <a:ext cx="8046720" cy="402336"/>
          </a:xfrm>
          <a:prstGeom prst="rect">
            <a:avLst/>
          </a:prstGeom>
          <a:noFill/>
        </p:spPr>
        <p:txBody>
          <a:bodyPr wrap="square" rtlCol="0" anchor="ctr"/>
          <a:lstStyle/>
          <a:p>
            <a:pPr marL="0" indent="0">
              <a:buNone/>
            </a:pPr>
            <a:r>
              <a:rPr lang="en-US" sz="2600" b="1" dirty="0">
                <a:solidFill>
                  <a:srgbClr val="FFFFFF"/>
                </a:solidFill>
              </a:rPr>
              <a:t>Results: CIFAR-10 &amp; CIFAR-100</a:t>
            </a:r>
            <a:endParaRPr lang="en-US" sz="2600" dirty="0"/>
          </a:p>
        </p:txBody>
      </p:sp>
      <p:sp>
        <p:nvSpPr>
          <p:cNvPr id="6" name="Shape 4"/>
          <p:cNvSpPr/>
          <p:nvPr/>
        </p:nvSpPr>
        <p:spPr>
          <a:xfrm>
            <a:off x="365760" y="868680"/>
            <a:ext cx="2011680" cy="96012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365760" y="868680"/>
            <a:ext cx="2011680" cy="54864"/>
          </a:xfrm>
          <a:prstGeom prst="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365760" y="941832"/>
            <a:ext cx="2011680" cy="475488"/>
          </a:xfrm>
          <a:prstGeom prst="rect">
            <a:avLst/>
          </a:prstGeom>
          <a:noFill/>
        </p:spPr>
        <p:txBody>
          <a:bodyPr wrap="square" lIns="0" tIns="0" rIns="0" bIns="0" rtlCol="0" anchor="ctr"/>
          <a:lstStyle/>
          <a:p>
            <a:pPr marL="0" indent="0" algn="ctr">
              <a:buNone/>
            </a:pPr>
            <a:r>
              <a:rPr lang="en-US" sz="2800" b="1" dirty="0">
                <a:solidFill>
                  <a:srgbClr val="F59E0B"/>
                </a:solidFill>
              </a:rPr>
              <a:t>&gt;97%</a:t>
            </a:r>
            <a:endParaRPr lang="en-US" sz="2800" dirty="0"/>
          </a:p>
        </p:txBody>
      </p:sp>
      <p:sp>
        <p:nvSpPr>
          <p:cNvPr id="9" name="Text 7"/>
          <p:cNvSpPr/>
          <p:nvPr/>
        </p:nvSpPr>
        <p:spPr>
          <a:xfrm>
            <a:off x="365760" y="1426464"/>
            <a:ext cx="2011680" cy="201168"/>
          </a:xfrm>
          <a:prstGeom prst="rect">
            <a:avLst/>
          </a:prstGeom>
          <a:noFill/>
        </p:spPr>
        <p:txBody>
          <a:bodyPr wrap="square" lIns="0" tIns="0" rIns="0" bIns="0" rtlCol="0" anchor="ctr"/>
          <a:lstStyle/>
          <a:p>
            <a:pPr marL="0" indent="0" algn="ctr">
              <a:buNone/>
            </a:pPr>
            <a:r>
              <a:rPr lang="en-US" sz="1100" b="1" dirty="0">
                <a:solidFill>
                  <a:srgbClr val="FFFFFF"/>
                </a:solidFill>
              </a:rPr>
              <a:t>ASR CIFAR-10 (4/6 models)</a:t>
            </a:r>
            <a:endParaRPr lang="en-US" sz="1100" dirty="0"/>
          </a:p>
        </p:txBody>
      </p:sp>
      <p:sp>
        <p:nvSpPr>
          <p:cNvPr id="10" name="Text 8"/>
          <p:cNvSpPr/>
          <p:nvPr/>
        </p:nvSpPr>
        <p:spPr>
          <a:xfrm>
            <a:off x="365760" y="1627632"/>
            <a:ext cx="2011680" cy="164592"/>
          </a:xfrm>
          <a:prstGeom prst="rect">
            <a:avLst/>
          </a:prstGeom>
          <a:noFill/>
        </p:spPr>
        <p:txBody>
          <a:bodyPr wrap="square" lIns="0" tIns="0" rIns="0" bIns="0" rtlCol="0" anchor="ctr"/>
          <a:lstStyle/>
          <a:p>
            <a:pPr marL="0" indent="0" algn="ctr">
              <a:buNone/>
            </a:pPr>
            <a:r>
              <a:rPr lang="en-US" sz="900" dirty="0">
                <a:solidFill>
                  <a:srgbClr val="94A3B8"/>
                </a:solidFill>
              </a:rPr>
              <a:t>4 of 6 models</a:t>
            </a:r>
            <a:endParaRPr lang="en-US" sz="900" dirty="0"/>
          </a:p>
        </p:txBody>
      </p:sp>
      <p:sp>
        <p:nvSpPr>
          <p:cNvPr id="11" name="Shape 9"/>
          <p:cNvSpPr/>
          <p:nvPr/>
        </p:nvSpPr>
        <p:spPr>
          <a:xfrm>
            <a:off x="2542032" y="868680"/>
            <a:ext cx="2011680" cy="960120"/>
          </a:xfrm>
          <a:prstGeom prst="rect">
            <a:avLst/>
          </a:prstGeom>
          <a:solidFill>
            <a:srgbClr val="16203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12" name="Shape 10"/>
          <p:cNvSpPr/>
          <p:nvPr/>
        </p:nvSpPr>
        <p:spPr>
          <a:xfrm>
            <a:off x="2542032" y="868680"/>
            <a:ext cx="2011680" cy="54864"/>
          </a:xfrm>
          <a:prstGeom prst="rect">
            <a:avLst/>
          </a:prstGeom>
          <a:solidFill>
            <a:srgbClr val="06B6D4"/>
          </a:solidFill>
          <a:ln w="12700">
            <a:solidFill>
              <a:srgbClr val="06B6D4"/>
            </a:solidFill>
            <a:prstDash val="solid"/>
          </a:ln>
        </p:spPr>
        <p:txBody>
          <a:bodyPr/>
          <a:lstStyle/>
          <a:p>
            <a:endParaRPr lang="en-US"/>
          </a:p>
        </p:txBody>
      </p:sp>
      <p:sp>
        <p:nvSpPr>
          <p:cNvPr id="13" name="Text 11"/>
          <p:cNvSpPr/>
          <p:nvPr/>
        </p:nvSpPr>
        <p:spPr>
          <a:xfrm>
            <a:off x="2542032" y="941832"/>
            <a:ext cx="2011680" cy="475488"/>
          </a:xfrm>
          <a:prstGeom prst="rect">
            <a:avLst/>
          </a:prstGeom>
          <a:noFill/>
        </p:spPr>
        <p:txBody>
          <a:bodyPr wrap="square" lIns="0" tIns="0" rIns="0" bIns="0" rtlCol="0" anchor="ctr"/>
          <a:lstStyle/>
          <a:p>
            <a:pPr marL="0" indent="0" algn="ctr">
              <a:buNone/>
            </a:pPr>
            <a:r>
              <a:rPr lang="en-US" sz="2800" b="1" dirty="0">
                <a:solidFill>
                  <a:srgbClr val="06B6D4"/>
                </a:solidFill>
              </a:rPr>
              <a:t>&gt;96%</a:t>
            </a:r>
            <a:endParaRPr lang="en-US" sz="2800" dirty="0"/>
          </a:p>
        </p:txBody>
      </p:sp>
      <p:sp>
        <p:nvSpPr>
          <p:cNvPr id="14" name="Text 12"/>
          <p:cNvSpPr/>
          <p:nvPr/>
        </p:nvSpPr>
        <p:spPr>
          <a:xfrm>
            <a:off x="2542032" y="1426464"/>
            <a:ext cx="2011680" cy="201168"/>
          </a:xfrm>
          <a:prstGeom prst="rect">
            <a:avLst/>
          </a:prstGeom>
          <a:noFill/>
        </p:spPr>
        <p:txBody>
          <a:bodyPr wrap="square" lIns="0" tIns="0" rIns="0" bIns="0" rtlCol="0" anchor="ctr"/>
          <a:lstStyle/>
          <a:p>
            <a:pPr marL="0" indent="0" algn="ctr">
              <a:buNone/>
            </a:pPr>
            <a:r>
              <a:rPr lang="en-US" sz="1100" b="1" dirty="0">
                <a:solidFill>
                  <a:srgbClr val="FFFFFF"/>
                </a:solidFill>
              </a:rPr>
              <a:t>ASR CIFAR-100 (5/6 models)</a:t>
            </a:r>
            <a:endParaRPr lang="en-US" sz="1100" dirty="0"/>
          </a:p>
        </p:txBody>
      </p:sp>
      <p:sp>
        <p:nvSpPr>
          <p:cNvPr id="15" name="Text 13"/>
          <p:cNvSpPr/>
          <p:nvPr/>
        </p:nvSpPr>
        <p:spPr>
          <a:xfrm>
            <a:off x="2542032" y="1627632"/>
            <a:ext cx="2011680" cy="164592"/>
          </a:xfrm>
          <a:prstGeom prst="rect">
            <a:avLst/>
          </a:prstGeom>
          <a:noFill/>
        </p:spPr>
        <p:txBody>
          <a:bodyPr wrap="square" lIns="0" tIns="0" rIns="0" bIns="0" rtlCol="0" anchor="ctr"/>
          <a:lstStyle/>
          <a:p>
            <a:pPr marL="0" indent="0" algn="ctr">
              <a:buNone/>
            </a:pPr>
            <a:r>
              <a:rPr lang="en-US" sz="900" dirty="0">
                <a:solidFill>
                  <a:srgbClr val="94A3B8"/>
                </a:solidFill>
              </a:rPr>
              <a:t>5 of 6 models</a:t>
            </a:r>
            <a:endParaRPr lang="en-US" sz="900" dirty="0"/>
          </a:p>
        </p:txBody>
      </p:sp>
      <p:sp>
        <p:nvSpPr>
          <p:cNvPr id="16" name="Shape 14"/>
          <p:cNvSpPr/>
          <p:nvPr/>
        </p:nvSpPr>
        <p:spPr>
          <a:xfrm>
            <a:off x="4718304" y="868680"/>
            <a:ext cx="2011680" cy="960120"/>
          </a:xfrm>
          <a:prstGeom prst="rect">
            <a:avLst/>
          </a:prstGeom>
          <a:solidFill>
            <a:srgbClr val="162035"/>
          </a:solidFill>
          <a:ln w="1905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4718304" y="868680"/>
            <a:ext cx="2011680" cy="54864"/>
          </a:xfrm>
          <a:prstGeom prst="rect">
            <a:avLst/>
          </a:prstGeom>
          <a:solidFill>
            <a:srgbClr val="22C55E"/>
          </a:solidFill>
          <a:ln w="12700">
            <a:solidFill>
              <a:srgbClr val="22C55E"/>
            </a:solidFill>
            <a:prstDash val="solid"/>
          </a:ln>
        </p:spPr>
        <p:txBody>
          <a:bodyPr/>
          <a:lstStyle/>
          <a:p>
            <a:endParaRPr lang="en-US"/>
          </a:p>
        </p:txBody>
      </p:sp>
      <p:sp>
        <p:nvSpPr>
          <p:cNvPr id="18" name="Text 16"/>
          <p:cNvSpPr/>
          <p:nvPr/>
        </p:nvSpPr>
        <p:spPr>
          <a:xfrm>
            <a:off x="4718304" y="941832"/>
            <a:ext cx="2011680" cy="475488"/>
          </a:xfrm>
          <a:prstGeom prst="rect">
            <a:avLst/>
          </a:prstGeom>
          <a:noFill/>
        </p:spPr>
        <p:txBody>
          <a:bodyPr wrap="square" lIns="0" tIns="0" rIns="0" bIns="0" rtlCol="0" anchor="ctr"/>
          <a:lstStyle/>
          <a:p>
            <a:pPr marL="0" indent="0" algn="ctr">
              <a:buNone/>
            </a:pPr>
            <a:r>
              <a:rPr lang="en-US" sz="2800" b="1" dirty="0">
                <a:solidFill>
                  <a:srgbClr val="22C55E"/>
                </a:solidFill>
              </a:rPr>
              <a:t>&lt;0.01%</a:t>
            </a:r>
            <a:endParaRPr lang="en-US" sz="2800" dirty="0"/>
          </a:p>
        </p:txBody>
      </p:sp>
      <p:sp>
        <p:nvSpPr>
          <p:cNvPr id="19" name="Text 17"/>
          <p:cNvSpPr/>
          <p:nvPr/>
        </p:nvSpPr>
        <p:spPr>
          <a:xfrm>
            <a:off x="4718304" y="1426464"/>
            <a:ext cx="2011680" cy="201168"/>
          </a:xfrm>
          <a:prstGeom prst="rect">
            <a:avLst/>
          </a:prstGeom>
          <a:noFill/>
        </p:spPr>
        <p:txBody>
          <a:bodyPr wrap="square" lIns="0" tIns="0" rIns="0" bIns="0" rtlCol="0" anchor="ctr"/>
          <a:lstStyle/>
          <a:p>
            <a:pPr marL="0" indent="0" algn="ctr">
              <a:buNone/>
            </a:pPr>
            <a:r>
              <a:rPr lang="en-US" sz="1100" b="1" dirty="0">
                <a:solidFill>
                  <a:srgbClr val="FFFFFF"/>
                </a:solidFill>
              </a:rPr>
              <a:t>Max ACC Drop (CIFAR-10)</a:t>
            </a:r>
            <a:endParaRPr lang="en-US" sz="1100" dirty="0"/>
          </a:p>
        </p:txBody>
      </p:sp>
      <p:sp>
        <p:nvSpPr>
          <p:cNvPr id="20" name="Text 18"/>
          <p:cNvSpPr/>
          <p:nvPr/>
        </p:nvSpPr>
        <p:spPr>
          <a:xfrm>
            <a:off x="4718304" y="1627632"/>
            <a:ext cx="2011680" cy="164592"/>
          </a:xfrm>
          <a:prstGeom prst="rect">
            <a:avLst/>
          </a:prstGeom>
          <a:noFill/>
        </p:spPr>
        <p:txBody>
          <a:bodyPr wrap="square" lIns="0" tIns="0" rIns="0" bIns="0" rtlCol="0" anchor="ctr"/>
          <a:lstStyle/>
          <a:p>
            <a:pPr marL="0" indent="0" algn="ctr">
              <a:buNone/>
            </a:pPr>
            <a:r>
              <a:rPr lang="en-US" sz="900" dirty="0">
                <a:solidFill>
                  <a:srgbClr val="94A3B8"/>
                </a:solidFill>
              </a:rPr>
              <a:t>CIFAR-10</a:t>
            </a:r>
            <a:endParaRPr lang="en-US" sz="900" dirty="0"/>
          </a:p>
        </p:txBody>
      </p:sp>
      <p:sp>
        <p:nvSpPr>
          <p:cNvPr id="21" name="Shape 19"/>
          <p:cNvSpPr/>
          <p:nvPr/>
        </p:nvSpPr>
        <p:spPr>
          <a:xfrm>
            <a:off x="6894576" y="868680"/>
            <a:ext cx="2011680" cy="960120"/>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22" name="Shape 20"/>
          <p:cNvSpPr/>
          <p:nvPr/>
        </p:nvSpPr>
        <p:spPr>
          <a:xfrm>
            <a:off x="6894576" y="868680"/>
            <a:ext cx="2011680" cy="54864"/>
          </a:xfrm>
          <a:prstGeom prst="rect">
            <a:avLst/>
          </a:prstGeom>
          <a:solidFill>
            <a:srgbClr val="8B5CF6"/>
          </a:solidFill>
          <a:ln w="12700">
            <a:solidFill>
              <a:srgbClr val="8B5CF6"/>
            </a:solidFill>
            <a:prstDash val="solid"/>
          </a:ln>
        </p:spPr>
        <p:txBody>
          <a:bodyPr/>
          <a:lstStyle/>
          <a:p>
            <a:endParaRPr lang="en-US"/>
          </a:p>
        </p:txBody>
      </p:sp>
      <p:sp>
        <p:nvSpPr>
          <p:cNvPr id="23" name="Text 21"/>
          <p:cNvSpPr/>
          <p:nvPr/>
        </p:nvSpPr>
        <p:spPr>
          <a:xfrm>
            <a:off x="6894576" y="941832"/>
            <a:ext cx="2011680" cy="475488"/>
          </a:xfrm>
          <a:prstGeom prst="rect">
            <a:avLst/>
          </a:prstGeom>
          <a:noFill/>
        </p:spPr>
        <p:txBody>
          <a:bodyPr wrap="square" lIns="0" tIns="0" rIns="0" bIns="0" rtlCol="0" anchor="ctr"/>
          <a:lstStyle/>
          <a:p>
            <a:pPr marL="0" indent="0" algn="ctr">
              <a:buNone/>
            </a:pPr>
            <a:r>
              <a:rPr lang="en-US" sz="2800" b="1" dirty="0">
                <a:solidFill>
                  <a:srgbClr val="8B5CF6"/>
                </a:solidFill>
              </a:rPr>
              <a:t>5</a:t>
            </a:r>
            <a:endParaRPr lang="en-US" sz="2800" dirty="0"/>
          </a:p>
        </p:txBody>
      </p:sp>
      <p:sp>
        <p:nvSpPr>
          <p:cNvPr id="24" name="Text 22"/>
          <p:cNvSpPr/>
          <p:nvPr/>
        </p:nvSpPr>
        <p:spPr>
          <a:xfrm>
            <a:off x="6894576" y="1426464"/>
            <a:ext cx="2011680" cy="201168"/>
          </a:xfrm>
          <a:prstGeom prst="rect">
            <a:avLst/>
          </a:prstGeom>
          <a:noFill/>
        </p:spPr>
        <p:txBody>
          <a:bodyPr wrap="square" lIns="0" tIns="0" rIns="0" bIns="0" rtlCol="0" anchor="ctr"/>
          <a:lstStyle/>
          <a:p>
            <a:pPr marL="0" indent="0" algn="ctr">
              <a:buNone/>
            </a:pPr>
            <a:r>
              <a:rPr lang="en-US" sz="1100" b="1" dirty="0">
                <a:solidFill>
                  <a:srgbClr val="FFFFFF"/>
                </a:solidFill>
              </a:rPr>
              <a:t>Hardware Iterations</a:t>
            </a:r>
            <a:endParaRPr lang="en-US" sz="1100" dirty="0"/>
          </a:p>
        </p:txBody>
      </p:sp>
      <p:sp>
        <p:nvSpPr>
          <p:cNvPr id="25" name="Text 23"/>
          <p:cNvSpPr/>
          <p:nvPr/>
        </p:nvSpPr>
        <p:spPr>
          <a:xfrm>
            <a:off x="6894576" y="1627632"/>
            <a:ext cx="2011680" cy="164592"/>
          </a:xfrm>
          <a:prstGeom prst="rect">
            <a:avLst/>
          </a:prstGeom>
          <a:noFill/>
        </p:spPr>
        <p:txBody>
          <a:bodyPr wrap="square" lIns="0" tIns="0" rIns="0" bIns="0" rtlCol="0" anchor="ctr"/>
          <a:lstStyle/>
          <a:p>
            <a:pPr marL="0" indent="0" algn="ctr">
              <a:buNone/>
            </a:pPr>
            <a:r>
              <a:rPr lang="en-US" sz="900" dirty="0">
                <a:solidFill>
                  <a:srgbClr val="94A3B8"/>
                </a:solidFill>
              </a:rPr>
              <a:t>k=5 PFN flips</a:t>
            </a:r>
            <a:endParaRPr lang="en-US" sz="900" dirty="0"/>
          </a:p>
        </p:txBody>
      </p:sp>
      <p:sp>
        <p:nvSpPr>
          <p:cNvPr id="26" name="Text 24"/>
          <p:cNvSpPr/>
          <p:nvPr/>
        </p:nvSpPr>
        <p:spPr>
          <a:xfrm>
            <a:off x="365760" y="1920240"/>
            <a:ext cx="4389120" cy="256032"/>
          </a:xfrm>
          <a:prstGeom prst="rect">
            <a:avLst/>
          </a:prstGeom>
          <a:noFill/>
        </p:spPr>
        <p:txBody>
          <a:bodyPr wrap="square" lIns="0" tIns="0" rIns="0" bIns="0" rtlCol="0" anchor="ctr"/>
          <a:lstStyle/>
          <a:p>
            <a:pPr marL="0" indent="0">
              <a:buNone/>
            </a:pPr>
            <a:r>
              <a:rPr lang="en-US" sz="1200" b="1" dirty="0">
                <a:solidFill>
                  <a:srgbClr val="F59E0B"/>
                </a:solidFill>
              </a:rPr>
              <a:t>CIFAR-10: ASR per Model — 8-bit quantized, target class yt=1</a:t>
            </a:r>
            <a:endParaRPr lang="en-US" sz="1200" dirty="0"/>
          </a:p>
        </p:txBody>
      </p:sp>
      <p:graphicFrame>
        <p:nvGraphicFramePr>
          <p:cNvPr id="27" name="Chart 0"/>
          <p:cNvGraphicFramePr/>
          <p:nvPr/>
        </p:nvGraphicFramePr>
        <p:xfrm>
          <a:off x="365760" y="2194560"/>
          <a:ext cx="45720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 25"/>
          <p:cNvSpPr/>
          <p:nvPr/>
        </p:nvSpPr>
        <p:spPr>
          <a:xfrm>
            <a:off x="5120640" y="1920240"/>
            <a:ext cx="3657600" cy="256032"/>
          </a:xfrm>
          <a:prstGeom prst="rect">
            <a:avLst/>
          </a:prstGeom>
          <a:noFill/>
        </p:spPr>
        <p:txBody>
          <a:bodyPr wrap="square" lIns="0" tIns="0" rIns="0" bIns="0" rtlCol="0" anchor="ctr"/>
          <a:lstStyle/>
          <a:p>
            <a:pPr marL="0" indent="0">
              <a:buNone/>
            </a:pPr>
            <a:r>
              <a:rPr lang="en-US" sz="1200" b="1" dirty="0">
                <a:solidFill>
                  <a:srgbClr val="06B6D4"/>
                </a:solidFill>
              </a:rPr>
              <a:t>CIFAR-100: Clean ACC Before vs. After — max drop 1.38% (ShuffleNetV2)</a:t>
            </a:r>
            <a:endParaRPr lang="en-US" sz="1200" dirty="0"/>
          </a:p>
        </p:txBody>
      </p:sp>
      <p:graphicFrame>
        <p:nvGraphicFramePr>
          <p:cNvPr id="29" name="Chart 1"/>
          <p:cNvGraphicFramePr/>
          <p:nvPr/>
        </p:nvGraphicFramePr>
        <p:xfrm>
          <a:off x="5120640" y="2194560"/>
          <a:ext cx="365760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30" name="Shape 26"/>
          <p:cNvSpPr/>
          <p:nvPr/>
        </p:nvSpPr>
        <p:spPr>
          <a:xfrm>
            <a:off x="0" y="4919472"/>
            <a:ext cx="9144000" cy="219456"/>
          </a:xfrm>
          <a:prstGeom prst="rect">
            <a:avLst/>
          </a:prstGeom>
          <a:solidFill>
            <a:srgbClr val="1A2A45"/>
          </a:solidFill>
          <a:ln w="12700">
            <a:solidFill>
              <a:srgbClr val="1E3A5F"/>
            </a:solidFill>
            <a:prstDash val="solid"/>
          </a:ln>
        </p:spPr>
        <p:txBody>
          <a:bodyPr/>
          <a:lstStyle/>
          <a:p>
            <a:endParaRPr lang="en-US"/>
          </a:p>
        </p:txBody>
      </p:sp>
      <p:sp>
        <p:nvSpPr>
          <p:cNvPr id="31" name="Text 27"/>
          <p:cNvSpPr/>
          <p:nvPr/>
        </p:nvSpPr>
        <p:spPr>
          <a:xfrm>
            <a:off x="274320" y="4919472"/>
            <a:ext cx="8595360" cy="219456"/>
          </a:xfrm>
          <a:prstGeom prst="rect">
            <a:avLst/>
          </a:prstGeom>
          <a:noFill/>
        </p:spPr>
        <p:txBody>
          <a:bodyPr wrap="square" lIns="0" tIns="0" rIns="0" bIns="0" rtlCol="0" anchor="ctr"/>
          <a:lstStyle/>
          <a:p>
            <a:pPr marL="0" indent="0" algn="ctr">
              <a:buNone/>
            </a:pPr>
            <a:r>
              <a:rPr lang="en-US" sz="1050" dirty="0">
                <a:solidFill>
                  <a:srgbClr val="22C55E"/>
                </a:solidFill>
              </a:rPr>
              <a:t>Key finding: max ACC drop is 0.01% (CIFAR-10) and 1.38% (CIFAR-100) — statistically indistinguishable from normal variance. 4/6 CNN models on CIFAR-10 exceed 97% ASR; MobileNetV2 (92.19%) benefits from k &gt; 5.</a:t>
            </a:r>
            <a:endParaRPr lang="en-US" sz="10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200" b="1" dirty="0">
                <a:solidFill>
                  <a:srgbClr val="FFFFFF"/>
                </a:solidFill>
              </a:rPr>
              <a:t>ImageNet Results &amp; SOTA: Deep-TROJ vs. TBT / ProFlip / TrojViT</a:t>
            </a:r>
            <a:endParaRPr lang="en-US" sz="2200" dirty="0"/>
          </a:p>
        </p:txBody>
      </p:sp>
      <p:sp>
        <p:nvSpPr>
          <p:cNvPr id="6" name="Text 4"/>
          <p:cNvSpPr/>
          <p:nvPr/>
        </p:nvSpPr>
        <p:spPr>
          <a:xfrm>
            <a:off x="365760" y="886968"/>
            <a:ext cx="4572000" cy="274320"/>
          </a:xfrm>
          <a:prstGeom prst="rect">
            <a:avLst/>
          </a:prstGeom>
          <a:noFill/>
        </p:spPr>
        <p:txBody>
          <a:bodyPr wrap="square" lIns="0" tIns="0" rIns="0" bIns="0" rtlCol="0" anchor="ctr"/>
          <a:lstStyle/>
          <a:p>
            <a:pPr marL="0" indent="0">
              <a:buNone/>
            </a:pPr>
            <a:r>
              <a:rPr lang="en-US" sz="1300" b="1" dirty="0">
                <a:solidFill>
                  <a:srgbClr val="F59E0B"/>
                </a:solidFill>
              </a:rPr>
              <a:t>ImageNet — 9 models, 8-bit, k=5 address changes, target yt=1</a:t>
            </a:r>
            <a:endParaRPr lang="en-US" sz="1300" dirty="0"/>
          </a:p>
        </p:txBody>
      </p:sp>
      <p:graphicFrame>
        <p:nvGraphicFramePr>
          <p:cNvPr id="12" name="Table 0"/>
          <p:cNvGraphicFramePr>
            <a:graphicFrameLocks noGrp="1"/>
          </p:cNvGraphicFramePr>
          <p:nvPr/>
        </p:nvGraphicFramePr>
        <p:xfrm>
          <a:off x="365760" y="1188720"/>
          <a:ext cx="4663440" cy="3657600"/>
        </p:xfrm>
        <a:graphic>
          <a:graphicData uri="http://schemas.openxmlformats.org/drawingml/2006/table">
            <a:tbl>
              <a:tblPr/>
              <a:tblGrid>
                <a:gridCol w="14630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65760">
                <a:tc>
                  <a:txBody>
                    <a:bodyPr/>
                    <a:lstStyle/>
                    <a:p>
                      <a:pPr marL="0" indent="0">
                        <a:buNone/>
                      </a:pPr>
                      <a:r>
                        <a:rPr lang="en-US" sz="1050" b="1" dirty="0">
                          <a:solidFill>
                            <a:srgbClr val="FFFFFF"/>
                          </a:solidFill>
                        </a:rPr>
                        <a:t>Model</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50" b="1" dirty="0">
                          <a:solidFill>
                            <a:srgbClr val="FFFFFF"/>
                          </a:solidFill>
                        </a:rPr>
                        <a:t>ACC Before</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50" b="1" dirty="0">
                          <a:solidFill>
                            <a:srgbClr val="FFFFFF"/>
                          </a:solidFill>
                        </a:rPr>
                        <a:t>ACC After</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50" b="1" dirty="0">
                          <a:solidFill>
                            <a:srgbClr val="FFFFFF"/>
                          </a:solidFill>
                        </a:rPr>
                        <a:t>ASR (%)</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E2E8F0"/>
                          </a:solidFill>
                        </a:rPr>
                        <a:t>VGG-11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69.01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69.00</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99.98</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50" dirty="0">
                          <a:solidFill>
                            <a:srgbClr val="E2E8F0"/>
                          </a:solidFill>
                        </a:rPr>
                        <a:t>VGG-13</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69.84</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69.21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99.99</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50" dirty="0">
                          <a:solidFill>
                            <a:srgbClr val="E2E8F0"/>
                          </a:solidFill>
                        </a:rPr>
                        <a:t>VGG-16</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71.60</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71.57</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99.98</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50" dirty="0">
                          <a:solidFill>
                            <a:srgbClr val="E2E8F0"/>
                          </a:solidFill>
                        </a:rPr>
                        <a:t>ResNet-50</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75.84</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75.85</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50" dirty="0">
                          <a:solidFill>
                            <a:srgbClr val="E2E8F0"/>
                          </a:solidFill>
                        </a:rPr>
                        <a:t>ResNet-101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77.22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77.22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050" dirty="0">
                          <a:solidFill>
                            <a:srgbClr val="E2E8F0"/>
                          </a:solidFill>
                        </a:rPr>
                        <a:t>ResNet-152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78.27</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78.21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99.89</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050" dirty="0">
                          <a:solidFill>
                            <a:srgbClr val="E2E8F0"/>
                          </a:solidFill>
                        </a:rPr>
                        <a:t>MobileNetV2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71.16</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70.75</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99.52</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050" dirty="0">
                          <a:solidFill>
                            <a:srgbClr val="E2E8F0"/>
                          </a:solidFill>
                        </a:rPr>
                        <a:t>DenseNet121</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74.25</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74.19</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22C55E"/>
                          </a:solidFill>
                        </a:rPr>
                        <a:t>99.99</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buNone/>
                      </a:pPr>
                      <a:r>
                        <a:rPr lang="en-US" sz="1050" b="1" dirty="0">
                          <a:solidFill>
                            <a:srgbClr val="EAB308"/>
                          </a:solidFill>
                        </a:rPr>
                        <a:t>ViT (DeiT-S)</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79.65</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dirty="0">
                          <a:solidFill>
                            <a:srgbClr val="E2E8F0"/>
                          </a:solidFill>
                        </a:rPr>
                        <a:t>79.64</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50" b="1" dirty="0">
                          <a:solidFill>
                            <a:srgbClr val="EAB308"/>
                          </a:solidFill>
                        </a:rPr>
                        <a:t>100.00</a:t>
                      </a:r>
                      <a:endParaRPr lang="en-US" sz="10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212080" y="746512"/>
            <a:ext cx="3657600" cy="274320"/>
          </a:xfrm>
          <a:prstGeom prst="rect">
            <a:avLst/>
          </a:prstGeom>
          <a:noFill/>
        </p:spPr>
        <p:txBody>
          <a:bodyPr wrap="square" lIns="0" tIns="0" rIns="0" bIns="0" rtlCol="0" anchor="ctr"/>
          <a:lstStyle/>
          <a:p>
            <a:pPr marL="0" indent="0">
              <a:buNone/>
            </a:pPr>
            <a:r>
              <a:rPr lang="en-US" sz="1300" b="1" dirty="0">
                <a:solidFill>
                  <a:srgbClr val="06B6D4"/>
                </a:solidFill>
              </a:rPr>
              <a:t>SOTA Comparison — Inference-Stage Attacks Only (no training access)</a:t>
            </a:r>
            <a:endParaRPr lang="en-US" sz="1300" dirty="0"/>
          </a:p>
        </p:txBody>
      </p:sp>
      <p:sp>
        <p:nvSpPr>
          <p:cNvPr id="9" name="Text 6"/>
          <p:cNvSpPr/>
          <p:nvPr/>
        </p:nvSpPr>
        <p:spPr>
          <a:xfrm>
            <a:off x="5212080" y="1188720"/>
            <a:ext cx="3566160" cy="228600"/>
          </a:xfrm>
          <a:prstGeom prst="rect">
            <a:avLst/>
          </a:prstGeom>
          <a:noFill/>
        </p:spPr>
        <p:txBody>
          <a:bodyPr wrap="square" lIns="0" tIns="0" rIns="0" bIns="0" rtlCol="0" anchor="ctr"/>
          <a:lstStyle/>
          <a:p>
            <a:pPr marL="0" indent="0">
              <a:buNone/>
            </a:pPr>
            <a:r>
              <a:rPr lang="en-US" sz="1100" dirty="0">
                <a:solidFill>
                  <a:srgbClr val="E2E8F0"/>
                </a:solidFill>
              </a:rPr>
              <a:t>CNN (ResNet-18, CIFAR-10): Deep-TROJ achieves 99.63% ASR in just 5 iterations vs. TBT (413 iters, 93.41%) and ProFlip (12 iters, 97.90%)</a:t>
            </a:r>
            <a:endParaRPr lang="en-US" sz="1100" dirty="0"/>
          </a:p>
        </p:txBody>
      </p:sp>
      <p:graphicFrame>
        <p:nvGraphicFramePr>
          <p:cNvPr id="10" name="Chart 0"/>
          <p:cNvGraphicFramePr/>
          <p:nvPr/>
        </p:nvGraphicFramePr>
        <p:xfrm>
          <a:off x="5212080" y="1551134"/>
          <a:ext cx="3566160" cy="146638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p:nvPr/>
        </p:nvSpPr>
        <p:spPr>
          <a:xfrm>
            <a:off x="5212080" y="3116878"/>
            <a:ext cx="3566160" cy="228600"/>
          </a:xfrm>
          <a:prstGeom prst="rect">
            <a:avLst/>
          </a:prstGeom>
          <a:noFill/>
        </p:spPr>
        <p:txBody>
          <a:bodyPr wrap="square" lIns="0" tIns="0" rIns="0" bIns="0" rtlCol="0" anchor="ctr"/>
          <a:lstStyle/>
          <a:p>
            <a:pPr marL="0" indent="0">
              <a:buNone/>
            </a:pPr>
            <a:r>
              <a:rPr lang="en-US" sz="1100" dirty="0">
                <a:solidFill>
                  <a:srgbClr val="E2E8F0"/>
                </a:solidFill>
              </a:rPr>
              <a:t>ViT (DeiT-S, ImageNet): Deep-TROJ achieves 100.00% ASR in 5 iters vs. TrojViT (880 iters, 99.96%). ViT is the most vulnerable architecture tested.</a:t>
            </a:r>
            <a:endParaRPr lang="en-US" sz="1100" dirty="0"/>
          </a:p>
        </p:txBody>
      </p:sp>
      <p:graphicFrame>
        <p:nvGraphicFramePr>
          <p:cNvPr id="7" name="Chart 1"/>
          <p:cNvGraphicFramePr/>
          <p:nvPr/>
        </p:nvGraphicFramePr>
        <p:xfrm>
          <a:off x="5212080" y="3544956"/>
          <a:ext cx="3566160" cy="1488815"/>
        </p:xfrm>
        <a:graphic>
          <a:graphicData uri="http://schemas.openxmlformats.org/drawingml/2006/chart">
            <c:chart xmlns:c="http://schemas.openxmlformats.org/drawingml/2006/chart" xmlns:r="http://schemas.openxmlformats.org/officeDocument/2006/relationships" r:id="rId4"/>
          </a:graphicData>
        </a:graphic>
      </p:graphicFrame>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F59E0B"/>
                </a:solidFill>
              </a:rPr>
              <a:t>DEEP-TROJ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200" b="1" dirty="0">
                <a:solidFill>
                  <a:srgbClr val="FFFFFF"/>
                </a:solidFill>
              </a:rPr>
              <a:t>Ablation Study: TAP, Budget k, Target Class &amp; Layer Distribution</a:t>
            </a:r>
            <a:endParaRPr lang="en-US" sz="2200" dirty="0"/>
          </a:p>
        </p:txBody>
      </p:sp>
      <p:sp>
        <p:nvSpPr>
          <p:cNvPr id="6" name="Text 4"/>
          <p:cNvSpPr/>
          <p:nvPr/>
        </p:nvSpPr>
        <p:spPr>
          <a:xfrm>
            <a:off x="365760" y="795528"/>
            <a:ext cx="4114800" cy="274320"/>
          </a:xfrm>
          <a:prstGeom prst="rect">
            <a:avLst/>
          </a:prstGeom>
          <a:noFill/>
        </p:spPr>
        <p:txBody>
          <a:bodyPr wrap="square" lIns="0" tIns="0" rIns="0" bIns="0" rtlCol="0" anchor="ctr"/>
          <a:lstStyle/>
          <a:p>
            <a:pPr marL="0" indent="0">
              <a:buNone/>
            </a:pPr>
            <a:r>
              <a:rPr lang="en-US" sz="1300" b="1" dirty="0">
                <a:solidFill>
                  <a:srgbClr val="F59E0B"/>
                </a:solidFill>
              </a:rPr>
              <a:t>Effect of TAP on ResNet-20/CIFAR-10 — larger trigger = stronger ASR</a:t>
            </a:r>
            <a:endParaRPr lang="en-US" sz="1300" dirty="0"/>
          </a:p>
        </p:txBody>
      </p:sp>
      <p:graphicFrame>
        <p:nvGraphicFramePr>
          <p:cNvPr id="7" name="Chart 0"/>
          <p:cNvGraphicFramePr/>
          <p:nvPr/>
        </p:nvGraphicFramePr>
        <p:xfrm>
          <a:off x="365760" y="1170432"/>
          <a:ext cx="402336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754880" y="734701"/>
            <a:ext cx="4114800" cy="274320"/>
          </a:xfrm>
          <a:prstGeom prst="rect">
            <a:avLst/>
          </a:prstGeom>
          <a:noFill/>
        </p:spPr>
        <p:txBody>
          <a:bodyPr wrap="square" lIns="0" tIns="0" rIns="0" bIns="0" rtlCol="0" anchor="ctr"/>
          <a:lstStyle/>
          <a:p>
            <a:pPr marL="0" indent="0">
              <a:buNone/>
            </a:pPr>
            <a:r>
              <a:rPr lang="en-US" sz="1300" b="1" dirty="0">
                <a:solidFill>
                  <a:srgbClr val="06B6D4"/>
                </a:solidFill>
              </a:rPr>
              <a:t>Effect of Address Budget k — k=5 is sweet spot: high ASR, minimal ACC drop</a:t>
            </a:r>
            <a:endParaRPr lang="en-US" sz="1300" dirty="0"/>
          </a:p>
        </p:txBody>
      </p:sp>
      <p:graphicFrame>
        <p:nvGraphicFramePr>
          <p:cNvPr id="9" name="Chart 1"/>
          <p:cNvGraphicFramePr/>
          <p:nvPr/>
        </p:nvGraphicFramePr>
        <p:xfrm>
          <a:off x="4754880" y="1069848"/>
          <a:ext cx="4023360" cy="1892808"/>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365760" y="3291840"/>
            <a:ext cx="4846320" cy="274320"/>
          </a:xfrm>
          <a:prstGeom prst="rect">
            <a:avLst/>
          </a:prstGeom>
          <a:noFill/>
        </p:spPr>
        <p:txBody>
          <a:bodyPr wrap="square" lIns="0" tIns="0" rIns="0" bIns="0" rtlCol="0" anchor="ctr"/>
          <a:lstStyle/>
          <a:p>
            <a:pPr marL="0" indent="0">
              <a:buNone/>
            </a:pPr>
            <a:r>
              <a:rPr lang="en-US" sz="1300" b="1" dirty="0">
                <a:solidFill>
                  <a:srgbClr val="8B5CF6"/>
                </a:solidFill>
              </a:rPr>
              <a:t>Target Class Sensitivity (ResNet-20, CIFAR-10): Class 8 less vulnerable all others &gt;97% ASR at k=5</a:t>
            </a:r>
            <a:endParaRPr lang="en-US" sz="1300" dirty="0"/>
          </a:p>
        </p:txBody>
      </p:sp>
      <p:graphicFrame>
        <p:nvGraphicFramePr>
          <p:cNvPr id="11" name="Chart 2"/>
          <p:cNvGraphicFramePr/>
          <p:nvPr/>
        </p:nvGraphicFramePr>
        <p:xfrm>
          <a:off x="274320" y="3611615"/>
          <a:ext cx="4937760" cy="128016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7"/>
          <p:cNvSpPr/>
          <p:nvPr/>
        </p:nvSpPr>
        <p:spPr>
          <a:xfrm>
            <a:off x="5212080" y="2907792"/>
            <a:ext cx="3657600" cy="274320"/>
          </a:xfrm>
          <a:prstGeom prst="rect">
            <a:avLst/>
          </a:prstGeom>
          <a:noFill/>
        </p:spPr>
        <p:txBody>
          <a:bodyPr wrap="square" lIns="0" tIns="0" rIns="0" bIns="0" rtlCol="0" anchor="ctr"/>
          <a:lstStyle/>
          <a:p>
            <a:pPr marL="0" indent="0">
              <a:buNone/>
            </a:pPr>
            <a:r>
              <a:rPr lang="en-US" sz="1300" b="1" dirty="0">
                <a:solidFill>
                  <a:srgbClr val="22C55E"/>
                </a:solidFill>
              </a:rPr>
              <a:t>Layer-wise Target Block Distribution (ResNet-20): all 5 blocks from last 3 layers (17–19) — confirms classification layers dominate Trojan sensitivity</a:t>
            </a:r>
            <a:endParaRPr lang="en-US" sz="1300" dirty="0"/>
          </a:p>
        </p:txBody>
      </p:sp>
      <p:graphicFrame>
        <p:nvGraphicFramePr>
          <p:cNvPr id="13" name="Chart 3"/>
          <p:cNvGraphicFramePr/>
          <p:nvPr/>
        </p:nvGraphicFramePr>
        <p:xfrm>
          <a:off x="5212080" y="3355583"/>
          <a:ext cx="3474720" cy="1280160"/>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 8"/>
          <p:cNvSpPr/>
          <p:nvPr/>
        </p:nvSpPr>
        <p:spPr>
          <a:xfrm>
            <a:off x="5303520" y="4722172"/>
            <a:ext cx="3566160" cy="228600"/>
          </a:xfrm>
          <a:prstGeom prst="rect">
            <a:avLst/>
          </a:prstGeom>
          <a:noFill/>
        </p:spPr>
        <p:txBody>
          <a:bodyPr wrap="square" lIns="0" tIns="0" rIns="0" bIns="0" rtlCol="0" anchor="ctr"/>
          <a:lstStyle/>
          <a:p>
            <a:pPr marL="0" indent="0">
              <a:buNone/>
            </a:pPr>
            <a:r>
              <a:rPr lang="en-US" sz="1000" i="1" dirty="0">
                <a:solidFill>
                  <a:srgbClr val="94A3B8"/>
                </a:solidFill>
              </a:rPr>
              <a:t>Layer 17 carries 3/5 target blocks #x2014; deep feature layers have highest gradient magnitude w.r.t. Ltrojan. Unlike TBT/ProFlip (last layer only), Deep-TROJ spreads across multiple late layers, evading fine-tuning defenses.</a:t>
            </a:r>
            <a:endParaRPr lang="en-US" sz="1000" dirty="0"/>
          </a:p>
        </p:txBody>
      </p:sp>
      <p:grpSp>
        <p:nvGrpSpPr>
          <p:cNvPr id="17" name="Group 16"/>
          <p:cNvGrpSpPr/>
          <p:nvPr/>
        </p:nvGrpSpPr>
        <p:grpSpPr>
          <a:xfrm>
            <a:off x="274320" y="4800600"/>
            <a:ext cx="4754880" cy="320040"/>
            <a:chOff x="365760" y="4690872"/>
            <a:chExt cx="4754880" cy="320040"/>
          </a:xfrm>
        </p:grpSpPr>
        <p:sp>
          <p:nvSpPr>
            <p:cNvPr id="15" name="Shape 9"/>
            <p:cNvSpPr/>
            <p:nvPr/>
          </p:nvSpPr>
          <p:spPr>
            <a:xfrm>
              <a:off x="365760" y="4690872"/>
              <a:ext cx="4754880" cy="320040"/>
            </a:xfrm>
            <a:prstGeom prst="rect">
              <a:avLst/>
            </a:prstGeom>
            <a:solidFill>
              <a:srgbClr val="1A2A45"/>
            </a:solidFill>
            <a:ln w="12700">
              <a:solidFill>
                <a:srgbClr val="F59E0B"/>
              </a:solidFill>
              <a:prstDash val="solid"/>
            </a:ln>
          </p:spPr>
          <p:txBody>
            <a:bodyPr/>
            <a:lstStyle/>
            <a:p>
              <a:endParaRPr lang="en-US"/>
            </a:p>
          </p:txBody>
        </p:sp>
        <p:sp>
          <p:nvSpPr>
            <p:cNvPr id="16" name="Text 10"/>
            <p:cNvSpPr/>
            <p:nvPr/>
          </p:nvSpPr>
          <p:spPr>
            <a:xfrm>
              <a:off x="457200" y="4690872"/>
              <a:ext cx="4572000" cy="320040"/>
            </a:xfrm>
            <a:prstGeom prst="rect">
              <a:avLst/>
            </a:prstGeom>
            <a:noFill/>
          </p:spPr>
          <p:txBody>
            <a:bodyPr wrap="square" lIns="0" tIns="0" rIns="0" bIns="0" rtlCol="0" anchor="ctr"/>
            <a:lstStyle/>
            <a:p>
              <a:pPr marL="0" indent="0">
                <a:buNone/>
              </a:pPr>
              <a:r>
                <a:rPr lang="en-US" sz="1000" dirty="0">
                  <a:solidFill>
                    <a:srgbClr val="F59E0B"/>
                  </a:solidFill>
                </a:rPr>
                <a:t>Class 8 is an outlier requiring k&gt;5 for reliable attack. Attackers should profile target class vulnerability before fixing budget k. All 9 other classes reach ≥97% ASR at default k=5.</a:t>
              </a:r>
              <a:endParaRPr lang="en-US" sz="1000" dirty="0"/>
            </a:p>
          </p:txBody>
        </p:sp>
      </p:gr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0" y="5065776"/>
            <a:ext cx="9144000" cy="73152"/>
          </a:xfrm>
          <a:prstGeom prst="rect">
            <a:avLst/>
          </a:prstGeom>
          <a:solidFill>
            <a:srgbClr val="8B5CF6"/>
          </a:solidFill>
          <a:ln w="12700">
            <a:solidFill>
              <a:srgbClr val="8B5CF6"/>
            </a:solidFill>
            <a:prstDash val="solid"/>
          </a:ln>
        </p:spPr>
        <p:txBody>
          <a:bodyPr/>
          <a:lstStyle/>
          <a:p>
            <a:endParaRPr lang="en-US"/>
          </a:p>
        </p:txBody>
      </p:sp>
      <p:sp>
        <p:nvSpPr>
          <p:cNvPr id="4" name="Shape 2"/>
          <p:cNvSpPr/>
          <p:nvPr/>
        </p:nvSpPr>
        <p:spPr>
          <a:xfrm>
            <a:off x="1371600" y="1188720"/>
            <a:ext cx="6400800" cy="2926080"/>
          </a:xfrm>
          <a:prstGeom prst="rect">
            <a:avLst/>
          </a:prstGeom>
          <a:solidFill>
            <a:srgbClr val="162035"/>
          </a:solidFill>
          <a:ln w="254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1371600" y="1188720"/>
            <a:ext cx="6400800" cy="73152"/>
          </a:xfrm>
          <a:prstGeom prst="rect">
            <a:avLst/>
          </a:prstGeom>
          <a:solidFill>
            <a:srgbClr val="8B5CF6"/>
          </a:solidFill>
          <a:ln w="12700">
            <a:solidFill>
              <a:srgbClr val="8B5CF6"/>
            </a:solidFill>
            <a:prstDash val="solid"/>
          </a:ln>
        </p:spPr>
        <p:txBody>
          <a:bodyPr/>
          <a:lstStyle/>
          <a:p>
            <a:endParaRPr lang="en-US"/>
          </a:p>
        </p:txBody>
      </p:sp>
      <p:sp>
        <p:nvSpPr>
          <p:cNvPr id="6" name="Text 4"/>
          <p:cNvSpPr/>
          <p:nvPr/>
        </p:nvSpPr>
        <p:spPr>
          <a:xfrm>
            <a:off x="1371600" y="1463040"/>
            <a:ext cx="6400800" cy="411480"/>
          </a:xfrm>
          <a:prstGeom prst="rect">
            <a:avLst/>
          </a:prstGeom>
          <a:noFill/>
        </p:spPr>
        <p:txBody>
          <a:bodyPr wrap="square" lIns="0" tIns="0" rIns="0" bIns="0" rtlCol="0" anchor="ctr"/>
          <a:lstStyle/>
          <a:p>
            <a:pPr marL="0" indent="0" algn="ctr">
              <a:buNone/>
            </a:pPr>
            <a:r>
              <a:rPr lang="en-US" sz="1300" b="1" kern="0" spc="400" dirty="0">
                <a:solidFill>
                  <a:srgbClr val="8B5CF6"/>
                </a:solidFill>
              </a:rPr>
              <a:t>PART 2</a:t>
            </a:r>
            <a:endParaRPr lang="en-US" sz="1300" dirty="0"/>
          </a:p>
        </p:txBody>
      </p:sp>
      <p:sp>
        <p:nvSpPr>
          <p:cNvPr id="7" name="Text 5"/>
          <p:cNvSpPr/>
          <p:nvPr/>
        </p:nvSpPr>
        <p:spPr>
          <a:xfrm>
            <a:off x="1371600" y="1938528"/>
            <a:ext cx="6400800" cy="457200"/>
          </a:xfrm>
          <a:prstGeom prst="rect">
            <a:avLst/>
          </a:prstGeom>
          <a:noFill/>
        </p:spPr>
        <p:txBody>
          <a:bodyPr wrap="square" rtlCol="0" anchor="ctr"/>
          <a:lstStyle/>
          <a:p>
            <a:pPr marL="0" indent="0" algn="ctr">
              <a:buNone/>
            </a:pPr>
            <a:r>
              <a:rPr lang="en-US" sz="2400" b="1" dirty="0">
                <a:solidFill>
                  <a:srgbClr val="FFFFFF"/>
                </a:solidFill>
              </a:rPr>
              <a:t>Compromising DNN Intelligence:</a:t>
            </a:r>
            <a:endParaRPr lang="en-US" sz="2400" dirty="0"/>
          </a:p>
        </p:txBody>
      </p:sp>
      <p:sp>
        <p:nvSpPr>
          <p:cNvPr id="8" name="Text 6"/>
          <p:cNvSpPr/>
          <p:nvPr/>
        </p:nvSpPr>
        <p:spPr>
          <a:xfrm>
            <a:off x="1371600" y="2377440"/>
            <a:ext cx="6400800" cy="411480"/>
          </a:xfrm>
          <a:prstGeom prst="rect">
            <a:avLst/>
          </a:prstGeom>
          <a:noFill/>
        </p:spPr>
        <p:txBody>
          <a:bodyPr wrap="square" rtlCol="0" anchor="ctr"/>
          <a:lstStyle/>
          <a:p>
            <a:pPr marL="0" indent="0" algn="ctr">
              <a:buNone/>
            </a:pPr>
            <a:r>
              <a:rPr lang="en-US" sz="2000" dirty="0">
                <a:solidFill>
                  <a:srgbClr val="8B5CF6"/>
                </a:solidFill>
              </a:rPr>
              <a:t>RowPress vs. RowHammer</a:t>
            </a:r>
            <a:endParaRPr lang="en-US" sz="2000" dirty="0"/>
          </a:p>
        </p:txBody>
      </p:sp>
      <p:sp>
        <p:nvSpPr>
          <p:cNvPr id="9" name="Shape 7"/>
          <p:cNvSpPr/>
          <p:nvPr/>
        </p:nvSpPr>
        <p:spPr>
          <a:xfrm>
            <a:off x="2286000" y="2880360"/>
            <a:ext cx="4572000" cy="0"/>
          </a:xfrm>
          <a:prstGeom prst="line">
            <a:avLst/>
          </a:prstGeom>
          <a:noFill/>
          <a:ln w="12700">
            <a:solidFill>
              <a:srgbClr val="1E3A5F"/>
            </a:solidFill>
            <a:prstDash val="solid"/>
          </a:ln>
        </p:spPr>
        <p:txBody>
          <a:bodyPr/>
          <a:lstStyle/>
          <a:p>
            <a:endParaRPr lang="en-US"/>
          </a:p>
        </p:txBody>
      </p:sp>
      <p:sp>
        <p:nvSpPr>
          <p:cNvPr id="10" name="Text 8"/>
          <p:cNvSpPr/>
          <p:nvPr/>
        </p:nvSpPr>
        <p:spPr>
          <a:xfrm>
            <a:off x="1371600" y="2971800"/>
            <a:ext cx="6400800" cy="274320"/>
          </a:xfrm>
          <a:prstGeom prst="rect">
            <a:avLst/>
          </a:prstGeom>
          <a:noFill/>
        </p:spPr>
        <p:txBody>
          <a:bodyPr wrap="square" rtlCol="0" anchor="ctr"/>
          <a:lstStyle/>
          <a:p>
            <a:pPr marL="0" indent="0" algn="ctr">
              <a:buNone/>
            </a:pPr>
            <a:r>
              <a:rPr lang="en-US" sz="1200" dirty="0">
                <a:solidFill>
                  <a:srgbClr val="94A3B8"/>
                </a:solidFill>
              </a:rPr>
              <a:t>DATE 2025  ·  Zhou, Liu, Ahmed, Angizi, Rakin</a:t>
            </a:r>
            <a:endParaRPr lang="en-US" sz="1200" dirty="0"/>
          </a:p>
        </p:txBody>
      </p:sp>
      <p:sp>
        <p:nvSpPr>
          <p:cNvPr id="11" name="Text 9"/>
          <p:cNvSpPr/>
          <p:nvPr/>
        </p:nvSpPr>
        <p:spPr>
          <a:xfrm>
            <a:off x="1371600" y="3337560"/>
            <a:ext cx="6400800" cy="256032"/>
          </a:xfrm>
          <a:prstGeom prst="rect">
            <a:avLst/>
          </a:prstGeom>
          <a:noFill/>
        </p:spPr>
        <p:txBody>
          <a:bodyPr wrap="square" rtlCol="0" anchor="ctr"/>
          <a:lstStyle/>
          <a:p>
            <a:pPr marL="0" indent="0" algn="ctr">
              <a:buNone/>
            </a:pPr>
            <a:r>
              <a:rPr lang="en-US" sz="1200" i="1" dirty="0">
                <a:solidFill>
                  <a:srgbClr val="06B6D4"/>
                </a:solidFill>
              </a:rPr>
              <a:t>First systematic analysis of RowPress on DNN applications</a:t>
            </a:r>
            <a:endParaRPr lang="en-US" sz="12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06B6D4"/>
          </a:solidFill>
          <a:ln w="12700">
            <a:solidFill>
              <a:srgbClr val="06B6D4"/>
            </a:solidFill>
            <a:prstDash val="solid"/>
          </a:ln>
        </p:spPr>
        <p:txBody>
          <a:bodyPr/>
          <a:lstStyle/>
          <a:p>
            <a:endParaRPr lang="en-US"/>
          </a:p>
        </p:txBody>
      </p:sp>
      <p:sp>
        <p:nvSpPr>
          <p:cNvPr id="4" name="Text 2"/>
          <p:cNvSpPr/>
          <p:nvPr/>
        </p:nvSpPr>
        <p:spPr>
          <a:xfrm>
            <a:off x="640080" y="182880"/>
            <a:ext cx="2743200" cy="182880"/>
          </a:xfrm>
          <a:prstGeom prst="rect">
            <a:avLst/>
          </a:prstGeom>
          <a:noFill/>
        </p:spPr>
        <p:txBody>
          <a:bodyPr wrap="square" lIns="0" tIns="0" rIns="0" bIns="0" rtlCol="0" anchor="ctr"/>
          <a:lstStyle/>
          <a:p>
            <a:pPr marL="0" indent="0">
              <a:buNone/>
            </a:pPr>
            <a:r>
              <a:rPr lang="en-US" sz="900" b="1" kern="0" spc="200" dirty="0">
                <a:solidFill>
                  <a:srgbClr val="06B6D4"/>
                </a:solidFill>
              </a:rPr>
              <a:t>DRAM FUNDAMENTALS</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RowHammer vs. RowPress: How They Differ</a:t>
            </a:r>
            <a:endParaRPr lang="en-US" sz="2400" dirty="0"/>
          </a:p>
        </p:txBody>
      </p:sp>
      <p:sp>
        <p:nvSpPr>
          <p:cNvPr id="6" name="Shape 4"/>
          <p:cNvSpPr/>
          <p:nvPr/>
        </p:nvSpPr>
        <p:spPr>
          <a:xfrm>
            <a:off x="365760" y="960120"/>
            <a:ext cx="3931920" cy="182880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411480" y="898342"/>
            <a:ext cx="3749040" cy="256032"/>
          </a:xfrm>
          <a:prstGeom prst="rect">
            <a:avLst/>
          </a:prstGeom>
          <a:noFill/>
        </p:spPr>
        <p:txBody>
          <a:bodyPr wrap="square" lIns="0" tIns="0" rIns="0" bIns="0" rtlCol="0" anchor="ctr"/>
          <a:lstStyle/>
          <a:p>
            <a:pPr marL="0" indent="0">
              <a:buNone/>
            </a:pPr>
            <a:r>
              <a:rPr lang="en-US" sz="1200" b="1" dirty="0">
                <a:solidFill>
                  <a:srgbClr val="F59E0B"/>
                </a:solidFill>
              </a:rPr>
              <a:t>RowHammer: Timing Diagram</a:t>
            </a:r>
            <a:endParaRPr lang="en-US" sz="1200" dirty="0"/>
          </a:p>
        </p:txBody>
      </p:sp>
      <p:sp>
        <p:nvSpPr>
          <p:cNvPr id="8" name="Shape 6"/>
          <p:cNvSpPr/>
          <p:nvPr/>
        </p:nvSpPr>
        <p:spPr>
          <a:xfrm>
            <a:off x="658368" y="1371600"/>
            <a:ext cx="0" cy="0"/>
          </a:xfrm>
          <a:prstGeom prst="line">
            <a:avLst/>
          </a:prstGeom>
          <a:noFill/>
          <a:ln w="19050">
            <a:solidFill>
              <a:srgbClr val="F59E0B"/>
            </a:solidFill>
            <a:prstDash val="solid"/>
          </a:ln>
        </p:spPr>
        <p:txBody>
          <a:bodyPr/>
          <a:lstStyle/>
          <a:p>
            <a:endParaRPr lang="en-US"/>
          </a:p>
        </p:txBody>
      </p:sp>
      <p:sp>
        <p:nvSpPr>
          <p:cNvPr id="9" name="Shape 7"/>
          <p:cNvSpPr/>
          <p:nvPr/>
        </p:nvSpPr>
        <p:spPr>
          <a:xfrm>
            <a:off x="658368" y="1115568"/>
            <a:ext cx="164592" cy="0"/>
          </a:xfrm>
          <a:prstGeom prst="line">
            <a:avLst/>
          </a:prstGeom>
          <a:noFill/>
          <a:ln w="19050">
            <a:solidFill>
              <a:srgbClr val="F59E0B"/>
            </a:solidFill>
            <a:prstDash val="solid"/>
          </a:ln>
        </p:spPr>
        <p:txBody>
          <a:bodyPr/>
          <a:lstStyle/>
          <a:p>
            <a:endParaRPr lang="en-US"/>
          </a:p>
        </p:txBody>
      </p:sp>
      <p:sp>
        <p:nvSpPr>
          <p:cNvPr id="10" name="Shape 8"/>
          <p:cNvSpPr/>
          <p:nvPr/>
        </p:nvSpPr>
        <p:spPr>
          <a:xfrm>
            <a:off x="822960" y="1115568"/>
            <a:ext cx="0" cy="256032"/>
          </a:xfrm>
          <a:prstGeom prst="line">
            <a:avLst/>
          </a:prstGeom>
          <a:noFill/>
          <a:ln w="19050">
            <a:solidFill>
              <a:srgbClr val="F59E0B"/>
            </a:solidFill>
            <a:prstDash val="solid"/>
          </a:ln>
        </p:spPr>
        <p:txBody>
          <a:bodyPr/>
          <a:lstStyle/>
          <a:p>
            <a:endParaRPr lang="en-US"/>
          </a:p>
        </p:txBody>
      </p:sp>
      <p:sp>
        <p:nvSpPr>
          <p:cNvPr id="11" name="Shape 9"/>
          <p:cNvSpPr/>
          <p:nvPr/>
        </p:nvSpPr>
        <p:spPr>
          <a:xfrm>
            <a:off x="932688" y="1371600"/>
            <a:ext cx="0" cy="0"/>
          </a:xfrm>
          <a:prstGeom prst="line">
            <a:avLst/>
          </a:prstGeom>
          <a:noFill/>
          <a:ln w="19050">
            <a:solidFill>
              <a:srgbClr val="F59E0B"/>
            </a:solidFill>
            <a:prstDash val="solid"/>
          </a:ln>
        </p:spPr>
        <p:txBody>
          <a:bodyPr/>
          <a:lstStyle/>
          <a:p>
            <a:endParaRPr lang="en-US"/>
          </a:p>
        </p:txBody>
      </p:sp>
      <p:sp>
        <p:nvSpPr>
          <p:cNvPr id="12" name="Shape 10"/>
          <p:cNvSpPr/>
          <p:nvPr/>
        </p:nvSpPr>
        <p:spPr>
          <a:xfrm>
            <a:off x="932688" y="1115568"/>
            <a:ext cx="164592" cy="0"/>
          </a:xfrm>
          <a:prstGeom prst="line">
            <a:avLst/>
          </a:prstGeom>
          <a:noFill/>
          <a:ln w="19050">
            <a:solidFill>
              <a:srgbClr val="F59E0B"/>
            </a:solidFill>
            <a:prstDash val="solid"/>
          </a:ln>
        </p:spPr>
        <p:txBody>
          <a:bodyPr/>
          <a:lstStyle/>
          <a:p>
            <a:endParaRPr lang="en-US"/>
          </a:p>
        </p:txBody>
      </p:sp>
      <p:sp>
        <p:nvSpPr>
          <p:cNvPr id="13" name="Shape 11"/>
          <p:cNvSpPr/>
          <p:nvPr/>
        </p:nvSpPr>
        <p:spPr>
          <a:xfrm>
            <a:off x="1097280" y="1115568"/>
            <a:ext cx="0" cy="256032"/>
          </a:xfrm>
          <a:prstGeom prst="line">
            <a:avLst/>
          </a:prstGeom>
          <a:noFill/>
          <a:ln w="19050">
            <a:solidFill>
              <a:srgbClr val="F59E0B"/>
            </a:solidFill>
            <a:prstDash val="solid"/>
          </a:ln>
        </p:spPr>
        <p:txBody>
          <a:bodyPr/>
          <a:lstStyle/>
          <a:p>
            <a:endParaRPr lang="en-US"/>
          </a:p>
        </p:txBody>
      </p:sp>
      <p:sp>
        <p:nvSpPr>
          <p:cNvPr id="14" name="Shape 12"/>
          <p:cNvSpPr/>
          <p:nvPr/>
        </p:nvSpPr>
        <p:spPr>
          <a:xfrm>
            <a:off x="1207008" y="1371600"/>
            <a:ext cx="0" cy="0"/>
          </a:xfrm>
          <a:prstGeom prst="line">
            <a:avLst/>
          </a:prstGeom>
          <a:noFill/>
          <a:ln w="19050">
            <a:solidFill>
              <a:srgbClr val="F59E0B"/>
            </a:solidFill>
            <a:prstDash val="solid"/>
          </a:ln>
        </p:spPr>
        <p:txBody>
          <a:bodyPr/>
          <a:lstStyle/>
          <a:p>
            <a:endParaRPr lang="en-US"/>
          </a:p>
        </p:txBody>
      </p:sp>
      <p:sp>
        <p:nvSpPr>
          <p:cNvPr id="15" name="Shape 13"/>
          <p:cNvSpPr/>
          <p:nvPr/>
        </p:nvSpPr>
        <p:spPr>
          <a:xfrm>
            <a:off x="1207008" y="1115568"/>
            <a:ext cx="164592" cy="0"/>
          </a:xfrm>
          <a:prstGeom prst="line">
            <a:avLst/>
          </a:prstGeom>
          <a:noFill/>
          <a:ln w="19050">
            <a:solidFill>
              <a:srgbClr val="F59E0B"/>
            </a:solidFill>
            <a:prstDash val="solid"/>
          </a:ln>
        </p:spPr>
        <p:txBody>
          <a:bodyPr/>
          <a:lstStyle/>
          <a:p>
            <a:endParaRPr lang="en-US"/>
          </a:p>
        </p:txBody>
      </p:sp>
      <p:sp>
        <p:nvSpPr>
          <p:cNvPr id="16" name="Shape 14"/>
          <p:cNvSpPr/>
          <p:nvPr/>
        </p:nvSpPr>
        <p:spPr>
          <a:xfrm>
            <a:off x="1371600" y="1115568"/>
            <a:ext cx="0" cy="256032"/>
          </a:xfrm>
          <a:prstGeom prst="line">
            <a:avLst/>
          </a:prstGeom>
          <a:noFill/>
          <a:ln w="19050">
            <a:solidFill>
              <a:srgbClr val="F59E0B"/>
            </a:solidFill>
            <a:prstDash val="solid"/>
          </a:ln>
        </p:spPr>
        <p:txBody>
          <a:bodyPr/>
          <a:lstStyle/>
          <a:p>
            <a:endParaRPr lang="en-US"/>
          </a:p>
        </p:txBody>
      </p:sp>
      <p:sp>
        <p:nvSpPr>
          <p:cNvPr id="17" name="Shape 15"/>
          <p:cNvSpPr/>
          <p:nvPr/>
        </p:nvSpPr>
        <p:spPr>
          <a:xfrm>
            <a:off x="1481328" y="1371600"/>
            <a:ext cx="0" cy="0"/>
          </a:xfrm>
          <a:prstGeom prst="line">
            <a:avLst/>
          </a:prstGeom>
          <a:noFill/>
          <a:ln w="19050">
            <a:solidFill>
              <a:srgbClr val="F59E0B"/>
            </a:solidFill>
            <a:prstDash val="solid"/>
          </a:ln>
        </p:spPr>
        <p:txBody>
          <a:bodyPr/>
          <a:lstStyle/>
          <a:p>
            <a:endParaRPr lang="en-US"/>
          </a:p>
        </p:txBody>
      </p:sp>
      <p:sp>
        <p:nvSpPr>
          <p:cNvPr id="18" name="Shape 16"/>
          <p:cNvSpPr/>
          <p:nvPr/>
        </p:nvSpPr>
        <p:spPr>
          <a:xfrm>
            <a:off x="1481328" y="1115568"/>
            <a:ext cx="164592" cy="0"/>
          </a:xfrm>
          <a:prstGeom prst="line">
            <a:avLst/>
          </a:prstGeom>
          <a:noFill/>
          <a:ln w="19050">
            <a:solidFill>
              <a:srgbClr val="F59E0B"/>
            </a:solidFill>
            <a:prstDash val="solid"/>
          </a:ln>
        </p:spPr>
        <p:txBody>
          <a:bodyPr/>
          <a:lstStyle/>
          <a:p>
            <a:endParaRPr lang="en-US"/>
          </a:p>
        </p:txBody>
      </p:sp>
      <p:sp>
        <p:nvSpPr>
          <p:cNvPr id="19" name="Shape 17"/>
          <p:cNvSpPr/>
          <p:nvPr/>
        </p:nvSpPr>
        <p:spPr>
          <a:xfrm>
            <a:off x="1645920" y="1115568"/>
            <a:ext cx="0" cy="256032"/>
          </a:xfrm>
          <a:prstGeom prst="line">
            <a:avLst/>
          </a:prstGeom>
          <a:noFill/>
          <a:ln w="19050">
            <a:solidFill>
              <a:srgbClr val="F59E0B"/>
            </a:solidFill>
            <a:prstDash val="solid"/>
          </a:ln>
        </p:spPr>
        <p:txBody>
          <a:bodyPr/>
          <a:lstStyle/>
          <a:p>
            <a:endParaRPr lang="en-US"/>
          </a:p>
        </p:txBody>
      </p:sp>
      <p:sp>
        <p:nvSpPr>
          <p:cNvPr id="20" name="Shape 18"/>
          <p:cNvSpPr/>
          <p:nvPr/>
        </p:nvSpPr>
        <p:spPr>
          <a:xfrm>
            <a:off x="1755648" y="1371600"/>
            <a:ext cx="0" cy="0"/>
          </a:xfrm>
          <a:prstGeom prst="line">
            <a:avLst/>
          </a:prstGeom>
          <a:noFill/>
          <a:ln w="19050">
            <a:solidFill>
              <a:srgbClr val="F59E0B"/>
            </a:solidFill>
            <a:prstDash val="solid"/>
          </a:ln>
        </p:spPr>
        <p:txBody>
          <a:bodyPr/>
          <a:lstStyle/>
          <a:p>
            <a:endParaRPr lang="en-US"/>
          </a:p>
        </p:txBody>
      </p:sp>
      <p:sp>
        <p:nvSpPr>
          <p:cNvPr id="21" name="Shape 19"/>
          <p:cNvSpPr/>
          <p:nvPr/>
        </p:nvSpPr>
        <p:spPr>
          <a:xfrm>
            <a:off x="1755648" y="1115568"/>
            <a:ext cx="164592" cy="0"/>
          </a:xfrm>
          <a:prstGeom prst="line">
            <a:avLst/>
          </a:prstGeom>
          <a:noFill/>
          <a:ln w="19050">
            <a:solidFill>
              <a:srgbClr val="F59E0B"/>
            </a:solidFill>
            <a:prstDash val="solid"/>
          </a:ln>
        </p:spPr>
        <p:txBody>
          <a:bodyPr/>
          <a:lstStyle/>
          <a:p>
            <a:endParaRPr lang="en-US"/>
          </a:p>
        </p:txBody>
      </p:sp>
      <p:sp>
        <p:nvSpPr>
          <p:cNvPr id="22" name="Shape 20"/>
          <p:cNvSpPr/>
          <p:nvPr/>
        </p:nvSpPr>
        <p:spPr>
          <a:xfrm>
            <a:off x="1920240" y="1115568"/>
            <a:ext cx="0" cy="256032"/>
          </a:xfrm>
          <a:prstGeom prst="line">
            <a:avLst/>
          </a:prstGeom>
          <a:noFill/>
          <a:ln w="19050">
            <a:solidFill>
              <a:srgbClr val="F59E0B"/>
            </a:solidFill>
            <a:prstDash val="solid"/>
          </a:ln>
        </p:spPr>
        <p:txBody>
          <a:bodyPr/>
          <a:lstStyle/>
          <a:p>
            <a:endParaRPr lang="en-US"/>
          </a:p>
        </p:txBody>
      </p:sp>
      <p:sp>
        <p:nvSpPr>
          <p:cNvPr id="23" name="Shape 21"/>
          <p:cNvSpPr/>
          <p:nvPr/>
        </p:nvSpPr>
        <p:spPr>
          <a:xfrm>
            <a:off x="2029968" y="1371600"/>
            <a:ext cx="0" cy="0"/>
          </a:xfrm>
          <a:prstGeom prst="line">
            <a:avLst/>
          </a:prstGeom>
          <a:noFill/>
          <a:ln w="19050">
            <a:solidFill>
              <a:srgbClr val="F59E0B"/>
            </a:solidFill>
            <a:prstDash val="solid"/>
          </a:ln>
        </p:spPr>
        <p:txBody>
          <a:bodyPr/>
          <a:lstStyle/>
          <a:p>
            <a:endParaRPr lang="en-US"/>
          </a:p>
        </p:txBody>
      </p:sp>
      <p:sp>
        <p:nvSpPr>
          <p:cNvPr id="24" name="Shape 22"/>
          <p:cNvSpPr/>
          <p:nvPr/>
        </p:nvSpPr>
        <p:spPr>
          <a:xfrm>
            <a:off x="2029968" y="1115568"/>
            <a:ext cx="164592" cy="0"/>
          </a:xfrm>
          <a:prstGeom prst="line">
            <a:avLst/>
          </a:prstGeom>
          <a:noFill/>
          <a:ln w="19050">
            <a:solidFill>
              <a:srgbClr val="F59E0B"/>
            </a:solidFill>
            <a:prstDash val="solid"/>
          </a:ln>
        </p:spPr>
        <p:txBody>
          <a:bodyPr/>
          <a:lstStyle/>
          <a:p>
            <a:endParaRPr lang="en-US"/>
          </a:p>
        </p:txBody>
      </p:sp>
      <p:sp>
        <p:nvSpPr>
          <p:cNvPr id="25" name="Shape 23"/>
          <p:cNvSpPr/>
          <p:nvPr/>
        </p:nvSpPr>
        <p:spPr>
          <a:xfrm>
            <a:off x="2194560" y="1115568"/>
            <a:ext cx="0" cy="256032"/>
          </a:xfrm>
          <a:prstGeom prst="line">
            <a:avLst/>
          </a:prstGeom>
          <a:noFill/>
          <a:ln w="19050">
            <a:solidFill>
              <a:srgbClr val="F59E0B"/>
            </a:solidFill>
            <a:prstDash val="solid"/>
          </a:ln>
        </p:spPr>
        <p:txBody>
          <a:bodyPr/>
          <a:lstStyle/>
          <a:p>
            <a:endParaRPr lang="en-US"/>
          </a:p>
        </p:txBody>
      </p:sp>
      <p:sp>
        <p:nvSpPr>
          <p:cNvPr id="26" name="Shape 24"/>
          <p:cNvSpPr/>
          <p:nvPr/>
        </p:nvSpPr>
        <p:spPr>
          <a:xfrm>
            <a:off x="2304288" y="1371600"/>
            <a:ext cx="0" cy="0"/>
          </a:xfrm>
          <a:prstGeom prst="line">
            <a:avLst/>
          </a:prstGeom>
          <a:noFill/>
          <a:ln w="19050">
            <a:solidFill>
              <a:srgbClr val="F59E0B"/>
            </a:solidFill>
            <a:prstDash val="solid"/>
          </a:ln>
        </p:spPr>
        <p:txBody>
          <a:bodyPr/>
          <a:lstStyle/>
          <a:p>
            <a:endParaRPr lang="en-US"/>
          </a:p>
        </p:txBody>
      </p:sp>
      <p:sp>
        <p:nvSpPr>
          <p:cNvPr id="27" name="Shape 25"/>
          <p:cNvSpPr/>
          <p:nvPr/>
        </p:nvSpPr>
        <p:spPr>
          <a:xfrm>
            <a:off x="2304288" y="1115568"/>
            <a:ext cx="164592" cy="0"/>
          </a:xfrm>
          <a:prstGeom prst="line">
            <a:avLst/>
          </a:prstGeom>
          <a:noFill/>
          <a:ln w="19050">
            <a:solidFill>
              <a:srgbClr val="F59E0B"/>
            </a:solidFill>
            <a:prstDash val="solid"/>
          </a:ln>
        </p:spPr>
        <p:txBody>
          <a:bodyPr/>
          <a:lstStyle/>
          <a:p>
            <a:endParaRPr lang="en-US"/>
          </a:p>
        </p:txBody>
      </p:sp>
      <p:sp>
        <p:nvSpPr>
          <p:cNvPr id="28" name="Shape 26"/>
          <p:cNvSpPr/>
          <p:nvPr/>
        </p:nvSpPr>
        <p:spPr>
          <a:xfrm>
            <a:off x="2468880" y="1115568"/>
            <a:ext cx="0" cy="256032"/>
          </a:xfrm>
          <a:prstGeom prst="line">
            <a:avLst/>
          </a:prstGeom>
          <a:noFill/>
          <a:ln w="19050">
            <a:solidFill>
              <a:srgbClr val="F59E0B"/>
            </a:solidFill>
            <a:prstDash val="solid"/>
          </a:ln>
        </p:spPr>
        <p:txBody>
          <a:bodyPr/>
          <a:lstStyle/>
          <a:p>
            <a:endParaRPr lang="en-US"/>
          </a:p>
        </p:txBody>
      </p:sp>
      <p:sp>
        <p:nvSpPr>
          <p:cNvPr id="29" name="Shape 27"/>
          <p:cNvSpPr/>
          <p:nvPr/>
        </p:nvSpPr>
        <p:spPr>
          <a:xfrm>
            <a:off x="2578608" y="1371600"/>
            <a:ext cx="0" cy="0"/>
          </a:xfrm>
          <a:prstGeom prst="line">
            <a:avLst/>
          </a:prstGeom>
          <a:noFill/>
          <a:ln w="19050">
            <a:solidFill>
              <a:srgbClr val="F59E0B"/>
            </a:solidFill>
            <a:prstDash val="solid"/>
          </a:ln>
        </p:spPr>
        <p:txBody>
          <a:bodyPr/>
          <a:lstStyle/>
          <a:p>
            <a:endParaRPr lang="en-US"/>
          </a:p>
        </p:txBody>
      </p:sp>
      <p:sp>
        <p:nvSpPr>
          <p:cNvPr id="30" name="Shape 28"/>
          <p:cNvSpPr/>
          <p:nvPr/>
        </p:nvSpPr>
        <p:spPr>
          <a:xfrm>
            <a:off x="2578608" y="1115568"/>
            <a:ext cx="164592" cy="0"/>
          </a:xfrm>
          <a:prstGeom prst="line">
            <a:avLst/>
          </a:prstGeom>
          <a:noFill/>
          <a:ln w="19050">
            <a:solidFill>
              <a:srgbClr val="F59E0B"/>
            </a:solidFill>
            <a:prstDash val="solid"/>
          </a:ln>
        </p:spPr>
        <p:txBody>
          <a:bodyPr/>
          <a:lstStyle/>
          <a:p>
            <a:endParaRPr lang="en-US"/>
          </a:p>
        </p:txBody>
      </p:sp>
      <p:sp>
        <p:nvSpPr>
          <p:cNvPr id="31" name="Shape 29"/>
          <p:cNvSpPr/>
          <p:nvPr/>
        </p:nvSpPr>
        <p:spPr>
          <a:xfrm>
            <a:off x="2743200" y="1115568"/>
            <a:ext cx="0" cy="256032"/>
          </a:xfrm>
          <a:prstGeom prst="line">
            <a:avLst/>
          </a:prstGeom>
          <a:noFill/>
          <a:ln w="19050">
            <a:solidFill>
              <a:srgbClr val="F59E0B"/>
            </a:solidFill>
            <a:prstDash val="solid"/>
          </a:ln>
        </p:spPr>
        <p:txBody>
          <a:bodyPr/>
          <a:lstStyle/>
          <a:p>
            <a:endParaRPr lang="en-US"/>
          </a:p>
        </p:txBody>
      </p:sp>
      <p:sp>
        <p:nvSpPr>
          <p:cNvPr id="32" name="Shape 30"/>
          <p:cNvSpPr/>
          <p:nvPr/>
        </p:nvSpPr>
        <p:spPr>
          <a:xfrm>
            <a:off x="2852928" y="1371600"/>
            <a:ext cx="0" cy="0"/>
          </a:xfrm>
          <a:prstGeom prst="line">
            <a:avLst/>
          </a:prstGeom>
          <a:noFill/>
          <a:ln w="19050">
            <a:solidFill>
              <a:srgbClr val="F59E0B"/>
            </a:solidFill>
            <a:prstDash val="solid"/>
          </a:ln>
        </p:spPr>
        <p:txBody>
          <a:bodyPr/>
          <a:lstStyle/>
          <a:p>
            <a:endParaRPr lang="en-US"/>
          </a:p>
        </p:txBody>
      </p:sp>
      <p:sp>
        <p:nvSpPr>
          <p:cNvPr id="33" name="Shape 31"/>
          <p:cNvSpPr/>
          <p:nvPr/>
        </p:nvSpPr>
        <p:spPr>
          <a:xfrm>
            <a:off x="2852928" y="1115568"/>
            <a:ext cx="164592" cy="0"/>
          </a:xfrm>
          <a:prstGeom prst="line">
            <a:avLst/>
          </a:prstGeom>
          <a:noFill/>
          <a:ln w="19050">
            <a:solidFill>
              <a:srgbClr val="F59E0B"/>
            </a:solidFill>
            <a:prstDash val="solid"/>
          </a:ln>
        </p:spPr>
        <p:txBody>
          <a:bodyPr/>
          <a:lstStyle/>
          <a:p>
            <a:endParaRPr lang="en-US"/>
          </a:p>
        </p:txBody>
      </p:sp>
      <p:sp>
        <p:nvSpPr>
          <p:cNvPr id="34" name="Shape 32"/>
          <p:cNvSpPr/>
          <p:nvPr/>
        </p:nvSpPr>
        <p:spPr>
          <a:xfrm>
            <a:off x="3017520" y="1115568"/>
            <a:ext cx="0" cy="256032"/>
          </a:xfrm>
          <a:prstGeom prst="line">
            <a:avLst/>
          </a:prstGeom>
          <a:noFill/>
          <a:ln w="19050">
            <a:solidFill>
              <a:srgbClr val="F59E0B"/>
            </a:solidFill>
            <a:prstDash val="solid"/>
          </a:ln>
        </p:spPr>
        <p:txBody>
          <a:bodyPr/>
          <a:lstStyle/>
          <a:p>
            <a:endParaRPr lang="en-US"/>
          </a:p>
        </p:txBody>
      </p:sp>
      <p:sp>
        <p:nvSpPr>
          <p:cNvPr id="35" name="Shape 33"/>
          <p:cNvSpPr/>
          <p:nvPr/>
        </p:nvSpPr>
        <p:spPr>
          <a:xfrm>
            <a:off x="3127248" y="1371600"/>
            <a:ext cx="0" cy="0"/>
          </a:xfrm>
          <a:prstGeom prst="line">
            <a:avLst/>
          </a:prstGeom>
          <a:noFill/>
          <a:ln w="19050">
            <a:solidFill>
              <a:srgbClr val="F59E0B"/>
            </a:solidFill>
            <a:prstDash val="solid"/>
          </a:ln>
        </p:spPr>
        <p:txBody>
          <a:bodyPr/>
          <a:lstStyle/>
          <a:p>
            <a:endParaRPr lang="en-US"/>
          </a:p>
        </p:txBody>
      </p:sp>
      <p:sp>
        <p:nvSpPr>
          <p:cNvPr id="36" name="Shape 34"/>
          <p:cNvSpPr/>
          <p:nvPr/>
        </p:nvSpPr>
        <p:spPr>
          <a:xfrm>
            <a:off x="3127248" y="1115568"/>
            <a:ext cx="164592" cy="0"/>
          </a:xfrm>
          <a:prstGeom prst="line">
            <a:avLst/>
          </a:prstGeom>
          <a:noFill/>
          <a:ln w="19050">
            <a:solidFill>
              <a:srgbClr val="F59E0B"/>
            </a:solidFill>
            <a:prstDash val="solid"/>
          </a:ln>
        </p:spPr>
        <p:txBody>
          <a:bodyPr/>
          <a:lstStyle/>
          <a:p>
            <a:endParaRPr lang="en-US"/>
          </a:p>
        </p:txBody>
      </p:sp>
      <p:sp>
        <p:nvSpPr>
          <p:cNvPr id="37" name="Shape 35"/>
          <p:cNvSpPr/>
          <p:nvPr/>
        </p:nvSpPr>
        <p:spPr>
          <a:xfrm>
            <a:off x="3291840" y="1115568"/>
            <a:ext cx="0" cy="256032"/>
          </a:xfrm>
          <a:prstGeom prst="line">
            <a:avLst/>
          </a:prstGeom>
          <a:noFill/>
          <a:ln w="19050">
            <a:solidFill>
              <a:srgbClr val="F59E0B"/>
            </a:solidFill>
            <a:prstDash val="solid"/>
          </a:ln>
        </p:spPr>
        <p:txBody>
          <a:bodyPr/>
          <a:lstStyle/>
          <a:p>
            <a:endParaRPr lang="en-US"/>
          </a:p>
        </p:txBody>
      </p:sp>
      <p:sp>
        <p:nvSpPr>
          <p:cNvPr id="38" name="Shape 36"/>
          <p:cNvSpPr/>
          <p:nvPr/>
        </p:nvSpPr>
        <p:spPr>
          <a:xfrm>
            <a:off x="457200" y="1371600"/>
            <a:ext cx="3200400" cy="0"/>
          </a:xfrm>
          <a:prstGeom prst="line">
            <a:avLst/>
          </a:prstGeom>
          <a:noFill/>
          <a:ln w="19050">
            <a:solidFill>
              <a:srgbClr val="F59E0B"/>
            </a:solidFill>
            <a:prstDash val="solid"/>
          </a:ln>
        </p:spPr>
        <p:txBody>
          <a:bodyPr/>
          <a:lstStyle/>
          <a:p>
            <a:endParaRPr lang="en-US"/>
          </a:p>
        </p:txBody>
      </p:sp>
      <p:sp>
        <p:nvSpPr>
          <p:cNvPr id="39" name="Text 37"/>
          <p:cNvSpPr/>
          <p:nvPr/>
        </p:nvSpPr>
        <p:spPr>
          <a:xfrm>
            <a:off x="457200" y="1389888"/>
            <a:ext cx="320040" cy="164592"/>
          </a:xfrm>
          <a:prstGeom prst="rect">
            <a:avLst/>
          </a:prstGeom>
          <a:noFill/>
        </p:spPr>
        <p:txBody>
          <a:bodyPr wrap="square" lIns="0" tIns="0" rIns="0" bIns="0" rtlCol="0" anchor="ctr"/>
          <a:lstStyle/>
          <a:p>
            <a:pPr marL="0" indent="0">
              <a:buNone/>
            </a:pPr>
            <a:r>
              <a:rPr lang="en-US" sz="750" dirty="0">
                <a:solidFill>
                  <a:srgbClr val="94A3B8"/>
                </a:solidFill>
              </a:rPr>
              <a:t>ACT</a:t>
            </a:r>
            <a:endParaRPr lang="en-US" sz="750" dirty="0"/>
          </a:p>
        </p:txBody>
      </p:sp>
      <p:sp>
        <p:nvSpPr>
          <p:cNvPr id="40" name="Text 38"/>
          <p:cNvSpPr/>
          <p:nvPr/>
        </p:nvSpPr>
        <p:spPr>
          <a:xfrm>
            <a:off x="708660" y="1389888"/>
            <a:ext cx="320040" cy="164592"/>
          </a:xfrm>
          <a:prstGeom prst="rect">
            <a:avLst/>
          </a:prstGeom>
          <a:noFill/>
        </p:spPr>
        <p:txBody>
          <a:bodyPr wrap="square" lIns="0" tIns="0" rIns="0" bIns="0" rtlCol="0" anchor="ctr"/>
          <a:lstStyle/>
          <a:p>
            <a:pPr marL="0" indent="0">
              <a:buNone/>
            </a:pPr>
            <a:r>
              <a:rPr lang="en-US" sz="750" dirty="0">
                <a:solidFill>
                  <a:srgbClr val="94A3B8"/>
                </a:solidFill>
              </a:rPr>
              <a:t>PRE</a:t>
            </a:r>
            <a:endParaRPr lang="en-US" sz="750" dirty="0"/>
          </a:p>
        </p:txBody>
      </p:sp>
      <p:sp>
        <p:nvSpPr>
          <p:cNvPr id="41" name="Text 39"/>
          <p:cNvSpPr/>
          <p:nvPr/>
        </p:nvSpPr>
        <p:spPr>
          <a:xfrm>
            <a:off x="457200" y="1600200"/>
            <a:ext cx="3474720" cy="201168"/>
          </a:xfrm>
          <a:prstGeom prst="rect">
            <a:avLst/>
          </a:prstGeom>
          <a:noFill/>
        </p:spPr>
        <p:txBody>
          <a:bodyPr wrap="square" lIns="0" tIns="0" rIns="0" bIns="0" rtlCol="0" anchor="ctr"/>
          <a:lstStyle/>
          <a:p>
            <a:pPr marL="0" indent="0">
              <a:buNone/>
            </a:pPr>
            <a:r>
              <a:rPr lang="en-US" sz="900" i="1" dirty="0">
                <a:solidFill>
                  <a:srgbClr val="94A3B8"/>
                </a:solidFill>
              </a:rPr>
              <a:t>→ Repeat N times (Hammer Count)</a:t>
            </a:r>
            <a:endParaRPr lang="en-US" sz="900" dirty="0"/>
          </a:p>
        </p:txBody>
      </p:sp>
      <p:sp>
        <p:nvSpPr>
          <p:cNvPr id="42" name="Shape 40"/>
          <p:cNvSpPr/>
          <p:nvPr/>
        </p:nvSpPr>
        <p:spPr>
          <a:xfrm>
            <a:off x="457200" y="1847088"/>
            <a:ext cx="3474720" cy="256032"/>
          </a:xfrm>
          <a:prstGeom prst="rect">
            <a:avLst/>
          </a:prstGeom>
          <a:solidFill>
            <a:srgbClr val="0F2040"/>
          </a:solidFill>
          <a:ln w="12700">
            <a:solidFill>
              <a:srgbClr val="EF4444"/>
            </a:solidFill>
            <a:prstDash val="solid"/>
          </a:ln>
        </p:spPr>
        <p:txBody>
          <a:bodyPr/>
          <a:lstStyle/>
          <a:p>
            <a:endParaRPr lang="en-US"/>
          </a:p>
        </p:txBody>
      </p:sp>
      <p:sp>
        <p:nvSpPr>
          <p:cNvPr id="43" name="Text 41"/>
          <p:cNvSpPr/>
          <p:nvPr/>
        </p:nvSpPr>
        <p:spPr>
          <a:xfrm>
            <a:off x="502920" y="1847088"/>
            <a:ext cx="3383280" cy="256032"/>
          </a:xfrm>
          <a:prstGeom prst="rect">
            <a:avLst/>
          </a:prstGeom>
          <a:noFill/>
        </p:spPr>
        <p:txBody>
          <a:bodyPr wrap="square" lIns="0" tIns="0" rIns="0" bIns="0" rtlCol="0" anchor="ctr"/>
          <a:lstStyle/>
          <a:p>
            <a:pPr marL="0" indent="0">
              <a:buNone/>
            </a:pPr>
            <a:r>
              <a:rPr lang="en-US" sz="950" dirty="0">
                <a:solidFill>
                  <a:srgbClr val="E2E8F0"/>
                </a:solidFill>
              </a:rPr>
              <a:t>Victim row bits flip when aggressor HC exceeds threshold (~880K-1.36M ACTs)</a:t>
            </a:r>
            <a:endParaRPr lang="en-US" sz="950" dirty="0"/>
          </a:p>
        </p:txBody>
      </p:sp>
      <p:sp>
        <p:nvSpPr>
          <p:cNvPr id="44" name="Text 42"/>
          <p:cNvSpPr/>
          <p:nvPr/>
        </p:nvSpPr>
        <p:spPr>
          <a:xfrm>
            <a:off x="457200" y="2176272"/>
            <a:ext cx="3566160" cy="201168"/>
          </a:xfrm>
          <a:prstGeom prst="rect">
            <a:avLst/>
          </a:prstGeom>
          <a:noFill/>
        </p:spPr>
        <p:txBody>
          <a:bodyPr wrap="square" lIns="0" tIns="0" rIns="0" bIns="0" rtlCol="0" anchor="ctr"/>
          <a:lstStyle/>
          <a:p>
            <a:pPr marL="0" indent="0">
              <a:buNone/>
            </a:pPr>
            <a:r>
              <a:rPr lang="en-US" sz="900" dirty="0">
                <a:solidFill>
                  <a:srgbClr val="F59E0B"/>
                </a:solidFill>
              </a:rPr>
              <a:t>tRAS (short active window, then close row)</a:t>
            </a:r>
            <a:endParaRPr lang="en-US" sz="900" dirty="0"/>
          </a:p>
        </p:txBody>
      </p:sp>
      <p:sp>
        <p:nvSpPr>
          <p:cNvPr id="45" name="Text 43"/>
          <p:cNvSpPr/>
          <p:nvPr/>
        </p:nvSpPr>
        <p:spPr>
          <a:xfrm>
            <a:off x="457200" y="2395728"/>
            <a:ext cx="3566160" cy="256032"/>
          </a:xfrm>
          <a:prstGeom prst="rect">
            <a:avLst/>
          </a:prstGeom>
          <a:noFill/>
        </p:spPr>
        <p:txBody>
          <a:bodyPr wrap="square" lIns="0" tIns="0" rIns="0" bIns="0" rtlCol="0" anchor="ctr"/>
          <a:lstStyle/>
          <a:p>
            <a:pPr marL="0" indent="0">
              <a:buNone/>
            </a:pPr>
            <a:r>
              <a:rPr lang="en-US" sz="950" i="1" dirty="0">
                <a:solidFill>
                  <a:srgbClr val="94A3B8"/>
                </a:solidFill>
              </a:rPr>
              <a:t>Defense detected by: Counter-based TRR (counts ACT frequency)</a:t>
            </a:r>
            <a:endParaRPr lang="en-US" sz="950" dirty="0"/>
          </a:p>
        </p:txBody>
      </p:sp>
      <p:sp>
        <p:nvSpPr>
          <p:cNvPr id="46" name="Shape 44"/>
          <p:cNvSpPr/>
          <p:nvPr/>
        </p:nvSpPr>
        <p:spPr>
          <a:xfrm>
            <a:off x="4846320" y="960120"/>
            <a:ext cx="3931920" cy="1828800"/>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47" name="Text 45"/>
          <p:cNvSpPr/>
          <p:nvPr/>
        </p:nvSpPr>
        <p:spPr>
          <a:xfrm>
            <a:off x="4899660" y="906222"/>
            <a:ext cx="3749040" cy="256032"/>
          </a:xfrm>
          <a:prstGeom prst="rect">
            <a:avLst/>
          </a:prstGeom>
          <a:noFill/>
        </p:spPr>
        <p:txBody>
          <a:bodyPr wrap="square" lIns="0" tIns="0" rIns="0" bIns="0" rtlCol="0" anchor="ctr"/>
          <a:lstStyle/>
          <a:p>
            <a:pPr marL="0" indent="0">
              <a:buNone/>
            </a:pPr>
            <a:r>
              <a:rPr lang="en-US" sz="1200" b="1" dirty="0">
                <a:solidFill>
                  <a:srgbClr val="8B5CF6"/>
                </a:solidFill>
              </a:rPr>
              <a:t>RowPress: Timing Diagram</a:t>
            </a:r>
            <a:endParaRPr lang="en-US" sz="1200" dirty="0"/>
          </a:p>
        </p:txBody>
      </p:sp>
      <p:sp>
        <p:nvSpPr>
          <p:cNvPr id="48" name="Shape 46"/>
          <p:cNvSpPr/>
          <p:nvPr/>
        </p:nvSpPr>
        <p:spPr>
          <a:xfrm>
            <a:off x="5029200" y="1371600"/>
            <a:ext cx="0" cy="0"/>
          </a:xfrm>
          <a:prstGeom prst="line">
            <a:avLst/>
          </a:prstGeom>
          <a:noFill/>
          <a:ln w="19050">
            <a:solidFill>
              <a:srgbClr val="8B5CF6"/>
            </a:solidFill>
            <a:prstDash val="solid"/>
          </a:ln>
        </p:spPr>
        <p:txBody>
          <a:bodyPr/>
          <a:lstStyle/>
          <a:p>
            <a:endParaRPr lang="en-US"/>
          </a:p>
        </p:txBody>
      </p:sp>
      <p:sp>
        <p:nvSpPr>
          <p:cNvPr id="49" name="Shape 47"/>
          <p:cNvSpPr/>
          <p:nvPr/>
        </p:nvSpPr>
        <p:spPr>
          <a:xfrm>
            <a:off x="5029200" y="1115568"/>
            <a:ext cx="2560320" cy="0"/>
          </a:xfrm>
          <a:prstGeom prst="line">
            <a:avLst/>
          </a:prstGeom>
          <a:noFill/>
          <a:ln w="31750">
            <a:solidFill>
              <a:srgbClr val="8B5CF6"/>
            </a:solidFill>
            <a:prstDash val="solid"/>
          </a:ln>
        </p:spPr>
        <p:txBody>
          <a:bodyPr/>
          <a:lstStyle/>
          <a:p>
            <a:endParaRPr lang="en-US"/>
          </a:p>
        </p:txBody>
      </p:sp>
      <p:sp>
        <p:nvSpPr>
          <p:cNvPr id="50" name="Shape 48"/>
          <p:cNvSpPr/>
          <p:nvPr/>
        </p:nvSpPr>
        <p:spPr>
          <a:xfrm>
            <a:off x="7589520" y="1115568"/>
            <a:ext cx="0" cy="256032"/>
          </a:xfrm>
          <a:prstGeom prst="line">
            <a:avLst/>
          </a:prstGeom>
          <a:noFill/>
          <a:ln w="19050">
            <a:solidFill>
              <a:srgbClr val="8B5CF6"/>
            </a:solidFill>
            <a:prstDash val="solid"/>
          </a:ln>
        </p:spPr>
        <p:txBody>
          <a:bodyPr/>
          <a:lstStyle/>
          <a:p>
            <a:endParaRPr lang="en-US"/>
          </a:p>
        </p:txBody>
      </p:sp>
      <p:sp>
        <p:nvSpPr>
          <p:cNvPr id="51" name="Shape 49"/>
          <p:cNvSpPr/>
          <p:nvPr/>
        </p:nvSpPr>
        <p:spPr>
          <a:xfrm>
            <a:off x="5029200" y="1371600"/>
            <a:ext cx="228600" cy="0"/>
          </a:xfrm>
          <a:prstGeom prst="line">
            <a:avLst/>
          </a:prstGeom>
          <a:noFill/>
          <a:ln w="19050">
            <a:solidFill>
              <a:srgbClr val="8B5CF6"/>
            </a:solidFill>
            <a:prstDash val="solid"/>
          </a:ln>
        </p:spPr>
        <p:txBody>
          <a:bodyPr/>
          <a:lstStyle/>
          <a:p>
            <a:endParaRPr lang="en-US"/>
          </a:p>
        </p:txBody>
      </p:sp>
      <p:sp>
        <p:nvSpPr>
          <p:cNvPr id="52" name="Shape 50"/>
          <p:cNvSpPr/>
          <p:nvPr/>
        </p:nvSpPr>
        <p:spPr>
          <a:xfrm>
            <a:off x="7589520" y="1371600"/>
            <a:ext cx="914400" cy="0"/>
          </a:xfrm>
          <a:prstGeom prst="line">
            <a:avLst/>
          </a:prstGeom>
          <a:noFill/>
          <a:ln w="19050">
            <a:solidFill>
              <a:srgbClr val="8B5CF6"/>
            </a:solidFill>
            <a:prstDash val="solid"/>
          </a:ln>
        </p:spPr>
        <p:txBody>
          <a:bodyPr/>
          <a:lstStyle/>
          <a:p>
            <a:endParaRPr lang="en-US"/>
          </a:p>
        </p:txBody>
      </p:sp>
      <p:sp>
        <p:nvSpPr>
          <p:cNvPr id="53" name="Shape 51"/>
          <p:cNvSpPr/>
          <p:nvPr/>
        </p:nvSpPr>
        <p:spPr>
          <a:xfrm>
            <a:off x="5029200" y="1517904"/>
            <a:ext cx="2560320" cy="0"/>
          </a:xfrm>
          <a:prstGeom prst="line">
            <a:avLst/>
          </a:prstGeom>
          <a:noFill/>
          <a:ln w="6350">
            <a:solidFill>
              <a:srgbClr val="94A3B8"/>
            </a:solidFill>
            <a:prstDash val="dash"/>
          </a:ln>
        </p:spPr>
        <p:txBody>
          <a:bodyPr/>
          <a:lstStyle/>
          <a:p>
            <a:endParaRPr lang="en-US"/>
          </a:p>
        </p:txBody>
      </p:sp>
      <p:sp>
        <p:nvSpPr>
          <p:cNvPr id="54" name="Text 52"/>
          <p:cNvSpPr/>
          <p:nvPr/>
        </p:nvSpPr>
        <p:spPr>
          <a:xfrm>
            <a:off x="5852160" y="1344168"/>
            <a:ext cx="1371600" cy="201168"/>
          </a:xfrm>
          <a:prstGeom prst="rect">
            <a:avLst/>
          </a:prstGeom>
          <a:noFill/>
        </p:spPr>
        <p:txBody>
          <a:bodyPr wrap="square" lIns="0" tIns="0" rIns="0" bIns="0" rtlCol="0" anchor="ctr"/>
          <a:lstStyle/>
          <a:p>
            <a:pPr marL="0" indent="0" algn="ctr">
              <a:buNone/>
            </a:pPr>
            <a:r>
              <a:rPr lang="en-US" sz="850" dirty="0">
                <a:solidFill>
                  <a:srgbClr val="8B5CF6"/>
                </a:solidFill>
              </a:rPr>
              <a:t>T (long open window)</a:t>
            </a:r>
            <a:endParaRPr lang="en-US" sz="850" dirty="0"/>
          </a:p>
        </p:txBody>
      </p:sp>
      <p:sp>
        <p:nvSpPr>
          <p:cNvPr id="55" name="Text 53"/>
          <p:cNvSpPr/>
          <p:nvPr/>
        </p:nvSpPr>
        <p:spPr>
          <a:xfrm>
            <a:off x="5047488" y="1389888"/>
            <a:ext cx="365760" cy="164592"/>
          </a:xfrm>
          <a:prstGeom prst="rect">
            <a:avLst/>
          </a:prstGeom>
          <a:noFill/>
        </p:spPr>
        <p:txBody>
          <a:bodyPr wrap="square" lIns="0" tIns="0" rIns="0" bIns="0" rtlCol="0" anchor="ctr"/>
          <a:lstStyle/>
          <a:p>
            <a:pPr marL="0" indent="0">
              <a:buNone/>
            </a:pPr>
            <a:r>
              <a:rPr lang="en-US" sz="750" dirty="0">
                <a:solidFill>
                  <a:srgbClr val="94A3B8"/>
                </a:solidFill>
              </a:rPr>
              <a:t>ACT</a:t>
            </a:r>
            <a:endParaRPr lang="en-US" sz="750" dirty="0"/>
          </a:p>
        </p:txBody>
      </p:sp>
      <p:sp>
        <p:nvSpPr>
          <p:cNvPr id="56" name="Text 54"/>
          <p:cNvSpPr/>
          <p:nvPr/>
        </p:nvSpPr>
        <p:spPr>
          <a:xfrm>
            <a:off x="7607808" y="1389888"/>
            <a:ext cx="365760" cy="164592"/>
          </a:xfrm>
          <a:prstGeom prst="rect">
            <a:avLst/>
          </a:prstGeom>
          <a:noFill/>
        </p:spPr>
        <p:txBody>
          <a:bodyPr wrap="square" lIns="0" tIns="0" rIns="0" bIns="0" rtlCol="0" anchor="ctr"/>
          <a:lstStyle/>
          <a:p>
            <a:pPr marL="0" indent="0">
              <a:buNone/>
            </a:pPr>
            <a:r>
              <a:rPr lang="en-US" sz="750" dirty="0">
                <a:solidFill>
                  <a:srgbClr val="94A3B8"/>
                </a:solidFill>
              </a:rPr>
              <a:t>PRE</a:t>
            </a:r>
            <a:endParaRPr lang="en-US" sz="750" dirty="0"/>
          </a:p>
        </p:txBody>
      </p:sp>
      <p:sp>
        <p:nvSpPr>
          <p:cNvPr id="57" name="Text 55"/>
          <p:cNvSpPr/>
          <p:nvPr/>
        </p:nvSpPr>
        <p:spPr>
          <a:xfrm>
            <a:off x="4937760" y="1600200"/>
            <a:ext cx="3566160" cy="201168"/>
          </a:xfrm>
          <a:prstGeom prst="rect">
            <a:avLst/>
          </a:prstGeom>
          <a:noFill/>
        </p:spPr>
        <p:txBody>
          <a:bodyPr wrap="square" lIns="0" tIns="0" rIns="0" bIns="0" rtlCol="0" anchor="ctr"/>
          <a:lstStyle/>
          <a:p>
            <a:pPr marL="0" indent="0">
              <a:buNone/>
            </a:pPr>
            <a:r>
              <a:rPr lang="en-US" sz="900" i="1" dirty="0">
                <a:solidFill>
                  <a:srgbClr val="94A3B8"/>
                </a:solidFill>
              </a:rPr>
              <a:t>→ Only ONE activation, hold for duration T &lt; tREF</a:t>
            </a:r>
            <a:endParaRPr lang="en-US" sz="900" dirty="0"/>
          </a:p>
        </p:txBody>
      </p:sp>
      <p:sp>
        <p:nvSpPr>
          <p:cNvPr id="58" name="Shape 56"/>
          <p:cNvSpPr/>
          <p:nvPr/>
        </p:nvSpPr>
        <p:spPr>
          <a:xfrm>
            <a:off x="4937760" y="1847088"/>
            <a:ext cx="3474720" cy="256032"/>
          </a:xfrm>
          <a:prstGeom prst="rect">
            <a:avLst/>
          </a:prstGeom>
          <a:solidFill>
            <a:srgbClr val="0F2040"/>
          </a:solidFill>
          <a:ln w="12700">
            <a:solidFill>
              <a:srgbClr val="EF4444"/>
            </a:solidFill>
            <a:prstDash val="solid"/>
          </a:ln>
        </p:spPr>
        <p:txBody>
          <a:bodyPr/>
          <a:lstStyle/>
          <a:p>
            <a:endParaRPr lang="en-US"/>
          </a:p>
        </p:txBody>
      </p:sp>
      <p:sp>
        <p:nvSpPr>
          <p:cNvPr id="59" name="Text 57"/>
          <p:cNvSpPr/>
          <p:nvPr/>
        </p:nvSpPr>
        <p:spPr>
          <a:xfrm>
            <a:off x="4983480" y="1847088"/>
            <a:ext cx="3383280" cy="256032"/>
          </a:xfrm>
          <a:prstGeom prst="rect">
            <a:avLst/>
          </a:prstGeom>
          <a:noFill/>
        </p:spPr>
        <p:txBody>
          <a:bodyPr wrap="square" lIns="0" tIns="0" rIns="0" bIns="0" rtlCol="0" anchor="ctr"/>
          <a:lstStyle/>
          <a:p>
            <a:pPr marL="0" indent="0">
              <a:buNone/>
            </a:pPr>
            <a:r>
              <a:rPr lang="en-US" sz="950" dirty="0">
                <a:solidFill>
                  <a:srgbClr val="E2E8F0"/>
                </a:solidFill>
              </a:rPr>
              <a:t>Bit-flips accumulate via prolonged charge leakage — fewer activations needed</a:t>
            </a:r>
            <a:endParaRPr lang="en-US" sz="950" dirty="0"/>
          </a:p>
        </p:txBody>
      </p:sp>
      <p:sp>
        <p:nvSpPr>
          <p:cNvPr id="60" name="Text 58"/>
          <p:cNvSpPr/>
          <p:nvPr/>
        </p:nvSpPr>
        <p:spPr>
          <a:xfrm>
            <a:off x="4937760" y="2176272"/>
            <a:ext cx="3566160" cy="256032"/>
          </a:xfrm>
          <a:prstGeom prst="rect">
            <a:avLst/>
          </a:prstGeom>
          <a:noFill/>
        </p:spPr>
        <p:txBody>
          <a:bodyPr wrap="square" lIns="0" tIns="0" rIns="0" bIns="0" rtlCol="0" anchor="ctr"/>
          <a:lstStyle/>
          <a:p>
            <a:pPr marL="0" indent="0">
              <a:buNone/>
            </a:pPr>
            <a:r>
              <a:rPr lang="en-US" sz="900" dirty="0">
                <a:solidFill>
                  <a:srgbClr val="8B5CF6"/>
                </a:solidFill>
              </a:rPr>
              <a:t>tRAS extended (row stays open), Counter stays at 1 — invisible to TRR!</a:t>
            </a:r>
            <a:endParaRPr lang="en-US" sz="900" dirty="0"/>
          </a:p>
        </p:txBody>
      </p:sp>
      <p:sp>
        <p:nvSpPr>
          <p:cNvPr id="61" name="Text 59"/>
          <p:cNvSpPr/>
          <p:nvPr/>
        </p:nvSpPr>
        <p:spPr>
          <a:xfrm>
            <a:off x="4937760" y="2450592"/>
            <a:ext cx="3566160" cy="201168"/>
          </a:xfrm>
          <a:prstGeom prst="rect">
            <a:avLst/>
          </a:prstGeom>
          <a:noFill/>
        </p:spPr>
        <p:txBody>
          <a:bodyPr wrap="square" lIns="0" tIns="0" rIns="0" bIns="0" rtlCol="0" anchor="ctr"/>
          <a:lstStyle/>
          <a:p>
            <a:pPr marL="0" indent="0">
              <a:buNone/>
            </a:pPr>
            <a:r>
              <a:rPr lang="en-US" sz="950" b="1" i="1" dirty="0">
                <a:solidFill>
                  <a:srgbClr val="22C55E"/>
                </a:solidFill>
              </a:rPr>
              <a:t>Defense: Counter-based TRR sees only 1 ACT → BYPASSED</a:t>
            </a:r>
            <a:endParaRPr lang="en-US" sz="950" dirty="0"/>
          </a:p>
        </p:txBody>
      </p:sp>
      <p:sp>
        <p:nvSpPr>
          <p:cNvPr id="62" name="Shape 60"/>
          <p:cNvSpPr/>
          <p:nvPr/>
        </p:nvSpPr>
        <p:spPr>
          <a:xfrm>
            <a:off x="4187952" y="1463040"/>
            <a:ext cx="768096" cy="768096"/>
          </a:xfrm>
          <a:prstGeom prst="ellipse">
            <a:avLst/>
          </a:prstGeom>
          <a:solidFill>
            <a:srgbClr val="2563EB"/>
          </a:solidFill>
          <a:ln w="25400">
            <a:solidFill>
              <a:srgbClr val="3B82F6"/>
            </a:solidFill>
            <a:prstDash val="solid"/>
          </a:ln>
        </p:spPr>
        <p:txBody>
          <a:bodyPr/>
          <a:lstStyle/>
          <a:p>
            <a:endParaRPr lang="en-US"/>
          </a:p>
        </p:txBody>
      </p:sp>
      <p:sp>
        <p:nvSpPr>
          <p:cNvPr id="63" name="Text 61"/>
          <p:cNvSpPr/>
          <p:nvPr/>
        </p:nvSpPr>
        <p:spPr>
          <a:xfrm>
            <a:off x="4187952" y="1463040"/>
            <a:ext cx="768096" cy="768096"/>
          </a:xfrm>
          <a:prstGeom prst="rect">
            <a:avLst/>
          </a:prstGeom>
          <a:noFill/>
        </p:spPr>
        <p:txBody>
          <a:bodyPr wrap="square" lIns="0" tIns="0" rIns="0" bIns="0" rtlCol="0" anchor="ctr"/>
          <a:lstStyle/>
          <a:p>
            <a:pPr marL="0" indent="0" algn="ctr">
              <a:buNone/>
            </a:pPr>
            <a:r>
              <a:rPr lang="en-US" sz="1500" b="1" dirty="0">
                <a:solidFill>
                  <a:srgbClr val="FFFFFF"/>
                </a:solidFill>
              </a:rPr>
              <a:t>VS</a:t>
            </a:r>
            <a:endParaRPr lang="en-US" sz="1500" dirty="0"/>
          </a:p>
        </p:txBody>
      </p:sp>
      <p:sp>
        <p:nvSpPr>
          <p:cNvPr id="64" name="Text 62"/>
          <p:cNvSpPr/>
          <p:nvPr/>
        </p:nvSpPr>
        <p:spPr>
          <a:xfrm>
            <a:off x="365760" y="2880360"/>
            <a:ext cx="8412480" cy="292608"/>
          </a:xfrm>
          <a:prstGeom prst="rect">
            <a:avLst/>
          </a:prstGeom>
          <a:noFill/>
        </p:spPr>
        <p:txBody>
          <a:bodyPr wrap="square" rtlCol="0" anchor="ctr"/>
          <a:lstStyle/>
          <a:p>
            <a:pPr marL="0" indent="0">
              <a:buNone/>
            </a:pPr>
            <a:r>
              <a:rPr lang="en-US" sz="1300" b="1" dirty="0">
                <a:solidFill>
                  <a:srgbClr val="E2E8F0"/>
                </a:solidFill>
              </a:rPr>
              <a:t>Key Differences</a:t>
            </a:r>
            <a:endParaRPr lang="en-US" sz="1300" dirty="0"/>
          </a:p>
        </p:txBody>
      </p:sp>
      <p:sp>
        <p:nvSpPr>
          <p:cNvPr id="65" name="Shape 63"/>
          <p:cNvSpPr/>
          <p:nvPr/>
        </p:nvSpPr>
        <p:spPr>
          <a:xfrm>
            <a:off x="365760" y="3218688"/>
            <a:ext cx="1645920" cy="301752"/>
          </a:xfrm>
          <a:prstGeom prst="rect">
            <a:avLst/>
          </a:prstGeom>
          <a:solidFill>
            <a:srgbClr val="2563EB"/>
          </a:solidFill>
          <a:ln w="6350">
            <a:solidFill>
              <a:srgbClr val="1E3A5F"/>
            </a:solidFill>
            <a:prstDash val="solid"/>
          </a:ln>
        </p:spPr>
        <p:txBody>
          <a:bodyPr/>
          <a:lstStyle/>
          <a:p>
            <a:endParaRPr lang="en-US"/>
          </a:p>
        </p:txBody>
      </p:sp>
      <p:sp>
        <p:nvSpPr>
          <p:cNvPr id="66" name="Text 64"/>
          <p:cNvSpPr/>
          <p:nvPr/>
        </p:nvSpPr>
        <p:spPr>
          <a:xfrm>
            <a:off x="420624" y="3246120"/>
            <a:ext cx="1554480" cy="246888"/>
          </a:xfrm>
          <a:prstGeom prst="rect">
            <a:avLst/>
          </a:prstGeom>
          <a:noFill/>
        </p:spPr>
        <p:txBody>
          <a:bodyPr wrap="square" lIns="0" tIns="0" rIns="0" bIns="0" rtlCol="0" anchor="ctr"/>
          <a:lstStyle/>
          <a:p>
            <a:pPr marL="0" indent="0">
              <a:buNone/>
            </a:pPr>
            <a:r>
              <a:rPr lang="en-US" sz="1100" b="1" dirty="0">
                <a:solidFill>
                  <a:srgbClr val="FFFFFF"/>
                </a:solidFill>
              </a:rPr>
              <a:t>Property</a:t>
            </a:r>
            <a:endParaRPr lang="en-US" sz="1100" dirty="0"/>
          </a:p>
        </p:txBody>
      </p:sp>
      <p:sp>
        <p:nvSpPr>
          <p:cNvPr id="71" name="Shape 69"/>
          <p:cNvSpPr/>
          <p:nvPr/>
        </p:nvSpPr>
        <p:spPr>
          <a:xfrm>
            <a:off x="365760" y="3520440"/>
            <a:ext cx="1645920" cy="301752"/>
          </a:xfrm>
          <a:prstGeom prst="rect">
            <a:avLst/>
          </a:prstGeom>
          <a:solidFill>
            <a:srgbClr val="162035"/>
          </a:solidFill>
          <a:ln w="6350">
            <a:solidFill>
              <a:srgbClr val="1E3A5F"/>
            </a:solidFill>
            <a:prstDash val="solid"/>
          </a:ln>
        </p:spPr>
        <p:txBody>
          <a:bodyPr/>
          <a:lstStyle/>
          <a:p>
            <a:endParaRPr lang="en-US"/>
          </a:p>
        </p:txBody>
      </p:sp>
      <p:sp>
        <p:nvSpPr>
          <p:cNvPr id="72" name="Text 70"/>
          <p:cNvSpPr/>
          <p:nvPr/>
        </p:nvSpPr>
        <p:spPr>
          <a:xfrm>
            <a:off x="420624" y="3547872"/>
            <a:ext cx="1554480" cy="246888"/>
          </a:xfrm>
          <a:prstGeom prst="rect">
            <a:avLst/>
          </a:prstGeom>
          <a:noFill/>
        </p:spPr>
        <p:txBody>
          <a:bodyPr wrap="square" lIns="0" tIns="0" rIns="0" bIns="0" rtlCol="0" anchor="ctr"/>
          <a:lstStyle/>
          <a:p>
            <a:pPr marL="0" indent="0">
              <a:buNone/>
            </a:pPr>
            <a:r>
              <a:rPr lang="en-US" sz="1000" dirty="0">
                <a:solidFill>
                  <a:srgbClr val="94A3B8"/>
                </a:solidFill>
              </a:rPr>
              <a:t>Mechanism</a:t>
            </a:r>
            <a:endParaRPr lang="en-US" sz="1000" dirty="0"/>
          </a:p>
        </p:txBody>
      </p:sp>
      <p:sp>
        <p:nvSpPr>
          <p:cNvPr id="77" name="Shape 75"/>
          <p:cNvSpPr/>
          <p:nvPr/>
        </p:nvSpPr>
        <p:spPr>
          <a:xfrm>
            <a:off x="365760" y="3822192"/>
            <a:ext cx="1645920" cy="301752"/>
          </a:xfrm>
          <a:prstGeom prst="rect">
            <a:avLst/>
          </a:prstGeom>
          <a:solidFill>
            <a:srgbClr val="1A2A45"/>
          </a:solidFill>
          <a:ln w="6350">
            <a:solidFill>
              <a:srgbClr val="1E3A5F"/>
            </a:solidFill>
            <a:prstDash val="solid"/>
          </a:ln>
        </p:spPr>
        <p:txBody>
          <a:bodyPr/>
          <a:lstStyle/>
          <a:p>
            <a:endParaRPr lang="en-US"/>
          </a:p>
        </p:txBody>
      </p:sp>
      <p:sp>
        <p:nvSpPr>
          <p:cNvPr id="78" name="Text 76"/>
          <p:cNvSpPr/>
          <p:nvPr/>
        </p:nvSpPr>
        <p:spPr>
          <a:xfrm>
            <a:off x="420624" y="3849624"/>
            <a:ext cx="1554480" cy="246888"/>
          </a:xfrm>
          <a:prstGeom prst="rect">
            <a:avLst/>
          </a:prstGeom>
          <a:noFill/>
        </p:spPr>
        <p:txBody>
          <a:bodyPr wrap="square" lIns="0" tIns="0" rIns="0" bIns="0" rtlCol="0" anchor="ctr"/>
          <a:lstStyle/>
          <a:p>
            <a:pPr marL="0" indent="0">
              <a:buNone/>
            </a:pPr>
            <a:r>
              <a:rPr lang="en-US" sz="1000" dirty="0">
                <a:solidFill>
                  <a:srgbClr val="94A3B8"/>
                </a:solidFill>
              </a:rPr>
              <a:t>Activations needed</a:t>
            </a:r>
            <a:endParaRPr lang="en-US" sz="1000" dirty="0"/>
          </a:p>
        </p:txBody>
      </p:sp>
      <p:sp>
        <p:nvSpPr>
          <p:cNvPr id="83" name="Shape 81"/>
          <p:cNvSpPr/>
          <p:nvPr/>
        </p:nvSpPr>
        <p:spPr>
          <a:xfrm>
            <a:off x="365760" y="4123944"/>
            <a:ext cx="1645920" cy="301752"/>
          </a:xfrm>
          <a:prstGeom prst="rect">
            <a:avLst/>
          </a:prstGeom>
          <a:solidFill>
            <a:srgbClr val="162035"/>
          </a:solidFill>
          <a:ln w="6350">
            <a:solidFill>
              <a:srgbClr val="1E3A5F"/>
            </a:solidFill>
            <a:prstDash val="solid"/>
          </a:ln>
        </p:spPr>
        <p:txBody>
          <a:bodyPr/>
          <a:lstStyle/>
          <a:p>
            <a:endParaRPr lang="en-US"/>
          </a:p>
        </p:txBody>
      </p:sp>
      <p:sp>
        <p:nvSpPr>
          <p:cNvPr id="84" name="Text 82"/>
          <p:cNvSpPr/>
          <p:nvPr/>
        </p:nvSpPr>
        <p:spPr>
          <a:xfrm>
            <a:off x="420624" y="4151376"/>
            <a:ext cx="1554480" cy="246888"/>
          </a:xfrm>
          <a:prstGeom prst="rect">
            <a:avLst/>
          </a:prstGeom>
          <a:noFill/>
        </p:spPr>
        <p:txBody>
          <a:bodyPr wrap="square" lIns="0" tIns="0" rIns="0" bIns="0" rtlCol="0" anchor="ctr"/>
          <a:lstStyle/>
          <a:p>
            <a:pPr marL="0" indent="0">
              <a:buNone/>
            </a:pPr>
            <a:r>
              <a:rPr lang="en-US" sz="1000" dirty="0">
                <a:solidFill>
                  <a:srgbClr val="94A3B8"/>
                </a:solidFill>
              </a:rPr>
              <a:t>Bit-flip overlap</a:t>
            </a:r>
            <a:endParaRPr lang="en-US" sz="1000" dirty="0"/>
          </a:p>
        </p:txBody>
      </p:sp>
      <p:sp>
        <p:nvSpPr>
          <p:cNvPr id="89" name="Shape 87"/>
          <p:cNvSpPr/>
          <p:nvPr/>
        </p:nvSpPr>
        <p:spPr>
          <a:xfrm>
            <a:off x="365760" y="4425696"/>
            <a:ext cx="1645920" cy="301752"/>
          </a:xfrm>
          <a:prstGeom prst="rect">
            <a:avLst/>
          </a:prstGeom>
          <a:solidFill>
            <a:srgbClr val="1A2A45"/>
          </a:solidFill>
          <a:ln w="6350">
            <a:solidFill>
              <a:srgbClr val="1E3A5F"/>
            </a:solidFill>
            <a:prstDash val="solid"/>
          </a:ln>
        </p:spPr>
        <p:txBody>
          <a:bodyPr/>
          <a:lstStyle/>
          <a:p>
            <a:endParaRPr lang="en-US"/>
          </a:p>
        </p:txBody>
      </p:sp>
      <p:sp>
        <p:nvSpPr>
          <p:cNvPr id="90" name="Text 88"/>
          <p:cNvSpPr/>
          <p:nvPr/>
        </p:nvSpPr>
        <p:spPr>
          <a:xfrm>
            <a:off x="420624" y="4453128"/>
            <a:ext cx="1554480" cy="246888"/>
          </a:xfrm>
          <a:prstGeom prst="rect">
            <a:avLst/>
          </a:prstGeom>
          <a:noFill/>
        </p:spPr>
        <p:txBody>
          <a:bodyPr wrap="square" lIns="0" tIns="0" rIns="0" bIns="0" rtlCol="0" anchor="ctr"/>
          <a:lstStyle/>
          <a:p>
            <a:pPr marL="0" indent="0">
              <a:buNone/>
            </a:pPr>
            <a:r>
              <a:rPr lang="en-US" sz="1000" dirty="0">
                <a:solidFill>
                  <a:srgbClr val="94A3B8"/>
                </a:solidFill>
              </a:rPr>
              <a:t>Bypasses TRR?</a:t>
            </a:r>
            <a:endParaRPr lang="en-US" sz="1000" dirty="0"/>
          </a:p>
        </p:txBody>
      </p:sp>
      <p:sp>
        <p:nvSpPr>
          <p:cNvPr id="95" name="Shape 93"/>
          <p:cNvSpPr/>
          <p:nvPr/>
        </p:nvSpPr>
        <p:spPr>
          <a:xfrm>
            <a:off x="365760" y="4727448"/>
            <a:ext cx="1645920" cy="301752"/>
          </a:xfrm>
          <a:prstGeom prst="rect">
            <a:avLst/>
          </a:prstGeom>
          <a:solidFill>
            <a:srgbClr val="162035"/>
          </a:solidFill>
          <a:ln w="6350">
            <a:solidFill>
              <a:srgbClr val="1E3A5F"/>
            </a:solidFill>
            <a:prstDash val="solid"/>
          </a:ln>
        </p:spPr>
        <p:txBody>
          <a:bodyPr/>
          <a:lstStyle/>
          <a:p>
            <a:endParaRPr lang="en-US"/>
          </a:p>
        </p:txBody>
      </p:sp>
      <p:sp>
        <p:nvSpPr>
          <p:cNvPr id="96" name="Text 94"/>
          <p:cNvSpPr/>
          <p:nvPr/>
        </p:nvSpPr>
        <p:spPr>
          <a:xfrm>
            <a:off x="420624" y="4754880"/>
            <a:ext cx="1554480" cy="246888"/>
          </a:xfrm>
          <a:prstGeom prst="rect">
            <a:avLst/>
          </a:prstGeom>
          <a:noFill/>
        </p:spPr>
        <p:txBody>
          <a:bodyPr wrap="square" lIns="0" tIns="0" rIns="0" bIns="0" rtlCol="0" anchor="ctr"/>
          <a:lstStyle/>
          <a:p>
            <a:pPr marL="0" indent="0">
              <a:buNone/>
            </a:pPr>
            <a:r>
              <a:rPr lang="en-US" sz="1000" dirty="0">
                <a:solidFill>
                  <a:srgbClr val="94A3B8"/>
                </a:solidFill>
              </a:rPr>
              <a:t>Bit-flip volume</a:t>
            </a:r>
            <a:endParaRPr lang="en-US" sz="1000" dirty="0"/>
          </a:p>
        </p:txBody>
      </p:sp>
      <p:grpSp>
        <p:nvGrpSpPr>
          <p:cNvPr id="101" name="Group 100"/>
          <p:cNvGrpSpPr/>
          <p:nvPr/>
        </p:nvGrpSpPr>
        <p:grpSpPr>
          <a:xfrm>
            <a:off x="2468880" y="3218688"/>
            <a:ext cx="6309360" cy="1810512"/>
            <a:chOff x="2468880" y="3218688"/>
            <a:chExt cx="6858000" cy="1810512"/>
          </a:xfrm>
        </p:grpSpPr>
        <p:sp>
          <p:nvSpPr>
            <p:cNvPr id="67" name="Shape 65"/>
            <p:cNvSpPr/>
            <p:nvPr/>
          </p:nvSpPr>
          <p:spPr>
            <a:xfrm>
              <a:off x="2468880" y="3218688"/>
              <a:ext cx="3383280" cy="301752"/>
            </a:xfrm>
            <a:prstGeom prst="rect">
              <a:avLst/>
            </a:prstGeom>
            <a:solidFill>
              <a:srgbClr val="2563EB"/>
            </a:solidFill>
            <a:ln w="6350">
              <a:solidFill>
                <a:srgbClr val="1E3A5F"/>
              </a:solidFill>
              <a:prstDash val="solid"/>
            </a:ln>
          </p:spPr>
          <p:txBody>
            <a:bodyPr/>
            <a:lstStyle/>
            <a:p>
              <a:endParaRPr lang="en-US"/>
            </a:p>
          </p:txBody>
        </p:sp>
        <p:sp>
          <p:nvSpPr>
            <p:cNvPr id="68" name="Text 66"/>
            <p:cNvSpPr/>
            <p:nvPr/>
          </p:nvSpPr>
          <p:spPr>
            <a:xfrm>
              <a:off x="2523744" y="3246120"/>
              <a:ext cx="3291840" cy="246888"/>
            </a:xfrm>
            <a:prstGeom prst="rect">
              <a:avLst/>
            </a:prstGeom>
            <a:noFill/>
          </p:spPr>
          <p:txBody>
            <a:bodyPr wrap="square" lIns="0" tIns="0" rIns="0" bIns="0" rtlCol="0" anchor="ctr"/>
            <a:lstStyle/>
            <a:p>
              <a:pPr marL="0" indent="0">
                <a:buNone/>
              </a:pPr>
              <a:r>
                <a:rPr lang="en-US" sz="1100" b="1" dirty="0">
                  <a:solidFill>
                    <a:srgbClr val="FFFFFF"/>
                  </a:solidFill>
                </a:rPr>
                <a:t>RowHammer</a:t>
              </a:r>
              <a:endParaRPr lang="en-US" sz="1100" dirty="0"/>
            </a:p>
          </p:txBody>
        </p:sp>
        <p:sp>
          <p:nvSpPr>
            <p:cNvPr id="69" name="Shape 67"/>
            <p:cNvSpPr/>
            <p:nvPr/>
          </p:nvSpPr>
          <p:spPr>
            <a:xfrm>
              <a:off x="5943600" y="3218688"/>
              <a:ext cx="3383280" cy="301752"/>
            </a:xfrm>
            <a:prstGeom prst="rect">
              <a:avLst/>
            </a:prstGeom>
            <a:solidFill>
              <a:srgbClr val="2563EB"/>
            </a:solidFill>
            <a:ln w="6350">
              <a:solidFill>
                <a:srgbClr val="1E3A5F"/>
              </a:solidFill>
              <a:prstDash val="solid"/>
            </a:ln>
          </p:spPr>
          <p:txBody>
            <a:bodyPr/>
            <a:lstStyle/>
            <a:p>
              <a:endParaRPr lang="en-US"/>
            </a:p>
          </p:txBody>
        </p:sp>
        <p:sp>
          <p:nvSpPr>
            <p:cNvPr id="70" name="Text 68"/>
            <p:cNvSpPr/>
            <p:nvPr/>
          </p:nvSpPr>
          <p:spPr>
            <a:xfrm>
              <a:off x="5998464" y="3246120"/>
              <a:ext cx="3291840" cy="246888"/>
            </a:xfrm>
            <a:prstGeom prst="rect">
              <a:avLst/>
            </a:prstGeom>
            <a:noFill/>
          </p:spPr>
          <p:txBody>
            <a:bodyPr wrap="square" lIns="0" tIns="0" rIns="0" bIns="0" rtlCol="0" anchor="ctr"/>
            <a:lstStyle/>
            <a:p>
              <a:pPr marL="0" indent="0">
                <a:buNone/>
              </a:pPr>
              <a:r>
                <a:rPr lang="en-US" sz="1100" b="1" dirty="0">
                  <a:solidFill>
                    <a:srgbClr val="FFFFFF"/>
                  </a:solidFill>
                </a:rPr>
                <a:t>RowPress</a:t>
              </a:r>
              <a:endParaRPr lang="en-US" sz="1100" dirty="0"/>
            </a:p>
          </p:txBody>
        </p:sp>
        <p:sp>
          <p:nvSpPr>
            <p:cNvPr id="73" name="Shape 71"/>
            <p:cNvSpPr/>
            <p:nvPr/>
          </p:nvSpPr>
          <p:spPr>
            <a:xfrm>
              <a:off x="2468880" y="3520440"/>
              <a:ext cx="3383280" cy="301752"/>
            </a:xfrm>
            <a:prstGeom prst="rect">
              <a:avLst/>
            </a:prstGeom>
            <a:solidFill>
              <a:srgbClr val="162035"/>
            </a:solidFill>
            <a:ln w="6350">
              <a:solidFill>
                <a:srgbClr val="1E3A5F"/>
              </a:solidFill>
              <a:prstDash val="solid"/>
            </a:ln>
          </p:spPr>
          <p:txBody>
            <a:bodyPr/>
            <a:lstStyle/>
            <a:p>
              <a:endParaRPr lang="en-US"/>
            </a:p>
          </p:txBody>
        </p:sp>
        <p:sp>
          <p:nvSpPr>
            <p:cNvPr id="74" name="Text 72"/>
            <p:cNvSpPr/>
            <p:nvPr/>
          </p:nvSpPr>
          <p:spPr>
            <a:xfrm>
              <a:off x="2523744" y="3547872"/>
              <a:ext cx="3291840" cy="246888"/>
            </a:xfrm>
            <a:prstGeom prst="rect">
              <a:avLst/>
            </a:prstGeom>
            <a:noFill/>
          </p:spPr>
          <p:txBody>
            <a:bodyPr wrap="square" lIns="0" tIns="0" rIns="0" bIns="0" rtlCol="0" anchor="ctr"/>
            <a:lstStyle/>
            <a:p>
              <a:pPr marL="0" indent="0">
                <a:buNone/>
              </a:pPr>
              <a:r>
                <a:rPr lang="en-US" sz="1000" dirty="0">
                  <a:solidFill>
                    <a:srgbClr val="F59E0B"/>
                  </a:solidFill>
                </a:rPr>
                <a:t>Repeated row activation (ACT→PRE)</a:t>
              </a:r>
              <a:endParaRPr lang="en-US" sz="1000" dirty="0"/>
            </a:p>
          </p:txBody>
        </p:sp>
        <p:sp>
          <p:nvSpPr>
            <p:cNvPr id="75" name="Shape 73"/>
            <p:cNvSpPr/>
            <p:nvPr/>
          </p:nvSpPr>
          <p:spPr>
            <a:xfrm>
              <a:off x="5943600" y="3520440"/>
              <a:ext cx="3383280" cy="301752"/>
            </a:xfrm>
            <a:prstGeom prst="rect">
              <a:avLst/>
            </a:prstGeom>
            <a:solidFill>
              <a:srgbClr val="162035"/>
            </a:solidFill>
            <a:ln w="6350">
              <a:solidFill>
                <a:srgbClr val="1E3A5F"/>
              </a:solidFill>
              <a:prstDash val="solid"/>
            </a:ln>
          </p:spPr>
          <p:txBody>
            <a:bodyPr/>
            <a:lstStyle/>
            <a:p>
              <a:endParaRPr lang="en-US"/>
            </a:p>
          </p:txBody>
        </p:sp>
        <p:sp>
          <p:nvSpPr>
            <p:cNvPr id="76" name="Text 74"/>
            <p:cNvSpPr/>
            <p:nvPr/>
          </p:nvSpPr>
          <p:spPr>
            <a:xfrm>
              <a:off x="5998464" y="3547872"/>
              <a:ext cx="3291840" cy="246888"/>
            </a:xfrm>
            <a:prstGeom prst="rect">
              <a:avLst/>
            </a:prstGeom>
            <a:noFill/>
          </p:spPr>
          <p:txBody>
            <a:bodyPr wrap="square" lIns="0" tIns="0" rIns="0" bIns="0" rtlCol="0" anchor="ctr"/>
            <a:lstStyle/>
            <a:p>
              <a:pPr marL="0" indent="0">
                <a:buNone/>
              </a:pPr>
              <a:r>
                <a:rPr lang="en-US" sz="1000" dirty="0">
                  <a:solidFill>
                    <a:srgbClr val="8B5CF6"/>
                  </a:solidFill>
                </a:rPr>
                <a:t>Single long activation (hold open)</a:t>
              </a:r>
              <a:endParaRPr lang="en-US" sz="1000" dirty="0"/>
            </a:p>
          </p:txBody>
        </p:sp>
        <p:sp>
          <p:nvSpPr>
            <p:cNvPr id="79" name="Shape 77"/>
            <p:cNvSpPr/>
            <p:nvPr/>
          </p:nvSpPr>
          <p:spPr>
            <a:xfrm>
              <a:off x="2468880" y="3822192"/>
              <a:ext cx="3383280" cy="301752"/>
            </a:xfrm>
            <a:prstGeom prst="rect">
              <a:avLst/>
            </a:prstGeom>
            <a:solidFill>
              <a:srgbClr val="1A2A45"/>
            </a:solidFill>
            <a:ln w="6350">
              <a:solidFill>
                <a:srgbClr val="1E3A5F"/>
              </a:solidFill>
              <a:prstDash val="solid"/>
            </a:ln>
          </p:spPr>
          <p:txBody>
            <a:bodyPr/>
            <a:lstStyle/>
            <a:p>
              <a:endParaRPr lang="en-US"/>
            </a:p>
          </p:txBody>
        </p:sp>
        <p:sp>
          <p:nvSpPr>
            <p:cNvPr id="80" name="Text 78"/>
            <p:cNvSpPr/>
            <p:nvPr/>
          </p:nvSpPr>
          <p:spPr>
            <a:xfrm>
              <a:off x="2523744" y="3849624"/>
              <a:ext cx="3291840" cy="246888"/>
            </a:xfrm>
            <a:prstGeom prst="rect">
              <a:avLst/>
            </a:prstGeom>
            <a:noFill/>
          </p:spPr>
          <p:txBody>
            <a:bodyPr wrap="square" lIns="0" tIns="0" rIns="0" bIns="0" rtlCol="0" anchor="ctr"/>
            <a:lstStyle/>
            <a:p>
              <a:pPr marL="0" indent="0">
                <a:buNone/>
              </a:pPr>
              <a:r>
                <a:rPr lang="en-US" sz="1000" dirty="0">
                  <a:solidFill>
                    <a:srgbClr val="F59E0B"/>
                  </a:solidFill>
                </a:rPr>
                <a:t>~880K – 1.36M</a:t>
              </a:r>
              <a:endParaRPr lang="en-US" sz="1000" dirty="0"/>
            </a:p>
          </p:txBody>
        </p:sp>
        <p:sp>
          <p:nvSpPr>
            <p:cNvPr id="81" name="Shape 79"/>
            <p:cNvSpPr/>
            <p:nvPr/>
          </p:nvSpPr>
          <p:spPr>
            <a:xfrm>
              <a:off x="5943600" y="3822192"/>
              <a:ext cx="3383280" cy="301752"/>
            </a:xfrm>
            <a:prstGeom prst="rect">
              <a:avLst/>
            </a:prstGeom>
            <a:solidFill>
              <a:srgbClr val="1A2A45"/>
            </a:solidFill>
            <a:ln w="6350">
              <a:solidFill>
                <a:srgbClr val="1E3A5F"/>
              </a:solidFill>
              <a:prstDash val="solid"/>
            </a:ln>
          </p:spPr>
          <p:txBody>
            <a:bodyPr/>
            <a:lstStyle/>
            <a:p>
              <a:endParaRPr lang="en-US"/>
            </a:p>
          </p:txBody>
        </p:sp>
        <p:sp>
          <p:nvSpPr>
            <p:cNvPr id="82" name="Text 80"/>
            <p:cNvSpPr/>
            <p:nvPr/>
          </p:nvSpPr>
          <p:spPr>
            <a:xfrm>
              <a:off x="5998464" y="3849624"/>
              <a:ext cx="3291840" cy="246888"/>
            </a:xfrm>
            <a:prstGeom prst="rect">
              <a:avLst/>
            </a:prstGeom>
            <a:noFill/>
          </p:spPr>
          <p:txBody>
            <a:bodyPr wrap="square" lIns="0" tIns="0" rIns="0" bIns="0" rtlCol="0" anchor="ctr"/>
            <a:lstStyle/>
            <a:p>
              <a:pPr marL="0" indent="0">
                <a:buNone/>
              </a:pPr>
              <a:r>
                <a:rPr lang="en-US" sz="1000" dirty="0">
                  <a:solidFill>
                    <a:srgbClr val="8B5CF6"/>
                  </a:solidFill>
                </a:rPr>
                <a:t>As few as 1 per bit-flip event</a:t>
              </a:r>
              <a:endParaRPr lang="en-US" sz="1000" dirty="0"/>
            </a:p>
          </p:txBody>
        </p:sp>
        <p:sp>
          <p:nvSpPr>
            <p:cNvPr id="85" name="Shape 83"/>
            <p:cNvSpPr/>
            <p:nvPr/>
          </p:nvSpPr>
          <p:spPr>
            <a:xfrm>
              <a:off x="2468880" y="4123944"/>
              <a:ext cx="3383280" cy="301752"/>
            </a:xfrm>
            <a:prstGeom prst="rect">
              <a:avLst/>
            </a:prstGeom>
            <a:solidFill>
              <a:srgbClr val="162035"/>
            </a:solidFill>
            <a:ln w="6350">
              <a:solidFill>
                <a:srgbClr val="1E3A5F"/>
              </a:solidFill>
              <a:prstDash val="solid"/>
            </a:ln>
          </p:spPr>
          <p:txBody>
            <a:bodyPr/>
            <a:lstStyle/>
            <a:p>
              <a:endParaRPr lang="en-US"/>
            </a:p>
          </p:txBody>
        </p:sp>
        <p:sp>
          <p:nvSpPr>
            <p:cNvPr id="86" name="Text 84"/>
            <p:cNvSpPr/>
            <p:nvPr/>
          </p:nvSpPr>
          <p:spPr>
            <a:xfrm>
              <a:off x="2523744" y="4151376"/>
              <a:ext cx="3291840" cy="246888"/>
            </a:xfrm>
            <a:prstGeom prst="rect">
              <a:avLst/>
            </a:prstGeom>
            <a:noFill/>
          </p:spPr>
          <p:txBody>
            <a:bodyPr wrap="square" lIns="0" tIns="0" rIns="0" bIns="0" rtlCol="0" anchor="ctr"/>
            <a:lstStyle/>
            <a:p>
              <a:pPr marL="0" indent="0">
                <a:buNone/>
              </a:pPr>
              <a:r>
                <a:rPr lang="en-US" sz="1000" dirty="0">
                  <a:solidFill>
                    <a:srgbClr val="F59E0B"/>
                  </a:solidFill>
                </a:rPr>
                <a:t>Profile C_RH</a:t>
              </a:r>
              <a:endParaRPr lang="en-US" sz="1000" dirty="0"/>
            </a:p>
          </p:txBody>
        </p:sp>
        <p:sp>
          <p:nvSpPr>
            <p:cNvPr id="87" name="Shape 85"/>
            <p:cNvSpPr/>
            <p:nvPr/>
          </p:nvSpPr>
          <p:spPr>
            <a:xfrm>
              <a:off x="5943600" y="4123944"/>
              <a:ext cx="3383280" cy="301752"/>
            </a:xfrm>
            <a:prstGeom prst="rect">
              <a:avLst/>
            </a:prstGeom>
            <a:solidFill>
              <a:srgbClr val="162035"/>
            </a:solidFill>
            <a:ln w="6350">
              <a:solidFill>
                <a:srgbClr val="1E3A5F"/>
              </a:solidFill>
              <a:prstDash val="solid"/>
            </a:ln>
          </p:spPr>
          <p:txBody>
            <a:bodyPr/>
            <a:lstStyle/>
            <a:p>
              <a:endParaRPr lang="en-US"/>
            </a:p>
          </p:txBody>
        </p:sp>
        <p:sp>
          <p:nvSpPr>
            <p:cNvPr id="88" name="Text 86"/>
            <p:cNvSpPr/>
            <p:nvPr/>
          </p:nvSpPr>
          <p:spPr>
            <a:xfrm>
              <a:off x="5998464" y="4151376"/>
              <a:ext cx="3291840" cy="246888"/>
            </a:xfrm>
            <a:prstGeom prst="rect">
              <a:avLst/>
            </a:prstGeom>
            <a:noFill/>
          </p:spPr>
          <p:txBody>
            <a:bodyPr wrap="square" lIns="0" tIns="0" rIns="0" bIns="0" rtlCol="0" anchor="ctr"/>
            <a:lstStyle/>
            <a:p>
              <a:pPr marL="0" indent="0">
                <a:buNone/>
              </a:pPr>
              <a:r>
                <a:rPr lang="en-US" sz="1000" dirty="0">
                  <a:solidFill>
                    <a:srgbClr val="8B5CF6"/>
                  </a:solidFill>
                </a:rPr>
                <a:t>Profile C_RP  (&lt;0.5% overlap with C_RH)</a:t>
              </a:r>
              <a:endParaRPr lang="en-US" sz="1000" dirty="0"/>
            </a:p>
          </p:txBody>
        </p:sp>
        <p:sp>
          <p:nvSpPr>
            <p:cNvPr id="91" name="Shape 89"/>
            <p:cNvSpPr/>
            <p:nvPr/>
          </p:nvSpPr>
          <p:spPr>
            <a:xfrm>
              <a:off x="2468880" y="4425696"/>
              <a:ext cx="3383280" cy="301752"/>
            </a:xfrm>
            <a:prstGeom prst="rect">
              <a:avLst/>
            </a:prstGeom>
            <a:solidFill>
              <a:srgbClr val="1A2A45"/>
            </a:solidFill>
            <a:ln w="6350">
              <a:solidFill>
                <a:srgbClr val="1E3A5F"/>
              </a:solidFill>
              <a:prstDash val="solid"/>
            </a:ln>
          </p:spPr>
          <p:txBody>
            <a:bodyPr/>
            <a:lstStyle/>
            <a:p>
              <a:endParaRPr lang="en-US"/>
            </a:p>
          </p:txBody>
        </p:sp>
        <p:sp>
          <p:nvSpPr>
            <p:cNvPr id="92" name="Text 90"/>
            <p:cNvSpPr/>
            <p:nvPr/>
          </p:nvSpPr>
          <p:spPr>
            <a:xfrm>
              <a:off x="2523744" y="4453128"/>
              <a:ext cx="3291840" cy="246888"/>
            </a:xfrm>
            <a:prstGeom prst="rect">
              <a:avLst/>
            </a:prstGeom>
            <a:noFill/>
          </p:spPr>
          <p:txBody>
            <a:bodyPr wrap="square" lIns="0" tIns="0" rIns="0" bIns="0" rtlCol="0" anchor="ctr"/>
            <a:lstStyle/>
            <a:p>
              <a:pPr marL="0" indent="0">
                <a:buNone/>
              </a:pPr>
              <a:r>
                <a:rPr lang="en-US" sz="1000" dirty="0">
                  <a:solidFill>
                    <a:srgbClr val="F59E0B"/>
                  </a:solidFill>
                </a:rPr>
                <a:t>No — TRR detects high ACT count</a:t>
              </a:r>
              <a:endParaRPr lang="en-US" sz="1000" dirty="0"/>
            </a:p>
          </p:txBody>
        </p:sp>
        <p:sp>
          <p:nvSpPr>
            <p:cNvPr id="93" name="Shape 91"/>
            <p:cNvSpPr/>
            <p:nvPr/>
          </p:nvSpPr>
          <p:spPr>
            <a:xfrm>
              <a:off x="5943600" y="4425696"/>
              <a:ext cx="3383280" cy="301752"/>
            </a:xfrm>
            <a:prstGeom prst="rect">
              <a:avLst/>
            </a:prstGeom>
            <a:solidFill>
              <a:srgbClr val="1A2A45"/>
            </a:solidFill>
            <a:ln w="6350">
              <a:solidFill>
                <a:srgbClr val="1E3A5F"/>
              </a:solidFill>
              <a:prstDash val="solid"/>
            </a:ln>
          </p:spPr>
          <p:txBody>
            <a:bodyPr/>
            <a:lstStyle/>
            <a:p>
              <a:endParaRPr lang="en-US"/>
            </a:p>
          </p:txBody>
        </p:sp>
        <p:sp>
          <p:nvSpPr>
            <p:cNvPr id="94" name="Text 92"/>
            <p:cNvSpPr/>
            <p:nvPr/>
          </p:nvSpPr>
          <p:spPr>
            <a:xfrm>
              <a:off x="5998464" y="4453128"/>
              <a:ext cx="3291840" cy="246888"/>
            </a:xfrm>
            <a:prstGeom prst="rect">
              <a:avLst/>
            </a:prstGeom>
            <a:noFill/>
          </p:spPr>
          <p:txBody>
            <a:bodyPr wrap="square" lIns="0" tIns="0" rIns="0" bIns="0" rtlCol="0" anchor="ctr"/>
            <a:lstStyle/>
            <a:p>
              <a:pPr marL="0" indent="0">
                <a:buNone/>
              </a:pPr>
              <a:r>
                <a:rPr lang="en-US" sz="1000" dirty="0">
                  <a:solidFill>
                    <a:srgbClr val="8B5CF6"/>
                  </a:solidFill>
                </a:rPr>
                <a:t>Yes — only 1 ACT issued</a:t>
              </a:r>
              <a:endParaRPr lang="en-US" sz="1000" dirty="0"/>
            </a:p>
          </p:txBody>
        </p:sp>
        <p:sp>
          <p:nvSpPr>
            <p:cNvPr id="97" name="Shape 95"/>
            <p:cNvSpPr/>
            <p:nvPr/>
          </p:nvSpPr>
          <p:spPr>
            <a:xfrm>
              <a:off x="2468880" y="4727448"/>
              <a:ext cx="3383280" cy="301752"/>
            </a:xfrm>
            <a:prstGeom prst="rect">
              <a:avLst/>
            </a:prstGeom>
            <a:solidFill>
              <a:srgbClr val="162035"/>
            </a:solidFill>
            <a:ln w="6350">
              <a:solidFill>
                <a:srgbClr val="1E3A5F"/>
              </a:solidFill>
              <a:prstDash val="solid"/>
            </a:ln>
          </p:spPr>
          <p:txBody>
            <a:bodyPr/>
            <a:lstStyle/>
            <a:p>
              <a:endParaRPr lang="en-US"/>
            </a:p>
          </p:txBody>
        </p:sp>
        <p:sp>
          <p:nvSpPr>
            <p:cNvPr id="98" name="Text 96"/>
            <p:cNvSpPr/>
            <p:nvPr/>
          </p:nvSpPr>
          <p:spPr>
            <a:xfrm>
              <a:off x="2523744" y="4754880"/>
              <a:ext cx="3291840" cy="246888"/>
            </a:xfrm>
            <a:prstGeom prst="rect">
              <a:avLst/>
            </a:prstGeom>
            <a:noFill/>
          </p:spPr>
          <p:txBody>
            <a:bodyPr wrap="square" lIns="0" tIns="0" rIns="0" bIns="0" rtlCol="0" anchor="ctr"/>
            <a:lstStyle/>
            <a:p>
              <a:pPr marL="0" indent="0">
                <a:buNone/>
              </a:pPr>
              <a:r>
                <a:rPr lang="en-US" sz="1000" dirty="0">
                  <a:solidFill>
                    <a:srgbClr val="F59E0B"/>
                  </a:solidFill>
                </a:rPr>
                <a:t>Baseline</a:t>
              </a:r>
              <a:endParaRPr lang="en-US" sz="1000" dirty="0"/>
            </a:p>
          </p:txBody>
        </p:sp>
        <p:sp>
          <p:nvSpPr>
            <p:cNvPr id="99" name="Shape 97"/>
            <p:cNvSpPr/>
            <p:nvPr/>
          </p:nvSpPr>
          <p:spPr>
            <a:xfrm>
              <a:off x="5943600" y="4727448"/>
              <a:ext cx="3383280" cy="301752"/>
            </a:xfrm>
            <a:prstGeom prst="rect">
              <a:avLst/>
            </a:prstGeom>
            <a:solidFill>
              <a:srgbClr val="162035"/>
            </a:solidFill>
            <a:ln w="6350">
              <a:solidFill>
                <a:srgbClr val="1E3A5F"/>
              </a:solidFill>
              <a:prstDash val="solid"/>
            </a:ln>
          </p:spPr>
          <p:txBody>
            <a:bodyPr/>
            <a:lstStyle/>
            <a:p>
              <a:endParaRPr lang="en-US"/>
            </a:p>
          </p:txBody>
        </p:sp>
        <p:sp>
          <p:nvSpPr>
            <p:cNvPr id="100" name="Text 98"/>
            <p:cNvSpPr/>
            <p:nvPr/>
          </p:nvSpPr>
          <p:spPr>
            <a:xfrm>
              <a:off x="5998464" y="4754880"/>
              <a:ext cx="3291840" cy="246888"/>
            </a:xfrm>
            <a:prstGeom prst="rect">
              <a:avLst/>
            </a:prstGeom>
            <a:noFill/>
          </p:spPr>
          <p:txBody>
            <a:bodyPr wrap="square" lIns="0" tIns="0" rIns="0" bIns="0" rtlCol="0" anchor="ctr"/>
            <a:lstStyle/>
            <a:p>
              <a:pPr marL="0" indent="0">
                <a:buNone/>
              </a:pPr>
              <a:r>
                <a:rPr lang="en-US" sz="1000" dirty="0">
                  <a:solidFill>
                    <a:srgbClr val="8B5CF6"/>
                  </a:solidFill>
                </a:rPr>
                <a:t>20× more in same time budget</a:t>
              </a:r>
              <a:endParaRPr lang="en-US" sz="1000" dirty="0"/>
            </a:p>
          </p:txBody>
        </p:sp>
      </p:gr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8B5CF6"/>
                </a:solidFill>
              </a:rPr>
              <a:t>ROWPRESS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DRAM Vulnerability Profiling on Samsung DDR4</a:t>
            </a:r>
            <a:endParaRPr lang="en-US" sz="2400" dirty="0"/>
          </a:p>
        </p:txBody>
      </p:sp>
      <p:sp>
        <p:nvSpPr>
          <p:cNvPr id="6" name="Shape 4"/>
          <p:cNvSpPr/>
          <p:nvPr/>
        </p:nvSpPr>
        <p:spPr>
          <a:xfrm>
            <a:off x="365760" y="896112"/>
            <a:ext cx="4206240" cy="4247388"/>
          </a:xfrm>
          <a:prstGeom prst="rect">
            <a:avLst/>
          </a:prstGeom>
          <a:solidFill>
            <a:srgbClr val="162035"/>
          </a:solidFill>
          <a:ln w="1270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457200" y="960120"/>
            <a:ext cx="4023360" cy="256032"/>
          </a:xfrm>
          <a:prstGeom prst="rect">
            <a:avLst/>
          </a:prstGeom>
          <a:noFill/>
        </p:spPr>
        <p:txBody>
          <a:bodyPr wrap="square" lIns="0" tIns="0" rIns="0" bIns="0" rtlCol="0" anchor="ctr"/>
          <a:lstStyle/>
          <a:p>
            <a:pPr marL="0" indent="0">
              <a:buNone/>
            </a:pPr>
            <a:r>
              <a:rPr lang="en-US" sz="1200" b="1" dirty="0">
                <a:solidFill>
                  <a:srgbClr val="E2E8F0"/>
                </a:solidFill>
              </a:rPr>
              <a:t>DRAM Bit-Cell Vulnerability Map</a:t>
            </a:r>
            <a:endParaRPr lang="en-US" sz="1200" dirty="0"/>
          </a:p>
        </p:txBody>
      </p:sp>
      <p:sp>
        <p:nvSpPr>
          <p:cNvPr id="8" name="Text 6"/>
          <p:cNvSpPr/>
          <p:nvPr/>
        </p:nvSpPr>
        <p:spPr>
          <a:xfrm>
            <a:off x="457200" y="1216152"/>
            <a:ext cx="4023360" cy="201168"/>
          </a:xfrm>
          <a:prstGeom prst="rect">
            <a:avLst/>
          </a:prstGeom>
          <a:noFill/>
        </p:spPr>
        <p:txBody>
          <a:bodyPr wrap="square" lIns="0" tIns="0" rIns="0" bIns="0" rtlCol="0" anchor="ctr"/>
          <a:lstStyle/>
          <a:p>
            <a:pPr marL="0" indent="0">
              <a:buNone/>
            </a:pPr>
            <a:r>
              <a:rPr lang="en-US" sz="900" i="1" dirty="0">
                <a:solidFill>
                  <a:srgbClr val="94A3B8"/>
                </a:solidFill>
              </a:rPr>
              <a:t>Samsung DDR4 16GB — Sampled region (4096×8 cells)</a:t>
            </a:r>
            <a:endParaRPr lang="en-US" sz="900" dirty="0"/>
          </a:p>
        </p:txBody>
      </p:sp>
      <p:sp>
        <p:nvSpPr>
          <p:cNvPr id="9" name="Shape 7"/>
          <p:cNvSpPr/>
          <p:nvPr/>
        </p:nvSpPr>
        <p:spPr>
          <a:xfrm>
            <a:off x="457200" y="1481328"/>
            <a:ext cx="182880" cy="164592"/>
          </a:xfrm>
          <a:prstGeom prst="rect">
            <a:avLst/>
          </a:prstGeom>
          <a:solidFill>
            <a:srgbClr val="EF4444"/>
          </a:solidFill>
          <a:ln w="3810">
            <a:solidFill>
              <a:srgbClr val="0A1628"/>
            </a:solidFill>
            <a:prstDash val="solid"/>
          </a:ln>
        </p:spPr>
        <p:txBody>
          <a:bodyPr/>
          <a:lstStyle/>
          <a:p>
            <a:endParaRPr lang="en-US"/>
          </a:p>
        </p:txBody>
      </p:sp>
      <p:sp>
        <p:nvSpPr>
          <p:cNvPr id="10" name="Shape 8"/>
          <p:cNvSpPr/>
          <p:nvPr/>
        </p:nvSpPr>
        <p:spPr>
          <a:xfrm>
            <a:off x="658368"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11" name="Shape 9"/>
          <p:cNvSpPr/>
          <p:nvPr/>
        </p:nvSpPr>
        <p:spPr>
          <a:xfrm>
            <a:off x="859536"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12" name="Shape 10"/>
          <p:cNvSpPr/>
          <p:nvPr/>
        </p:nvSpPr>
        <p:spPr>
          <a:xfrm>
            <a:off x="1060704"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13" name="Shape 11"/>
          <p:cNvSpPr/>
          <p:nvPr/>
        </p:nvSpPr>
        <p:spPr>
          <a:xfrm>
            <a:off x="1261872"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14" name="Shape 12"/>
          <p:cNvSpPr/>
          <p:nvPr/>
        </p:nvSpPr>
        <p:spPr>
          <a:xfrm>
            <a:off x="1463040"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15" name="Shape 13"/>
          <p:cNvSpPr/>
          <p:nvPr/>
        </p:nvSpPr>
        <p:spPr>
          <a:xfrm>
            <a:off x="1664208"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16" name="Shape 14"/>
          <p:cNvSpPr/>
          <p:nvPr/>
        </p:nvSpPr>
        <p:spPr>
          <a:xfrm>
            <a:off x="1865376"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17" name="Shape 15"/>
          <p:cNvSpPr/>
          <p:nvPr/>
        </p:nvSpPr>
        <p:spPr>
          <a:xfrm>
            <a:off x="2066544" y="1481328"/>
            <a:ext cx="182880" cy="164592"/>
          </a:xfrm>
          <a:prstGeom prst="rect">
            <a:avLst/>
          </a:prstGeom>
          <a:solidFill>
            <a:srgbClr val="D97706"/>
          </a:solidFill>
          <a:ln w="3810">
            <a:solidFill>
              <a:srgbClr val="0A1628"/>
            </a:solidFill>
            <a:prstDash val="solid"/>
          </a:ln>
        </p:spPr>
        <p:txBody>
          <a:bodyPr/>
          <a:lstStyle/>
          <a:p>
            <a:endParaRPr lang="en-US"/>
          </a:p>
        </p:txBody>
      </p:sp>
      <p:sp>
        <p:nvSpPr>
          <p:cNvPr id="18" name="Shape 16"/>
          <p:cNvSpPr/>
          <p:nvPr/>
        </p:nvSpPr>
        <p:spPr>
          <a:xfrm>
            <a:off x="2267712"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19" name="Shape 17"/>
          <p:cNvSpPr/>
          <p:nvPr/>
        </p:nvSpPr>
        <p:spPr>
          <a:xfrm>
            <a:off x="2468880"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20" name="Shape 18"/>
          <p:cNvSpPr/>
          <p:nvPr/>
        </p:nvSpPr>
        <p:spPr>
          <a:xfrm>
            <a:off x="2670048"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21" name="Shape 19"/>
          <p:cNvSpPr/>
          <p:nvPr/>
        </p:nvSpPr>
        <p:spPr>
          <a:xfrm>
            <a:off x="2871216"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22" name="Shape 20"/>
          <p:cNvSpPr/>
          <p:nvPr/>
        </p:nvSpPr>
        <p:spPr>
          <a:xfrm>
            <a:off x="3072384"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23" name="Shape 21"/>
          <p:cNvSpPr/>
          <p:nvPr/>
        </p:nvSpPr>
        <p:spPr>
          <a:xfrm>
            <a:off x="3273552"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24" name="Shape 22"/>
          <p:cNvSpPr/>
          <p:nvPr/>
        </p:nvSpPr>
        <p:spPr>
          <a:xfrm>
            <a:off x="3474720" y="1481328"/>
            <a:ext cx="182880" cy="164592"/>
          </a:xfrm>
          <a:prstGeom prst="rect">
            <a:avLst/>
          </a:prstGeom>
          <a:solidFill>
            <a:srgbClr val="0F2040"/>
          </a:solidFill>
          <a:ln w="3810">
            <a:solidFill>
              <a:srgbClr val="0A1628"/>
            </a:solidFill>
            <a:prstDash val="solid"/>
          </a:ln>
        </p:spPr>
        <p:txBody>
          <a:bodyPr/>
          <a:lstStyle/>
          <a:p>
            <a:endParaRPr lang="en-US"/>
          </a:p>
        </p:txBody>
      </p:sp>
      <p:sp>
        <p:nvSpPr>
          <p:cNvPr id="25" name="Shape 23"/>
          <p:cNvSpPr/>
          <p:nvPr/>
        </p:nvSpPr>
        <p:spPr>
          <a:xfrm>
            <a:off x="3675888"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26" name="Shape 24"/>
          <p:cNvSpPr/>
          <p:nvPr/>
        </p:nvSpPr>
        <p:spPr>
          <a:xfrm>
            <a:off x="3877056" y="1481328"/>
            <a:ext cx="182880" cy="164592"/>
          </a:xfrm>
          <a:prstGeom prst="rect">
            <a:avLst/>
          </a:prstGeom>
          <a:solidFill>
            <a:srgbClr val="8B5CF6"/>
          </a:solidFill>
          <a:ln w="3810">
            <a:solidFill>
              <a:srgbClr val="0A1628"/>
            </a:solidFill>
            <a:prstDash val="solid"/>
          </a:ln>
        </p:spPr>
        <p:txBody>
          <a:bodyPr/>
          <a:lstStyle/>
          <a:p>
            <a:endParaRPr lang="en-US"/>
          </a:p>
        </p:txBody>
      </p:sp>
      <p:sp>
        <p:nvSpPr>
          <p:cNvPr id="27" name="Shape 25"/>
          <p:cNvSpPr/>
          <p:nvPr/>
        </p:nvSpPr>
        <p:spPr>
          <a:xfrm>
            <a:off x="457200"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28" name="Shape 26"/>
          <p:cNvSpPr/>
          <p:nvPr/>
        </p:nvSpPr>
        <p:spPr>
          <a:xfrm>
            <a:off x="658368"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29" name="Shape 27"/>
          <p:cNvSpPr/>
          <p:nvPr/>
        </p:nvSpPr>
        <p:spPr>
          <a:xfrm>
            <a:off x="859536"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0" name="Shape 28"/>
          <p:cNvSpPr/>
          <p:nvPr/>
        </p:nvSpPr>
        <p:spPr>
          <a:xfrm>
            <a:off x="1060704"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1" name="Shape 29"/>
          <p:cNvSpPr/>
          <p:nvPr/>
        </p:nvSpPr>
        <p:spPr>
          <a:xfrm>
            <a:off x="1261872" y="1664208"/>
            <a:ext cx="182880" cy="164592"/>
          </a:xfrm>
          <a:prstGeom prst="rect">
            <a:avLst/>
          </a:prstGeom>
          <a:solidFill>
            <a:srgbClr val="8B5CF6"/>
          </a:solidFill>
          <a:ln w="3810">
            <a:solidFill>
              <a:srgbClr val="0A1628"/>
            </a:solidFill>
            <a:prstDash val="solid"/>
          </a:ln>
        </p:spPr>
        <p:txBody>
          <a:bodyPr/>
          <a:lstStyle/>
          <a:p>
            <a:endParaRPr lang="en-US"/>
          </a:p>
        </p:txBody>
      </p:sp>
      <p:sp>
        <p:nvSpPr>
          <p:cNvPr id="32" name="Shape 30"/>
          <p:cNvSpPr/>
          <p:nvPr/>
        </p:nvSpPr>
        <p:spPr>
          <a:xfrm>
            <a:off x="1463040"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3" name="Shape 31"/>
          <p:cNvSpPr/>
          <p:nvPr/>
        </p:nvSpPr>
        <p:spPr>
          <a:xfrm>
            <a:off x="1664208"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4" name="Shape 32"/>
          <p:cNvSpPr/>
          <p:nvPr/>
        </p:nvSpPr>
        <p:spPr>
          <a:xfrm>
            <a:off x="1865376"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5" name="Shape 33"/>
          <p:cNvSpPr/>
          <p:nvPr/>
        </p:nvSpPr>
        <p:spPr>
          <a:xfrm>
            <a:off x="2066544"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7" name="Shape 35"/>
          <p:cNvSpPr/>
          <p:nvPr/>
        </p:nvSpPr>
        <p:spPr>
          <a:xfrm>
            <a:off x="2468880"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8" name="Shape 36"/>
          <p:cNvSpPr/>
          <p:nvPr/>
        </p:nvSpPr>
        <p:spPr>
          <a:xfrm>
            <a:off x="2670048"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9" name="Shape 37"/>
          <p:cNvSpPr/>
          <p:nvPr/>
        </p:nvSpPr>
        <p:spPr>
          <a:xfrm>
            <a:off x="2871216"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40" name="Shape 38"/>
          <p:cNvSpPr/>
          <p:nvPr/>
        </p:nvSpPr>
        <p:spPr>
          <a:xfrm>
            <a:off x="3072384"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41" name="Shape 39"/>
          <p:cNvSpPr/>
          <p:nvPr/>
        </p:nvSpPr>
        <p:spPr>
          <a:xfrm>
            <a:off x="3273552" y="1664208"/>
            <a:ext cx="182880" cy="164592"/>
          </a:xfrm>
          <a:prstGeom prst="rect">
            <a:avLst/>
          </a:prstGeom>
          <a:solidFill>
            <a:srgbClr val="8B5CF6"/>
          </a:solidFill>
          <a:ln w="3810">
            <a:solidFill>
              <a:srgbClr val="0A1628"/>
            </a:solidFill>
            <a:prstDash val="solid"/>
          </a:ln>
        </p:spPr>
        <p:txBody>
          <a:bodyPr/>
          <a:lstStyle/>
          <a:p>
            <a:endParaRPr lang="en-US"/>
          </a:p>
        </p:txBody>
      </p:sp>
      <p:sp>
        <p:nvSpPr>
          <p:cNvPr id="42" name="Shape 40"/>
          <p:cNvSpPr/>
          <p:nvPr/>
        </p:nvSpPr>
        <p:spPr>
          <a:xfrm>
            <a:off x="3474720"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43" name="Shape 41"/>
          <p:cNvSpPr/>
          <p:nvPr/>
        </p:nvSpPr>
        <p:spPr>
          <a:xfrm>
            <a:off x="3675888"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44" name="Shape 42"/>
          <p:cNvSpPr/>
          <p:nvPr/>
        </p:nvSpPr>
        <p:spPr>
          <a:xfrm>
            <a:off x="3877056"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45" name="Shape 43"/>
          <p:cNvSpPr/>
          <p:nvPr/>
        </p:nvSpPr>
        <p:spPr>
          <a:xfrm>
            <a:off x="457200"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46" name="Shape 44"/>
          <p:cNvSpPr/>
          <p:nvPr/>
        </p:nvSpPr>
        <p:spPr>
          <a:xfrm>
            <a:off x="658368" y="1847088"/>
            <a:ext cx="182880" cy="164592"/>
          </a:xfrm>
          <a:prstGeom prst="rect">
            <a:avLst/>
          </a:prstGeom>
          <a:solidFill>
            <a:srgbClr val="D97706"/>
          </a:solidFill>
          <a:ln w="3810">
            <a:solidFill>
              <a:srgbClr val="0A1628"/>
            </a:solidFill>
            <a:prstDash val="solid"/>
          </a:ln>
        </p:spPr>
        <p:txBody>
          <a:bodyPr/>
          <a:lstStyle/>
          <a:p>
            <a:endParaRPr lang="en-US"/>
          </a:p>
        </p:txBody>
      </p:sp>
      <p:sp>
        <p:nvSpPr>
          <p:cNvPr id="47" name="Shape 45"/>
          <p:cNvSpPr/>
          <p:nvPr/>
        </p:nvSpPr>
        <p:spPr>
          <a:xfrm>
            <a:off x="859536" y="1847088"/>
            <a:ext cx="182880" cy="164592"/>
          </a:xfrm>
          <a:prstGeom prst="rect">
            <a:avLst/>
          </a:prstGeom>
          <a:solidFill>
            <a:srgbClr val="8B5CF6"/>
          </a:solidFill>
          <a:ln w="3810">
            <a:solidFill>
              <a:srgbClr val="0A1628"/>
            </a:solidFill>
            <a:prstDash val="solid"/>
          </a:ln>
        </p:spPr>
        <p:txBody>
          <a:bodyPr/>
          <a:lstStyle/>
          <a:p>
            <a:endParaRPr lang="en-US"/>
          </a:p>
        </p:txBody>
      </p:sp>
      <p:sp>
        <p:nvSpPr>
          <p:cNvPr id="48" name="Shape 46"/>
          <p:cNvSpPr/>
          <p:nvPr/>
        </p:nvSpPr>
        <p:spPr>
          <a:xfrm>
            <a:off x="1060704"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49" name="Shape 47"/>
          <p:cNvSpPr/>
          <p:nvPr/>
        </p:nvSpPr>
        <p:spPr>
          <a:xfrm>
            <a:off x="1261872"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0" name="Shape 48"/>
          <p:cNvSpPr/>
          <p:nvPr/>
        </p:nvSpPr>
        <p:spPr>
          <a:xfrm>
            <a:off x="1463040" y="1847088"/>
            <a:ext cx="182880" cy="164592"/>
          </a:xfrm>
          <a:prstGeom prst="rect">
            <a:avLst/>
          </a:prstGeom>
          <a:solidFill>
            <a:srgbClr val="8B5CF6"/>
          </a:solidFill>
          <a:ln w="3810">
            <a:solidFill>
              <a:srgbClr val="0A1628"/>
            </a:solidFill>
            <a:prstDash val="solid"/>
          </a:ln>
        </p:spPr>
        <p:txBody>
          <a:bodyPr/>
          <a:lstStyle/>
          <a:p>
            <a:endParaRPr lang="en-US"/>
          </a:p>
        </p:txBody>
      </p:sp>
      <p:sp>
        <p:nvSpPr>
          <p:cNvPr id="51" name="Shape 49"/>
          <p:cNvSpPr/>
          <p:nvPr/>
        </p:nvSpPr>
        <p:spPr>
          <a:xfrm>
            <a:off x="1664208"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2" name="Shape 50"/>
          <p:cNvSpPr/>
          <p:nvPr/>
        </p:nvSpPr>
        <p:spPr>
          <a:xfrm>
            <a:off x="1865376"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3" name="Shape 51"/>
          <p:cNvSpPr/>
          <p:nvPr/>
        </p:nvSpPr>
        <p:spPr>
          <a:xfrm>
            <a:off x="2066544"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5" name="Shape 53"/>
          <p:cNvSpPr/>
          <p:nvPr/>
        </p:nvSpPr>
        <p:spPr>
          <a:xfrm>
            <a:off x="2468880"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6" name="Shape 54"/>
          <p:cNvSpPr/>
          <p:nvPr/>
        </p:nvSpPr>
        <p:spPr>
          <a:xfrm>
            <a:off x="2670048"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7" name="Shape 55"/>
          <p:cNvSpPr/>
          <p:nvPr/>
        </p:nvSpPr>
        <p:spPr>
          <a:xfrm>
            <a:off x="2871216"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58" name="Shape 56"/>
          <p:cNvSpPr/>
          <p:nvPr/>
        </p:nvSpPr>
        <p:spPr>
          <a:xfrm>
            <a:off x="3072384" y="1847088"/>
            <a:ext cx="182880" cy="164592"/>
          </a:xfrm>
          <a:prstGeom prst="rect">
            <a:avLst/>
          </a:prstGeom>
          <a:solidFill>
            <a:srgbClr val="8B5CF6"/>
          </a:solidFill>
          <a:ln w="3810">
            <a:solidFill>
              <a:srgbClr val="0A1628"/>
            </a:solidFill>
            <a:prstDash val="solid"/>
          </a:ln>
        </p:spPr>
        <p:txBody>
          <a:bodyPr/>
          <a:lstStyle/>
          <a:p>
            <a:endParaRPr lang="en-US"/>
          </a:p>
        </p:txBody>
      </p:sp>
      <p:sp>
        <p:nvSpPr>
          <p:cNvPr id="59" name="Shape 57"/>
          <p:cNvSpPr/>
          <p:nvPr/>
        </p:nvSpPr>
        <p:spPr>
          <a:xfrm>
            <a:off x="3273552"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60" name="Shape 58"/>
          <p:cNvSpPr/>
          <p:nvPr/>
        </p:nvSpPr>
        <p:spPr>
          <a:xfrm>
            <a:off x="3474720" y="1847088"/>
            <a:ext cx="182880" cy="164592"/>
          </a:xfrm>
          <a:prstGeom prst="rect">
            <a:avLst/>
          </a:prstGeom>
          <a:solidFill>
            <a:srgbClr val="0F2040"/>
          </a:solidFill>
          <a:ln w="3810">
            <a:solidFill>
              <a:srgbClr val="0A1628"/>
            </a:solidFill>
            <a:prstDash val="solid"/>
          </a:ln>
        </p:spPr>
        <p:txBody>
          <a:bodyPr/>
          <a:lstStyle/>
          <a:p>
            <a:endParaRPr lang="en-US"/>
          </a:p>
        </p:txBody>
      </p:sp>
      <p:sp>
        <p:nvSpPr>
          <p:cNvPr id="61" name="Shape 59"/>
          <p:cNvSpPr/>
          <p:nvPr/>
        </p:nvSpPr>
        <p:spPr>
          <a:xfrm>
            <a:off x="3675888" y="1847088"/>
            <a:ext cx="182880" cy="164592"/>
          </a:xfrm>
          <a:prstGeom prst="rect">
            <a:avLst/>
          </a:prstGeom>
          <a:solidFill>
            <a:srgbClr val="D97706"/>
          </a:solidFill>
          <a:ln w="3810">
            <a:solidFill>
              <a:srgbClr val="0A1628"/>
            </a:solidFill>
            <a:prstDash val="solid"/>
          </a:ln>
        </p:spPr>
        <p:txBody>
          <a:bodyPr/>
          <a:lstStyle/>
          <a:p>
            <a:endParaRPr lang="en-US"/>
          </a:p>
        </p:txBody>
      </p:sp>
      <p:sp>
        <p:nvSpPr>
          <p:cNvPr id="62" name="Shape 60"/>
          <p:cNvSpPr/>
          <p:nvPr/>
        </p:nvSpPr>
        <p:spPr>
          <a:xfrm>
            <a:off x="3877056" y="1847088"/>
            <a:ext cx="182880" cy="164592"/>
          </a:xfrm>
          <a:prstGeom prst="rect">
            <a:avLst/>
          </a:prstGeom>
          <a:solidFill>
            <a:srgbClr val="8B5CF6"/>
          </a:solidFill>
          <a:ln w="3810">
            <a:solidFill>
              <a:srgbClr val="0A1628"/>
            </a:solidFill>
            <a:prstDash val="solid"/>
          </a:ln>
        </p:spPr>
        <p:txBody>
          <a:bodyPr/>
          <a:lstStyle/>
          <a:p>
            <a:endParaRPr lang="en-US"/>
          </a:p>
        </p:txBody>
      </p:sp>
      <p:sp>
        <p:nvSpPr>
          <p:cNvPr id="63" name="Shape 61"/>
          <p:cNvSpPr/>
          <p:nvPr/>
        </p:nvSpPr>
        <p:spPr>
          <a:xfrm>
            <a:off x="457200" y="2029968"/>
            <a:ext cx="182880" cy="164592"/>
          </a:xfrm>
          <a:prstGeom prst="rect">
            <a:avLst/>
          </a:prstGeom>
          <a:solidFill>
            <a:srgbClr val="8B5CF6"/>
          </a:solidFill>
          <a:ln w="3810">
            <a:solidFill>
              <a:srgbClr val="0A1628"/>
            </a:solidFill>
            <a:prstDash val="solid"/>
          </a:ln>
        </p:spPr>
        <p:txBody>
          <a:bodyPr/>
          <a:lstStyle/>
          <a:p>
            <a:endParaRPr lang="en-US"/>
          </a:p>
        </p:txBody>
      </p:sp>
      <p:sp>
        <p:nvSpPr>
          <p:cNvPr id="64" name="Shape 62"/>
          <p:cNvSpPr/>
          <p:nvPr/>
        </p:nvSpPr>
        <p:spPr>
          <a:xfrm>
            <a:off x="658368"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65" name="Shape 63"/>
          <p:cNvSpPr/>
          <p:nvPr/>
        </p:nvSpPr>
        <p:spPr>
          <a:xfrm>
            <a:off x="859536"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66" name="Shape 64"/>
          <p:cNvSpPr/>
          <p:nvPr/>
        </p:nvSpPr>
        <p:spPr>
          <a:xfrm>
            <a:off x="1060704" y="2029968"/>
            <a:ext cx="182880" cy="164592"/>
          </a:xfrm>
          <a:prstGeom prst="rect">
            <a:avLst/>
          </a:prstGeom>
          <a:solidFill>
            <a:srgbClr val="8B5CF6"/>
          </a:solidFill>
          <a:ln w="3810">
            <a:solidFill>
              <a:srgbClr val="0A1628"/>
            </a:solidFill>
            <a:prstDash val="solid"/>
          </a:ln>
        </p:spPr>
        <p:txBody>
          <a:bodyPr/>
          <a:lstStyle/>
          <a:p>
            <a:endParaRPr lang="en-US"/>
          </a:p>
        </p:txBody>
      </p:sp>
      <p:sp>
        <p:nvSpPr>
          <p:cNvPr id="67" name="Shape 65"/>
          <p:cNvSpPr/>
          <p:nvPr/>
        </p:nvSpPr>
        <p:spPr>
          <a:xfrm>
            <a:off x="1261872"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68" name="Shape 66"/>
          <p:cNvSpPr/>
          <p:nvPr/>
        </p:nvSpPr>
        <p:spPr>
          <a:xfrm>
            <a:off x="1463040"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69" name="Shape 67"/>
          <p:cNvSpPr/>
          <p:nvPr/>
        </p:nvSpPr>
        <p:spPr>
          <a:xfrm>
            <a:off x="1664208" y="2029968"/>
            <a:ext cx="182880" cy="164592"/>
          </a:xfrm>
          <a:prstGeom prst="rect">
            <a:avLst/>
          </a:prstGeom>
          <a:solidFill>
            <a:srgbClr val="8B5CF6"/>
          </a:solidFill>
          <a:ln w="3810">
            <a:solidFill>
              <a:srgbClr val="0A1628"/>
            </a:solidFill>
            <a:prstDash val="solid"/>
          </a:ln>
        </p:spPr>
        <p:txBody>
          <a:bodyPr/>
          <a:lstStyle/>
          <a:p>
            <a:endParaRPr lang="en-US"/>
          </a:p>
        </p:txBody>
      </p:sp>
      <p:sp>
        <p:nvSpPr>
          <p:cNvPr id="70" name="Shape 68"/>
          <p:cNvSpPr/>
          <p:nvPr/>
        </p:nvSpPr>
        <p:spPr>
          <a:xfrm>
            <a:off x="1865376"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1" name="Shape 69"/>
          <p:cNvSpPr/>
          <p:nvPr/>
        </p:nvSpPr>
        <p:spPr>
          <a:xfrm>
            <a:off x="2066544"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3" name="Shape 71"/>
          <p:cNvSpPr/>
          <p:nvPr/>
        </p:nvSpPr>
        <p:spPr>
          <a:xfrm>
            <a:off x="2468880"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4" name="Shape 72"/>
          <p:cNvSpPr/>
          <p:nvPr/>
        </p:nvSpPr>
        <p:spPr>
          <a:xfrm>
            <a:off x="2670048"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5" name="Shape 73"/>
          <p:cNvSpPr/>
          <p:nvPr/>
        </p:nvSpPr>
        <p:spPr>
          <a:xfrm>
            <a:off x="2871216" y="2029968"/>
            <a:ext cx="182880" cy="164592"/>
          </a:xfrm>
          <a:prstGeom prst="rect">
            <a:avLst/>
          </a:prstGeom>
          <a:solidFill>
            <a:srgbClr val="8B5CF6"/>
          </a:solidFill>
          <a:ln w="3810">
            <a:solidFill>
              <a:srgbClr val="0A1628"/>
            </a:solidFill>
            <a:prstDash val="solid"/>
          </a:ln>
        </p:spPr>
        <p:txBody>
          <a:bodyPr/>
          <a:lstStyle/>
          <a:p>
            <a:endParaRPr lang="en-US"/>
          </a:p>
        </p:txBody>
      </p:sp>
      <p:sp>
        <p:nvSpPr>
          <p:cNvPr id="76" name="Shape 74"/>
          <p:cNvSpPr/>
          <p:nvPr/>
        </p:nvSpPr>
        <p:spPr>
          <a:xfrm>
            <a:off x="3072384"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7" name="Shape 75"/>
          <p:cNvSpPr/>
          <p:nvPr/>
        </p:nvSpPr>
        <p:spPr>
          <a:xfrm>
            <a:off x="3273552"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78" name="Shape 76"/>
          <p:cNvSpPr/>
          <p:nvPr/>
        </p:nvSpPr>
        <p:spPr>
          <a:xfrm>
            <a:off x="3474720" y="2029968"/>
            <a:ext cx="182880" cy="164592"/>
          </a:xfrm>
          <a:prstGeom prst="rect">
            <a:avLst/>
          </a:prstGeom>
          <a:solidFill>
            <a:srgbClr val="8B5CF6"/>
          </a:solidFill>
          <a:ln w="3810">
            <a:solidFill>
              <a:srgbClr val="0A1628"/>
            </a:solidFill>
            <a:prstDash val="solid"/>
          </a:ln>
        </p:spPr>
        <p:txBody>
          <a:bodyPr/>
          <a:lstStyle/>
          <a:p>
            <a:endParaRPr lang="en-US"/>
          </a:p>
        </p:txBody>
      </p:sp>
      <p:sp>
        <p:nvSpPr>
          <p:cNvPr id="79" name="Shape 77"/>
          <p:cNvSpPr/>
          <p:nvPr/>
        </p:nvSpPr>
        <p:spPr>
          <a:xfrm>
            <a:off x="3675888"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80" name="Shape 78"/>
          <p:cNvSpPr/>
          <p:nvPr/>
        </p:nvSpPr>
        <p:spPr>
          <a:xfrm>
            <a:off x="3877056"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81" name="Shape 79"/>
          <p:cNvSpPr/>
          <p:nvPr/>
        </p:nvSpPr>
        <p:spPr>
          <a:xfrm>
            <a:off x="457200"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2" name="Shape 80"/>
          <p:cNvSpPr/>
          <p:nvPr/>
        </p:nvSpPr>
        <p:spPr>
          <a:xfrm>
            <a:off x="658368"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3" name="Shape 81"/>
          <p:cNvSpPr/>
          <p:nvPr/>
        </p:nvSpPr>
        <p:spPr>
          <a:xfrm>
            <a:off x="859536" y="2212848"/>
            <a:ext cx="182880" cy="164592"/>
          </a:xfrm>
          <a:prstGeom prst="rect">
            <a:avLst/>
          </a:prstGeom>
          <a:solidFill>
            <a:srgbClr val="8B5CF6"/>
          </a:solidFill>
          <a:ln w="3810">
            <a:solidFill>
              <a:srgbClr val="0A1628"/>
            </a:solidFill>
            <a:prstDash val="solid"/>
          </a:ln>
        </p:spPr>
        <p:txBody>
          <a:bodyPr/>
          <a:lstStyle/>
          <a:p>
            <a:endParaRPr lang="en-US"/>
          </a:p>
        </p:txBody>
      </p:sp>
      <p:sp>
        <p:nvSpPr>
          <p:cNvPr id="84" name="Shape 82"/>
          <p:cNvSpPr/>
          <p:nvPr/>
        </p:nvSpPr>
        <p:spPr>
          <a:xfrm>
            <a:off x="1060704"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5" name="Shape 83"/>
          <p:cNvSpPr/>
          <p:nvPr/>
        </p:nvSpPr>
        <p:spPr>
          <a:xfrm>
            <a:off x="1261872" y="2212848"/>
            <a:ext cx="182880" cy="164592"/>
          </a:xfrm>
          <a:prstGeom prst="rect">
            <a:avLst/>
          </a:prstGeom>
          <a:solidFill>
            <a:srgbClr val="8B5CF6"/>
          </a:solidFill>
          <a:ln w="3810">
            <a:solidFill>
              <a:srgbClr val="0A1628"/>
            </a:solidFill>
            <a:prstDash val="solid"/>
          </a:ln>
        </p:spPr>
        <p:txBody>
          <a:bodyPr/>
          <a:lstStyle/>
          <a:p>
            <a:endParaRPr lang="en-US"/>
          </a:p>
        </p:txBody>
      </p:sp>
      <p:sp>
        <p:nvSpPr>
          <p:cNvPr id="86" name="Shape 84"/>
          <p:cNvSpPr/>
          <p:nvPr/>
        </p:nvSpPr>
        <p:spPr>
          <a:xfrm>
            <a:off x="1463040"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7" name="Shape 85"/>
          <p:cNvSpPr/>
          <p:nvPr/>
        </p:nvSpPr>
        <p:spPr>
          <a:xfrm>
            <a:off x="1664208"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8" name="Shape 86"/>
          <p:cNvSpPr/>
          <p:nvPr/>
        </p:nvSpPr>
        <p:spPr>
          <a:xfrm>
            <a:off x="1865376"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89" name="Shape 87"/>
          <p:cNvSpPr/>
          <p:nvPr/>
        </p:nvSpPr>
        <p:spPr>
          <a:xfrm>
            <a:off x="2066544"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1" name="Shape 89"/>
          <p:cNvSpPr/>
          <p:nvPr/>
        </p:nvSpPr>
        <p:spPr>
          <a:xfrm>
            <a:off x="2468880"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2" name="Shape 90"/>
          <p:cNvSpPr/>
          <p:nvPr/>
        </p:nvSpPr>
        <p:spPr>
          <a:xfrm>
            <a:off x="2670048"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3" name="Shape 91"/>
          <p:cNvSpPr/>
          <p:nvPr/>
        </p:nvSpPr>
        <p:spPr>
          <a:xfrm>
            <a:off x="2871216"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4" name="Shape 92"/>
          <p:cNvSpPr/>
          <p:nvPr/>
        </p:nvSpPr>
        <p:spPr>
          <a:xfrm>
            <a:off x="3072384"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5" name="Shape 93"/>
          <p:cNvSpPr/>
          <p:nvPr/>
        </p:nvSpPr>
        <p:spPr>
          <a:xfrm>
            <a:off x="3273552" y="2212848"/>
            <a:ext cx="182880" cy="164592"/>
          </a:xfrm>
          <a:prstGeom prst="rect">
            <a:avLst/>
          </a:prstGeom>
          <a:solidFill>
            <a:srgbClr val="8B5CF6"/>
          </a:solidFill>
          <a:ln w="3810">
            <a:solidFill>
              <a:srgbClr val="0A1628"/>
            </a:solidFill>
            <a:prstDash val="solid"/>
          </a:ln>
        </p:spPr>
        <p:txBody>
          <a:bodyPr/>
          <a:lstStyle/>
          <a:p>
            <a:endParaRPr lang="en-US"/>
          </a:p>
        </p:txBody>
      </p:sp>
      <p:sp>
        <p:nvSpPr>
          <p:cNvPr id="96" name="Shape 94"/>
          <p:cNvSpPr/>
          <p:nvPr/>
        </p:nvSpPr>
        <p:spPr>
          <a:xfrm>
            <a:off x="3474720"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7" name="Shape 95"/>
          <p:cNvSpPr/>
          <p:nvPr/>
        </p:nvSpPr>
        <p:spPr>
          <a:xfrm>
            <a:off x="3675888" y="2212848"/>
            <a:ext cx="182880" cy="164592"/>
          </a:xfrm>
          <a:prstGeom prst="rect">
            <a:avLst/>
          </a:prstGeom>
          <a:solidFill>
            <a:srgbClr val="D97706"/>
          </a:solidFill>
          <a:ln w="3810">
            <a:solidFill>
              <a:srgbClr val="0A1628"/>
            </a:solidFill>
            <a:prstDash val="solid"/>
          </a:ln>
        </p:spPr>
        <p:txBody>
          <a:bodyPr/>
          <a:lstStyle/>
          <a:p>
            <a:endParaRPr lang="en-US"/>
          </a:p>
        </p:txBody>
      </p:sp>
      <p:sp>
        <p:nvSpPr>
          <p:cNvPr id="98" name="Shape 96"/>
          <p:cNvSpPr/>
          <p:nvPr/>
        </p:nvSpPr>
        <p:spPr>
          <a:xfrm>
            <a:off x="3877056" y="2212848"/>
            <a:ext cx="182880" cy="164592"/>
          </a:xfrm>
          <a:prstGeom prst="rect">
            <a:avLst/>
          </a:prstGeom>
          <a:solidFill>
            <a:srgbClr val="0F2040"/>
          </a:solidFill>
          <a:ln w="3810">
            <a:solidFill>
              <a:srgbClr val="0A1628"/>
            </a:solidFill>
            <a:prstDash val="solid"/>
          </a:ln>
        </p:spPr>
        <p:txBody>
          <a:bodyPr/>
          <a:lstStyle/>
          <a:p>
            <a:endParaRPr lang="en-US"/>
          </a:p>
        </p:txBody>
      </p:sp>
      <p:sp>
        <p:nvSpPr>
          <p:cNvPr id="99" name="Shape 97"/>
          <p:cNvSpPr/>
          <p:nvPr/>
        </p:nvSpPr>
        <p:spPr>
          <a:xfrm>
            <a:off x="457200"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00" name="Shape 98"/>
          <p:cNvSpPr/>
          <p:nvPr/>
        </p:nvSpPr>
        <p:spPr>
          <a:xfrm>
            <a:off x="658368"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01" name="Shape 99"/>
          <p:cNvSpPr/>
          <p:nvPr/>
        </p:nvSpPr>
        <p:spPr>
          <a:xfrm>
            <a:off x="859536"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02" name="Shape 100"/>
          <p:cNvSpPr/>
          <p:nvPr/>
        </p:nvSpPr>
        <p:spPr>
          <a:xfrm>
            <a:off x="1060704"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03" name="Shape 101"/>
          <p:cNvSpPr/>
          <p:nvPr/>
        </p:nvSpPr>
        <p:spPr>
          <a:xfrm>
            <a:off x="1261872"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04" name="Shape 102"/>
          <p:cNvSpPr/>
          <p:nvPr/>
        </p:nvSpPr>
        <p:spPr>
          <a:xfrm>
            <a:off x="1463040"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05" name="Shape 103"/>
          <p:cNvSpPr/>
          <p:nvPr/>
        </p:nvSpPr>
        <p:spPr>
          <a:xfrm>
            <a:off x="1664208"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06" name="Shape 104"/>
          <p:cNvSpPr/>
          <p:nvPr/>
        </p:nvSpPr>
        <p:spPr>
          <a:xfrm>
            <a:off x="1865376"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07" name="Shape 105"/>
          <p:cNvSpPr/>
          <p:nvPr/>
        </p:nvSpPr>
        <p:spPr>
          <a:xfrm>
            <a:off x="2066544"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08" name="Shape 106"/>
          <p:cNvSpPr/>
          <p:nvPr/>
        </p:nvSpPr>
        <p:spPr>
          <a:xfrm>
            <a:off x="2267712"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09" name="Shape 107"/>
          <p:cNvSpPr/>
          <p:nvPr/>
        </p:nvSpPr>
        <p:spPr>
          <a:xfrm>
            <a:off x="2468880"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10" name="Shape 108"/>
          <p:cNvSpPr/>
          <p:nvPr/>
        </p:nvSpPr>
        <p:spPr>
          <a:xfrm>
            <a:off x="2670048"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11" name="Shape 109"/>
          <p:cNvSpPr/>
          <p:nvPr/>
        </p:nvSpPr>
        <p:spPr>
          <a:xfrm>
            <a:off x="2871216"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12" name="Shape 110"/>
          <p:cNvSpPr/>
          <p:nvPr/>
        </p:nvSpPr>
        <p:spPr>
          <a:xfrm>
            <a:off x="3072384" y="2395728"/>
            <a:ext cx="182880" cy="164592"/>
          </a:xfrm>
          <a:prstGeom prst="rect">
            <a:avLst/>
          </a:prstGeom>
          <a:solidFill>
            <a:srgbClr val="8B5CF6"/>
          </a:solidFill>
          <a:ln w="3810">
            <a:solidFill>
              <a:srgbClr val="0A1628"/>
            </a:solidFill>
            <a:prstDash val="solid"/>
          </a:ln>
        </p:spPr>
        <p:txBody>
          <a:bodyPr/>
          <a:lstStyle/>
          <a:p>
            <a:endParaRPr lang="en-US"/>
          </a:p>
        </p:txBody>
      </p:sp>
      <p:sp>
        <p:nvSpPr>
          <p:cNvPr id="113" name="Shape 111"/>
          <p:cNvSpPr/>
          <p:nvPr/>
        </p:nvSpPr>
        <p:spPr>
          <a:xfrm>
            <a:off x="3273552"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14" name="Shape 112"/>
          <p:cNvSpPr/>
          <p:nvPr/>
        </p:nvSpPr>
        <p:spPr>
          <a:xfrm>
            <a:off x="3474720" y="2395728"/>
            <a:ext cx="182880" cy="164592"/>
          </a:xfrm>
          <a:prstGeom prst="rect">
            <a:avLst/>
          </a:prstGeom>
          <a:solidFill>
            <a:srgbClr val="D97706"/>
          </a:solidFill>
          <a:ln w="3810">
            <a:solidFill>
              <a:srgbClr val="0A1628"/>
            </a:solidFill>
            <a:prstDash val="solid"/>
          </a:ln>
        </p:spPr>
        <p:txBody>
          <a:bodyPr/>
          <a:lstStyle/>
          <a:p>
            <a:endParaRPr lang="en-US"/>
          </a:p>
        </p:txBody>
      </p:sp>
      <p:sp>
        <p:nvSpPr>
          <p:cNvPr id="115" name="Shape 113"/>
          <p:cNvSpPr/>
          <p:nvPr/>
        </p:nvSpPr>
        <p:spPr>
          <a:xfrm>
            <a:off x="3675888" y="2395728"/>
            <a:ext cx="182880" cy="164592"/>
          </a:xfrm>
          <a:prstGeom prst="rect">
            <a:avLst/>
          </a:prstGeom>
          <a:solidFill>
            <a:srgbClr val="0F2040"/>
          </a:solidFill>
          <a:ln w="3810">
            <a:solidFill>
              <a:srgbClr val="0A1628"/>
            </a:solidFill>
            <a:prstDash val="solid"/>
          </a:ln>
        </p:spPr>
        <p:txBody>
          <a:bodyPr/>
          <a:lstStyle/>
          <a:p>
            <a:endParaRPr lang="en-US"/>
          </a:p>
        </p:txBody>
      </p:sp>
      <p:sp>
        <p:nvSpPr>
          <p:cNvPr id="116" name="Shape 114"/>
          <p:cNvSpPr/>
          <p:nvPr/>
        </p:nvSpPr>
        <p:spPr>
          <a:xfrm>
            <a:off x="3877056" y="2395728"/>
            <a:ext cx="182880" cy="164592"/>
          </a:xfrm>
          <a:prstGeom prst="rect">
            <a:avLst/>
          </a:prstGeom>
          <a:solidFill>
            <a:srgbClr val="D97706"/>
          </a:solidFill>
          <a:ln w="3810">
            <a:solidFill>
              <a:srgbClr val="0A1628"/>
            </a:solidFill>
            <a:prstDash val="solid"/>
          </a:ln>
        </p:spPr>
        <p:txBody>
          <a:bodyPr/>
          <a:lstStyle/>
          <a:p>
            <a:endParaRPr lang="en-US"/>
          </a:p>
        </p:txBody>
      </p:sp>
      <p:sp>
        <p:nvSpPr>
          <p:cNvPr id="117" name="Shape 115"/>
          <p:cNvSpPr/>
          <p:nvPr/>
        </p:nvSpPr>
        <p:spPr>
          <a:xfrm>
            <a:off x="457200" y="2578608"/>
            <a:ext cx="182880" cy="164592"/>
          </a:xfrm>
          <a:prstGeom prst="rect">
            <a:avLst/>
          </a:prstGeom>
          <a:solidFill>
            <a:srgbClr val="8B5CF6"/>
          </a:solidFill>
          <a:ln w="3810">
            <a:solidFill>
              <a:srgbClr val="0A1628"/>
            </a:solidFill>
            <a:prstDash val="solid"/>
          </a:ln>
        </p:spPr>
        <p:txBody>
          <a:bodyPr/>
          <a:lstStyle/>
          <a:p>
            <a:endParaRPr lang="en-US"/>
          </a:p>
        </p:txBody>
      </p:sp>
      <p:sp>
        <p:nvSpPr>
          <p:cNvPr id="118" name="Shape 116"/>
          <p:cNvSpPr/>
          <p:nvPr/>
        </p:nvSpPr>
        <p:spPr>
          <a:xfrm>
            <a:off x="658368"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19" name="Shape 117"/>
          <p:cNvSpPr/>
          <p:nvPr/>
        </p:nvSpPr>
        <p:spPr>
          <a:xfrm>
            <a:off x="859536" y="2578608"/>
            <a:ext cx="182880" cy="164592"/>
          </a:xfrm>
          <a:prstGeom prst="rect">
            <a:avLst/>
          </a:prstGeom>
          <a:solidFill>
            <a:srgbClr val="8B5CF6"/>
          </a:solidFill>
          <a:ln w="3810">
            <a:solidFill>
              <a:srgbClr val="0A1628"/>
            </a:solidFill>
            <a:prstDash val="solid"/>
          </a:ln>
        </p:spPr>
        <p:txBody>
          <a:bodyPr/>
          <a:lstStyle/>
          <a:p>
            <a:endParaRPr lang="en-US"/>
          </a:p>
        </p:txBody>
      </p:sp>
      <p:sp>
        <p:nvSpPr>
          <p:cNvPr id="120" name="Shape 118"/>
          <p:cNvSpPr/>
          <p:nvPr/>
        </p:nvSpPr>
        <p:spPr>
          <a:xfrm>
            <a:off x="1060704"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1" name="Shape 119"/>
          <p:cNvSpPr/>
          <p:nvPr/>
        </p:nvSpPr>
        <p:spPr>
          <a:xfrm>
            <a:off x="1261872"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2" name="Shape 120"/>
          <p:cNvSpPr/>
          <p:nvPr/>
        </p:nvSpPr>
        <p:spPr>
          <a:xfrm>
            <a:off x="1463040"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3" name="Shape 121"/>
          <p:cNvSpPr/>
          <p:nvPr/>
        </p:nvSpPr>
        <p:spPr>
          <a:xfrm>
            <a:off x="1664208"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4" name="Shape 122"/>
          <p:cNvSpPr/>
          <p:nvPr/>
        </p:nvSpPr>
        <p:spPr>
          <a:xfrm>
            <a:off x="1865376" y="2578608"/>
            <a:ext cx="182880" cy="164592"/>
          </a:xfrm>
          <a:prstGeom prst="rect">
            <a:avLst/>
          </a:prstGeom>
          <a:solidFill>
            <a:srgbClr val="D97706"/>
          </a:solidFill>
          <a:ln w="3810">
            <a:solidFill>
              <a:srgbClr val="0A1628"/>
            </a:solidFill>
            <a:prstDash val="solid"/>
          </a:ln>
        </p:spPr>
        <p:txBody>
          <a:bodyPr/>
          <a:lstStyle/>
          <a:p>
            <a:endParaRPr lang="en-US"/>
          </a:p>
        </p:txBody>
      </p:sp>
      <p:sp>
        <p:nvSpPr>
          <p:cNvPr id="125" name="Shape 123"/>
          <p:cNvSpPr/>
          <p:nvPr/>
        </p:nvSpPr>
        <p:spPr>
          <a:xfrm>
            <a:off x="2066544"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7" name="Shape 125"/>
          <p:cNvSpPr/>
          <p:nvPr/>
        </p:nvSpPr>
        <p:spPr>
          <a:xfrm>
            <a:off x="2468880"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28" name="Shape 126"/>
          <p:cNvSpPr/>
          <p:nvPr/>
        </p:nvSpPr>
        <p:spPr>
          <a:xfrm>
            <a:off x="2670048" y="2578608"/>
            <a:ext cx="182880" cy="164592"/>
          </a:xfrm>
          <a:prstGeom prst="rect">
            <a:avLst/>
          </a:prstGeom>
          <a:solidFill>
            <a:srgbClr val="8B5CF6"/>
          </a:solidFill>
          <a:ln w="3810">
            <a:solidFill>
              <a:srgbClr val="0A1628"/>
            </a:solidFill>
            <a:prstDash val="solid"/>
          </a:ln>
        </p:spPr>
        <p:txBody>
          <a:bodyPr/>
          <a:lstStyle/>
          <a:p>
            <a:endParaRPr lang="en-US"/>
          </a:p>
        </p:txBody>
      </p:sp>
      <p:sp>
        <p:nvSpPr>
          <p:cNvPr id="129" name="Shape 127"/>
          <p:cNvSpPr/>
          <p:nvPr/>
        </p:nvSpPr>
        <p:spPr>
          <a:xfrm>
            <a:off x="2871216"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30" name="Shape 128"/>
          <p:cNvSpPr/>
          <p:nvPr/>
        </p:nvSpPr>
        <p:spPr>
          <a:xfrm>
            <a:off x="3072384"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31" name="Shape 129"/>
          <p:cNvSpPr/>
          <p:nvPr/>
        </p:nvSpPr>
        <p:spPr>
          <a:xfrm>
            <a:off x="3273552"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32" name="Shape 130"/>
          <p:cNvSpPr/>
          <p:nvPr/>
        </p:nvSpPr>
        <p:spPr>
          <a:xfrm>
            <a:off x="3474720"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33" name="Shape 131"/>
          <p:cNvSpPr/>
          <p:nvPr/>
        </p:nvSpPr>
        <p:spPr>
          <a:xfrm>
            <a:off x="3675888" y="2578608"/>
            <a:ext cx="182880" cy="164592"/>
          </a:xfrm>
          <a:prstGeom prst="rect">
            <a:avLst/>
          </a:prstGeom>
          <a:solidFill>
            <a:srgbClr val="D97706"/>
          </a:solidFill>
          <a:ln w="3810">
            <a:solidFill>
              <a:srgbClr val="0A1628"/>
            </a:solidFill>
            <a:prstDash val="solid"/>
          </a:ln>
        </p:spPr>
        <p:txBody>
          <a:bodyPr/>
          <a:lstStyle/>
          <a:p>
            <a:endParaRPr lang="en-US"/>
          </a:p>
        </p:txBody>
      </p:sp>
      <p:sp>
        <p:nvSpPr>
          <p:cNvPr id="134" name="Shape 132"/>
          <p:cNvSpPr/>
          <p:nvPr/>
        </p:nvSpPr>
        <p:spPr>
          <a:xfrm>
            <a:off x="3877056" y="2578608"/>
            <a:ext cx="182880" cy="164592"/>
          </a:xfrm>
          <a:prstGeom prst="rect">
            <a:avLst/>
          </a:prstGeom>
          <a:solidFill>
            <a:srgbClr val="0F2040"/>
          </a:solidFill>
          <a:ln w="3810">
            <a:solidFill>
              <a:srgbClr val="0A1628"/>
            </a:solidFill>
            <a:prstDash val="solid"/>
          </a:ln>
        </p:spPr>
        <p:txBody>
          <a:bodyPr/>
          <a:lstStyle/>
          <a:p>
            <a:endParaRPr lang="en-US"/>
          </a:p>
        </p:txBody>
      </p:sp>
      <p:sp>
        <p:nvSpPr>
          <p:cNvPr id="135" name="Shape 133"/>
          <p:cNvSpPr/>
          <p:nvPr/>
        </p:nvSpPr>
        <p:spPr>
          <a:xfrm>
            <a:off x="457200"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36" name="Shape 134"/>
          <p:cNvSpPr/>
          <p:nvPr/>
        </p:nvSpPr>
        <p:spPr>
          <a:xfrm>
            <a:off x="658368" y="2761488"/>
            <a:ext cx="182880" cy="164592"/>
          </a:xfrm>
          <a:prstGeom prst="rect">
            <a:avLst/>
          </a:prstGeom>
          <a:solidFill>
            <a:srgbClr val="8B5CF6"/>
          </a:solidFill>
          <a:ln w="3810">
            <a:solidFill>
              <a:srgbClr val="0A1628"/>
            </a:solidFill>
            <a:prstDash val="solid"/>
          </a:ln>
        </p:spPr>
        <p:txBody>
          <a:bodyPr/>
          <a:lstStyle/>
          <a:p>
            <a:endParaRPr lang="en-US"/>
          </a:p>
        </p:txBody>
      </p:sp>
      <p:sp>
        <p:nvSpPr>
          <p:cNvPr id="137" name="Shape 135"/>
          <p:cNvSpPr/>
          <p:nvPr/>
        </p:nvSpPr>
        <p:spPr>
          <a:xfrm>
            <a:off x="859536"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38" name="Shape 136"/>
          <p:cNvSpPr/>
          <p:nvPr/>
        </p:nvSpPr>
        <p:spPr>
          <a:xfrm>
            <a:off x="1060704"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39" name="Shape 137"/>
          <p:cNvSpPr/>
          <p:nvPr/>
        </p:nvSpPr>
        <p:spPr>
          <a:xfrm>
            <a:off x="1261872" y="2761488"/>
            <a:ext cx="182880" cy="164592"/>
          </a:xfrm>
          <a:prstGeom prst="rect">
            <a:avLst/>
          </a:prstGeom>
          <a:solidFill>
            <a:srgbClr val="D97706"/>
          </a:solidFill>
          <a:ln w="3810">
            <a:solidFill>
              <a:srgbClr val="0A1628"/>
            </a:solidFill>
            <a:prstDash val="solid"/>
          </a:ln>
        </p:spPr>
        <p:txBody>
          <a:bodyPr/>
          <a:lstStyle/>
          <a:p>
            <a:endParaRPr lang="en-US"/>
          </a:p>
        </p:txBody>
      </p:sp>
      <p:sp>
        <p:nvSpPr>
          <p:cNvPr id="140" name="Shape 138"/>
          <p:cNvSpPr/>
          <p:nvPr/>
        </p:nvSpPr>
        <p:spPr>
          <a:xfrm>
            <a:off x="1463040"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1" name="Shape 139"/>
          <p:cNvSpPr/>
          <p:nvPr/>
        </p:nvSpPr>
        <p:spPr>
          <a:xfrm>
            <a:off x="1664208" y="2761488"/>
            <a:ext cx="182880" cy="164592"/>
          </a:xfrm>
          <a:prstGeom prst="rect">
            <a:avLst/>
          </a:prstGeom>
          <a:solidFill>
            <a:srgbClr val="8B5CF6"/>
          </a:solidFill>
          <a:ln w="3810">
            <a:solidFill>
              <a:srgbClr val="0A1628"/>
            </a:solidFill>
            <a:prstDash val="solid"/>
          </a:ln>
        </p:spPr>
        <p:txBody>
          <a:bodyPr/>
          <a:lstStyle/>
          <a:p>
            <a:endParaRPr lang="en-US"/>
          </a:p>
        </p:txBody>
      </p:sp>
      <p:sp>
        <p:nvSpPr>
          <p:cNvPr id="142" name="Shape 140"/>
          <p:cNvSpPr/>
          <p:nvPr/>
        </p:nvSpPr>
        <p:spPr>
          <a:xfrm>
            <a:off x="1865376"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3" name="Shape 141"/>
          <p:cNvSpPr/>
          <p:nvPr/>
        </p:nvSpPr>
        <p:spPr>
          <a:xfrm>
            <a:off x="2066544"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5" name="Shape 143"/>
          <p:cNvSpPr/>
          <p:nvPr/>
        </p:nvSpPr>
        <p:spPr>
          <a:xfrm>
            <a:off x="2468880"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6" name="Shape 144"/>
          <p:cNvSpPr/>
          <p:nvPr/>
        </p:nvSpPr>
        <p:spPr>
          <a:xfrm>
            <a:off x="2670048"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7" name="Shape 145"/>
          <p:cNvSpPr/>
          <p:nvPr/>
        </p:nvSpPr>
        <p:spPr>
          <a:xfrm>
            <a:off x="2871216" y="2761488"/>
            <a:ext cx="182880" cy="164592"/>
          </a:xfrm>
          <a:prstGeom prst="rect">
            <a:avLst/>
          </a:prstGeom>
          <a:solidFill>
            <a:srgbClr val="D97706"/>
          </a:solidFill>
          <a:ln w="3810">
            <a:solidFill>
              <a:srgbClr val="0A1628"/>
            </a:solidFill>
            <a:prstDash val="solid"/>
          </a:ln>
        </p:spPr>
        <p:txBody>
          <a:bodyPr/>
          <a:lstStyle/>
          <a:p>
            <a:endParaRPr lang="en-US"/>
          </a:p>
        </p:txBody>
      </p:sp>
      <p:sp>
        <p:nvSpPr>
          <p:cNvPr id="148" name="Shape 146"/>
          <p:cNvSpPr/>
          <p:nvPr/>
        </p:nvSpPr>
        <p:spPr>
          <a:xfrm>
            <a:off x="3072384"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49" name="Shape 147"/>
          <p:cNvSpPr/>
          <p:nvPr/>
        </p:nvSpPr>
        <p:spPr>
          <a:xfrm>
            <a:off x="3273552" y="2761488"/>
            <a:ext cx="182880" cy="164592"/>
          </a:xfrm>
          <a:prstGeom prst="rect">
            <a:avLst/>
          </a:prstGeom>
          <a:solidFill>
            <a:srgbClr val="8B5CF6"/>
          </a:solidFill>
          <a:ln w="3810">
            <a:solidFill>
              <a:srgbClr val="0A1628"/>
            </a:solidFill>
            <a:prstDash val="solid"/>
          </a:ln>
        </p:spPr>
        <p:txBody>
          <a:bodyPr/>
          <a:lstStyle/>
          <a:p>
            <a:endParaRPr lang="en-US"/>
          </a:p>
        </p:txBody>
      </p:sp>
      <p:sp>
        <p:nvSpPr>
          <p:cNvPr id="150" name="Shape 148"/>
          <p:cNvSpPr/>
          <p:nvPr/>
        </p:nvSpPr>
        <p:spPr>
          <a:xfrm>
            <a:off x="3474720"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51" name="Shape 149"/>
          <p:cNvSpPr/>
          <p:nvPr/>
        </p:nvSpPr>
        <p:spPr>
          <a:xfrm>
            <a:off x="3675888"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152" name="Shape 150"/>
          <p:cNvSpPr/>
          <p:nvPr/>
        </p:nvSpPr>
        <p:spPr>
          <a:xfrm>
            <a:off x="3877056" y="2761488"/>
            <a:ext cx="182880" cy="164592"/>
          </a:xfrm>
          <a:prstGeom prst="rect">
            <a:avLst/>
          </a:prstGeom>
          <a:solidFill>
            <a:srgbClr val="8B5CF6"/>
          </a:solidFill>
          <a:ln w="3810">
            <a:solidFill>
              <a:srgbClr val="0A1628"/>
            </a:solidFill>
            <a:prstDash val="solid"/>
          </a:ln>
        </p:spPr>
        <p:txBody>
          <a:bodyPr/>
          <a:lstStyle/>
          <a:p>
            <a:endParaRPr lang="en-US"/>
          </a:p>
        </p:txBody>
      </p:sp>
      <p:sp>
        <p:nvSpPr>
          <p:cNvPr id="153" name="Shape 151"/>
          <p:cNvSpPr/>
          <p:nvPr/>
        </p:nvSpPr>
        <p:spPr>
          <a:xfrm>
            <a:off x="457200"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54" name="Shape 152"/>
          <p:cNvSpPr/>
          <p:nvPr/>
        </p:nvSpPr>
        <p:spPr>
          <a:xfrm>
            <a:off x="658368"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55" name="Shape 153"/>
          <p:cNvSpPr/>
          <p:nvPr/>
        </p:nvSpPr>
        <p:spPr>
          <a:xfrm>
            <a:off x="859536" y="2944368"/>
            <a:ext cx="182880" cy="164592"/>
          </a:xfrm>
          <a:prstGeom prst="rect">
            <a:avLst/>
          </a:prstGeom>
          <a:solidFill>
            <a:srgbClr val="8B5CF6"/>
          </a:solidFill>
          <a:ln w="3810">
            <a:solidFill>
              <a:srgbClr val="0A1628"/>
            </a:solidFill>
            <a:prstDash val="solid"/>
          </a:ln>
        </p:spPr>
        <p:txBody>
          <a:bodyPr/>
          <a:lstStyle/>
          <a:p>
            <a:endParaRPr lang="en-US"/>
          </a:p>
        </p:txBody>
      </p:sp>
      <p:sp>
        <p:nvSpPr>
          <p:cNvPr id="156" name="Shape 154"/>
          <p:cNvSpPr/>
          <p:nvPr/>
        </p:nvSpPr>
        <p:spPr>
          <a:xfrm>
            <a:off x="1060704" y="2944368"/>
            <a:ext cx="182880" cy="164592"/>
          </a:xfrm>
          <a:prstGeom prst="rect">
            <a:avLst/>
          </a:prstGeom>
          <a:solidFill>
            <a:srgbClr val="D97706"/>
          </a:solidFill>
          <a:ln w="3810">
            <a:solidFill>
              <a:srgbClr val="0A1628"/>
            </a:solidFill>
            <a:prstDash val="solid"/>
          </a:ln>
        </p:spPr>
        <p:txBody>
          <a:bodyPr/>
          <a:lstStyle/>
          <a:p>
            <a:endParaRPr lang="en-US"/>
          </a:p>
        </p:txBody>
      </p:sp>
      <p:sp>
        <p:nvSpPr>
          <p:cNvPr id="157" name="Shape 155"/>
          <p:cNvSpPr/>
          <p:nvPr/>
        </p:nvSpPr>
        <p:spPr>
          <a:xfrm>
            <a:off x="1261872"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58" name="Shape 156"/>
          <p:cNvSpPr/>
          <p:nvPr/>
        </p:nvSpPr>
        <p:spPr>
          <a:xfrm>
            <a:off x="1463040"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59" name="Shape 157"/>
          <p:cNvSpPr/>
          <p:nvPr/>
        </p:nvSpPr>
        <p:spPr>
          <a:xfrm>
            <a:off x="1664208" y="2944368"/>
            <a:ext cx="182880" cy="164592"/>
          </a:xfrm>
          <a:prstGeom prst="rect">
            <a:avLst/>
          </a:prstGeom>
          <a:solidFill>
            <a:srgbClr val="8B5CF6"/>
          </a:solidFill>
          <a:ln w="3810">
            <a:solidFill>
              <a:srgbClr val="0A1628"/>
            </a:solidFill>
            <a:prstDash val="solid"/>
          </a:ln>
        </p:spPr>
        <p:txBody>
          <a:bodyPr/>
          <a:lstStyle/>
          <a:p>
            <a:endParaRPr lang="en-US"/>
          </a:p>
        </p:txBody>
      </p:sp>
      <p:sp>
        <p:nvSpPr>
          <p:cNvPr id="160" name="Shape 158"/>
          <p:cNvSpPr/>
          <p:nvPr/>
        </p:nvSpPr>
        <p:spPr>
          <a:xfrm>
            <a:off x="1865376"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1" name="Shape 159"/>
          <p:cNvSpPr/>
          <p:nvPr/>
        </p:nvSpPr>
        <p:spPr>
          <a:xfrm>
            <a:off x="2066544"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2" name="Shape 160"/>
          <p:cNvSpPr/>
          <p:nvPr/>
        </p:nvSpPr>
        <p:spPr>
          <a:xfrm>
            <a:off x="2267712" y="2944368"/>
            <a:ext cx="182880" cy="164592"/>
          </a:xfrm>
          <a:prstGeom prst="rect">
            <a:avLst/>
          </a:prstGeom>
          <a:solidFill>
            <a:srgbClr val="8B5CF6"/>
          </a:solidFill>
          <a:ln w="3810">
            <a:solidFill>
              <a:srgbClr val="0A1628"/>
            </a:solidFill>
            <a:prstDash val="solid"/>
          </a:ln>
        </p:spPr>
        <p:txBody>
          <a:bodyPr/>
          <a:lstStyle/>
          <a:p>
            <a:endParaRPr lang="en-US"/>
          </a:p>
        </p:txBody>
      </p:sp>
      <p:sp>
        <p:nvSpPr>
          <p:cNvPr id="163" name="Shape 161"/>
          <p:cNvSpPr/>
          <p:nvPr/>
        </p:nvSpPr>
        <p:spPr>
          <a:xfrm>
            <a:off x="2468880"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4" name="Shape 162"/>
          <p:cNvSpPr/>
          <p:nvPr/>
        </p:nvSpPr>
        <p:spPr>
          <a:xfrm>
            <a:off x="2670048"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5" name="Shape 163"/>
          <p:cNvSpPr/>
          <p:nvPr/>
        </p:nvSpPr>
        <p:spPr>
          <a:xfrm>
            <a:off x="2871216" y="2944368"/>
            <a:ext cx="182880" cy="164592"/>
          </a:xfrm>
          <a:prstGeom prst="rect">
            <a:avLst/>
          </a:prstGeom>
          <a:solidFill>
            <a:srgbClr val="8B5CF6"/>
          </a:solidFill>
          <a:ln w="3810">
            <a:solidFill>
              <a:srgbClr val="0A1628"/>
            </a:solidFill>
            <a:prstDash val="solid"/>
          </a:ln>
        </p:spPr>
        <p:txBody>
          <a:bodyPr/>
          <a:lstStyle/>
          <a:p>
            <a:endParaRPr lang="en-US"/>
          </a:p>
        </p:txBody>
      </p:sp>
      <p:sp>
        <p:nvSpPr>
          <p:cNvPr id="166" name="Shape 164"/>
          <p:cNvSpPr/>
          <p:nvPr/>
        </p:nvSpPr>
        <p:spPr>
          <a:xfrm>
            <a:off x="3072384"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7" name="Shape 165"/>
          <p:cNvSpPr/>
          <p:nvPr/>
        </p:nvSpPr>
        <p:spPr>
          <a:xfrm>
            <a:off x="3273552"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68" name="Shape 166"/>
          <p:cNvSpPr/>
          <p:nvPr/>
        </p:nvSpPr>
        <p:spPr>
          <a:xfrm>
            <a:off x="3474720" y="2944368"/>
            <a:ext cx="182880" cy="164592"/>
          </a:xfrm>
          <a:prstGeom prst="rect">
            <a:avLst/>
          </a:prstGeom>
          <a:solidFill>
            <a:srgbClr val="8B5CF6"/>
          </a:solidFill>
          <a:ln w="3810">
            <a:solidFill>
              <a:srgbClr val="0A1628"/>
            </a:solidFill>
            <a:prstDash val="solid"/>
          </a:ln>
        </p:spPr>
        <p:txBody>
          <a:bodyPr/>
          <a:lstStyle/>
          <a:p>
            <a:endParaRPr lang="en-US"/>
          </a:p>
        </p:txBody>
      </p:sp>
      <p:sp>
        <p:nvSpPr>
          <p:cNvPr id="169" name="Shape 167"/>
          <p:cNvSpPr/>
          <p:nvPr/>
        </p:nvSpPr>
        <p:spPr>
          <a:xfrm>
            <a:off x="3675888" y="2944368"/>
            <a:ext cx="182880" cy="164592"/>
          </a:xfrm>
          <a:prstGeom prst="rect">
            <a:avLst/>
          </a:prstGeom>
          <a:solidFill>
            <a:srgbClr val="EF4444"/>
          </a:solidFill>
          <a:ln w="3810">
            <a:solidFill>
              <a:srgbClr val="0A1628"/>
            </a:solidFill>
            <a:prstDash val="solid"/>
          </a:ln>
        </p:spPr>
        <p:txBody>
          <a:bodyPr/>
          <a:lstStyle/>
          <a:p>
            <a:endParaRPr lang="en-US"/>
          </a:p>
        </p:txBody>
      </p:sp>
      <p:sp>
        <p:nvSpPr>
          <p:cNvPr id="170" name="Shape 168"/>
          <p:cNvSpPr/>
          <p:nvPr/>
        </p:nvSpPr>
        <p:spPr>
          <a:xfrm>
            <a:off x="3877056" y="2944368"/>
            <a:ext cx="182880" cy="164592"/>
          </a:xfrm>
          <a:prstGeom prst="rect">
            <a:avLst/>
          </a:prstGeom>
          <a:solidFill>
            <a:srgbClr val="0F2040"/>
          </a:solidFill>
          <a:ln w="3810">
            <a:solidFill>
              <a:srgbClr val="0A1628"/>
            </a:solidFill>
            <a:prstDash val="solid"/>
          </a:ln>
        </p:spPr>
        <p:txBody>
          <a:bodyPr/>
          <a:lstStyle/>
          <a:p>
            <a:endParaRPr lang="en-US"/>
          </a:p>
        </p:txBody>
      </p:sp>
      <p:sp>
        <p:nvSpPr>
          <p:cNvPr id="171" name="Shape 169"/>
          <p:cNvSpPr/>
          <p:nvPr/>
        </p:nvSpPr>
        <p:spPr>
          <a:xfrm>
            <a:off x="457200"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72" name="Shape 170"/>
          <p:cNvSpPr/>
          <p:nvPr/>
        </p:nvSpPr>
        <p:spPr>
          <a:xfrm>
            <a:off x="658368"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73" name="Shape 171"/>
          <p:cNvSpPr/>
          <p:nvPr/>
        </p:nvSpPr>
        <p:spPr>
          <a:xfrm>
            <a:off x="859536"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74" name="Shape 172"/>
          <p:cNvSpPr/>
          <p:nvPr/>
        </p:nvSpPr>
        <p:spPr>
          <a:xfrm>
            <a:off x="1060704"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75" name="Shape 173"/>
          <p:cNvSpPr/>
          <p:nvPr/>
        </p:nvSpPr>
        <p:spPr>
          <a:xfrm>
            <a:off x="1261872"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76" name="Shape 174"/>
          <p:cNvSpPr/>
          <p:nvPr/>
        </p:nvSpPr>
        <p:spPr>
          <a:xfrm>
            <a:off x="1463040"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77" name="Shape 175"/>
          <p:cNvSpPr/>
          <p:nvPr/>
        </p:nvSpPr>
        <p:spPr>
          <a:xfrm>
            <a:off x="1664208"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78" name="Shape 176"/>
          <p:cNvSpPr/>
          <p:nvPr/>
        </p:nvSpPr>
        <p:spPr>
          <a:xfrm>
            <a:off x="1865376"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79" name="Shape 177"/>
          <p:cNvSpPr/>
          <p:nvPr/>
        </p:nvSpPr>
        <p:spPr>
          <a:xfrm>
            <a:off x="2066544"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0" name="Shape 178"/>
          <p:cNvSpPr/>
          <p:nvPr/>
        </p:nvSpPr>
        <p:spPr>
          <a:xfrm>
            <a:off x="2267712"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81" name="Shape 179"/>
          <p:cNvSpPr/>
          <p:nvPr/>
        </p:nvSpPr>
        <p:spPr>
          <a:xfrm>
            <a:off x="2468880"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2" name="Shape 180"/>
          <p:cNvSpPr/>
          <p:nvPr/>
        </p:nvSpPr>
        <p:spPr>
          <a:xfrm>
            <a:off x="2670048"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3" name="Shape 181"/>
          <p:cNvSpPr/>
          <p:nvPr/>
        </p:nvSpPr>
        <p:spPr>
          <a:xfrm>
            <a:off x="2871216"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4" name="Shape 182"/>
          <p:cNvSpPr/>
          <p:nvPr/>
        </p:nvSpPr>
        <p:spPr>
          <a:xfrm>
            <a:off x="3072384"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85" name="Shape 183"/>
          <p:cNvSpPr/>
          <p:nvPr/>
        </p:nvSpPr>
        <p:spPr>
          <a:xfrm>
            <a:off x="3273552"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6" name="Shape 184"/>
          <p:cNvSpPr/>
          <p:nvPr/>
        </p:nvSpPr>
        <p:spPr>
          <a:xfrm>
            <a:off x="3474720"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7" name="Shape 185"/>
          <p:cNvSpPr/>
          <p:nvPr/>
        </p:nvSpPr>
        <p:spPr>
          <a:xfrm>
            <a:off x="3675888" y="3127248"/>
            <a:ext cx="182880" cy="164592"/>
          </a:xfrm>
          <a:prstGeom prst="rect">
            <a:avLst/>
          </a:prstGeom>
          <a:solidFill>
            <a:srgbClr val="0F2040"/>
          </a:solidFill>
          <a:ln w="3810">
            <a:solidFill>
              <a:srgbClr val="0A1628"/>
            </a:solidFill>
            <a:prstDash val="solid"/>
          </a:ln>
        </p:spPr>
        <p:txBody>
          <a:bodyPr/>
          <a:lstStyle/>
          <a:p>
            <a:endParaRPr lang="en-US"/>
          </a:p>
        </p:txBody>
      </p:sp>
      <p:sp>
        <p:nvSpPr>
          <p:cNvPr id="188" name="Shape 186"/>
          <p:cNvSpPr/>
          <p:nvPr/>
        </p:nvSpPr>
        <p:spPr>
          <a:xfrm>
            <a:off x="3877056" y="3127248"/>
            <a:ext cx="182880" cy="164592"/>
          </a:xfrm>
          <a:prstGeom prst="rect">
            <a:avLst/>
          </a:prstGeom>
          <a:solidFill>
            <a:srgbClr val="8B5CF6"/>
          </a:solidFill>
          <a:ln w="3810">
            <a:solidFill>
              <a:srgbClr val="0A1628"/>
            </a:solidFill>
            <a:prstDash val="solid"/>
          </a:ln>
        </p:spPr>
        <p:txBody>
          <a:bodyPr/>
          <a:lstStyle/>
          <a:p>
            <a:endParaRPr lang="en-US"/>
          </a:p>
        </p:txBody>
      </p:sp>
      <p:sp>
        <p:nvSpPr>
          <p:cNvPr id="189" name="Shape 187"/>
          <p:cNvSpPr/>
          <p:nvPr/>
        </p:nvSpPr>
        <p:spPr>
          <a:xfrm>
            <a:off x="457200"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0" name="Shape 188"/>
          <p:cNvSpPr/>
          <p:nvPr/>
        </p:nvSpPr>
        <p:spPr>
          <a:xfrm>
            <a:off x="658368"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1" name="Shape 189"/>
          <p:cNvSpPr/>
          <p:nvPr/>
        </p:nvSpPr>
        <p:spPr>
          <a:xfrm>
            <a:off x="859536"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2" name="Shape 190"/>
          <p:cNvSpPr/>
          <p:nvPr/>
        </p:nvSpPr>
        <p:spPr>
          <a:xfrm>
            <a:off x="1060704" y="3310128"/>
            <a:ext cx="182880" cy="164592"/>
          </a:xfrm>
          <a:prstGeom prst="rect">
            <a:avLst/>
          </a:prstGeom>
          <a:solidFill>
            <a:srgbClr val="8B5CF6"/>
          </a:solidFill>
          <a:ln w="3810">
            <a:solidFill>
              <a:srgbClr val="0A1628"/>
            </a:solidFill>
            <a:prstDash val="solid"/>
          </a:ln>
        </p:spPr>
        <p:txBody>
          <a:bodyPr/>
          <a:lstStyle/>
          <a:p>
            <a:endParaRPr lang="en-US"/>
          </a:p>
        </p:txBody>
      </p:sp>
      <p:sp>
        <p:nvSpPr>
          <p:cNvPr id="193" name="Shape 191"/>
          <p:cNvSpPr/>
          <p:nvPr/>
        </p:nvSpPr>
        <p:spPr>
          <a:xfrm>
            <a:off x="1261872" y="3310128"/>
            <a:ext cx="182880" cy="164592"/>
          </a:xfrm>
          <a:prstGeom prst="rect">
            <a:avLst/>
          </a:prstGeom>
          <a:solidFill>
            <a:srgbClr val="D97706"/>
          </a:solidFill>
          <a:ln w="3810">
            <a:solidFill>
              <a:srgbClr val="0A1628"/>
            </a:solidFill>
            <a:prstDash val="solid"/>
          </a:ln>
        </p:spPr>
        <p:txBody>
          <a:bodyPr/>
          <a:lstStyle/>
          <a:p>
            <a:endParaRPr lang="en-US"/>
          </a:p>
        </p:txBody>
      </p:sp>
      <p:sp>
        <p:nvSpPr>
          <p:cNvPr id="194" name="Shape 192"/>
          <p:cNvSpPr/>
          <p:nvPr/>
        </p:nvSpPr>
        <p:spPr>
          <a:xfrm>
            <a:off x="1463040"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5" name="Shape 193"/>
          <p:cNvSpPr/>
          <p:nvPr/>
        </p:nvSpPr>
        <p:spPr>
          <a:xfrm>
            <a:off x="1664208"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6" name="Shape 194"/>
          <p:cNvSpPr/>
          <p:nvPr/>
        </p:nvSpPr>
        <p:spPr>
          <a:xfrm>
            <a:off x="1865376"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197" name="Shape 195"/>
          <p:cNvSpPr/>
          <p:nvPr/>
        </p:nvSpPr>
        <p:spPr>
          <a:xfrm>
            <a:off x="2066544" y="3310128"/>
            <a:ext cx="182880" cy="164592"/>
          </a:xfrm>
          <a:prstGeom prst="rect">
            <a:avLst/>
          </a:prstGeom>
          <a:solidFill>
            <a:srgbClr val="8B5CF6"/>
          </a:solidFill>
          <a:ln w="3810">
            <a:solidFill>
              <a:srgbClr val="0A1628"/>
            </a:solidFill>
            <a:prstDash val="solid"/>
          </a:ln>
        </p:spPr>
        <p:txBody>
          <a:bodyPr/>
          <a:lstStyle/>
          <a:p>
            <a:endParaRPr lang="en-US"/>
          </a:p>
        </p:txBody>
      </p:sp>
      <p:sp>
        <p:nvSpPr>
          <p:cNvPr id="199" name="Shape 197"/>
          <p:cNvSpPr/>
          <p:nvPr/>
        </p:nvSpPr>
        <p:spPr>
          <a:xfrm>
            <a:off x="2468880" y="3310128"/>
            <a:ext cx="182880" cy="164592"/>
          </a:xfrm>
          <a:prstGeom prst="rect">
            <a:avLst/>
          </a:prstGeom>
          <a:solidFill>
            <a:srgbClr val="EF4444"/>
          </a:solidFill>
          <a:ln w="3810">
            <a:solidFill>
              <a:srgbClr val="0A1628"/>
            </a:solidFill>
            <a:prstDash val="solid"/>
          </a:ln>
        </p:spPr>
        <p:txBody>
          <a:bodyPr/>
          <a:lstStyle/>
          <a:p>
            <a:endParaRPr lang="en-US"/>
          </a:p>
        </p:txBody>
      </p:sp>
      <p:sp>
        <p:nvSpPr>
          <p:cNvPr id="200" name="Shape 198"/>
          <p:cNvSpPr/>
          <p:nvPr/>
        </p:nvSpPr>
        <p:spPr>
          <a:xfrm>
            <a:off x="2670048"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201" name="Shape 199"/>
          <p:cNvSpPr/>
          <p:nvPr/>
        </p:nvSpPr>
        <p:spPr>
          <a:xfrm>
            <a:off x="2871216"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202" name="Shape 200"/>
          <p:cNvSpPr/>
          <p:nvPr/>
        </p:nvSpPr>
        <p:spPr>
          <a:xfrm>
            <a:off x="3072384"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203" name="Shape 201"/>
          <p:cNvSpPr/>
          <p:nvPr/>
        </p:nvSpPr>
        <p:spPr>
          <a:xfrm>
            <a:off x="3273552" y="3310128"/>
            <a:ext cx="182880" cy="164592"/>
          </a:xfrm>
          <a:prstGeom prst="rect">
            <a:avLst/>
          </a:prstGeom>
          <a:solidFill>
            <a:srgbClr val="8B5CF6"/>
          </a:solidFill>
          <a:ln w="3810">
            <a:solidFill>
              <a:srgbClr val="0A1628"/>
            </a:solidFill>
            <a:prstDash val="solid"/>
          </a:ln>
        </p:spPr>
        <p:txBody>
          <a:bodyPr/>
          <a:lstStyle/>
          <a:p>
            <a:endParaRPr lang="en-US"/>
          </a:p>
        </p:txBody>
      </p:sp>
      <p:sp>
        <p:nvSpPr>
          <p:cNvPr id="204" name="Shape 202"/>
          <p:cNvSpPr/>
          <p:nvPr/>
        </p:nvSpPr>
        <p:spPr>
          <a:xfrm>
            <a:off x="3474720" y="3310128"/>
            <a:ext cx="182880" cy="164592"/>
          </a:xfrm>
          <a:prstGeom prst="rect">
            <a:avLst/>
          </a:prstGeom>
          <a:solidFill>
            <a:srgbClr val="8B5CF6"/>
          </a:solidFill>
          <a:ln w="3810">
            <a:solidFill>
              <a:srgbClr val="0A1628"/>
            </a:solidFill>
            <a:prstDash val="solid"/>
          </a:ln>
        </p:spPr>
        <p:txBody>
          <a:bodyPr/>
          <a:lstStyle/>
          <a:p>
            <a:endParaRPr lang="en-US"/>
          </a:p>
        </p:txBody>
      </p:sp>
      <p:sp>
        <p:nvSpPr>
          <p:cNvPr id="205" name="Shape 203"/>
          <p:cNvSpPr/>
          <p:nvPr/>
        </p:nvSpPr>
        <p:spPr>
          <a:xfrm>
            <a:off x="3675888"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206" name="Shape 204"/>
          <p:cNvSpPr/>
          <p:nvPr/>
        </p:nvSpPr>
        <p:spPr>
          <a:xfrm>
            <a:off x="3877056"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207" name="Shape 205"/>
          <p:cNvSpPr/>
          <p:nvPr/>
        </p:nvSpPr>
        <p:spPr>
          <a:xfrm>
            <a:off x="457200" y="3493008"/>
            <a:ext cx="182880" cy="164592"/>
          </a:xfrm>
          <a:prstGeom prst="rect">
            <a:avLst/>
          </a:prstGeom>
          <a:solidFill>
            <a:srgbClr val="D97706"/>
          </a:solidFill>
          <a:ln w="3810">
            <a:solidFill>
              <a:srgbClr val="0A1628"/>
            </a:solidFill>
            <a:prstDash val="solid"/>
          </a:ln>
        </p:spPr>
        <p:txBody>
          <a:bodyPr/>
          <a:lstStyle/>
          <a:p>
            <a:endParaRPr lang="en-US"/>
          </a:p>
        </p:txBody>
      </p:sp>
      <p:sp>
        <p:nvSpPr>
          <p:cNvPr id="208" name="Shape 206"/>
          <p:cNvSpPr/>
          <p:nvPr/>
        </p:nvSpPr>
        <p:spPr>
          <a:xfrm>
            <a:off x="658368"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09" name="Shape 207"/>
          <p:cNvSpPr/>
          <p:nvPr/>
        </p:nvSpPr>
        <p:spPr>
          <a:xfrm>
            <a:off x="859536"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0" name="Shape 208"/>
          <p:cNvSpPr/>
          <p:nvPr/>
        </p:nvSpPr>
        <p:spPr>
          <a:xfrm>
            <a:off x="1060704"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1" name="Shape 209"/>
          <p:cNvSpPr/>
          <p:nvPr/>
        </p:nvSpPr>
        <p:spPr>
          <a:xfrm>
            <a:off x="1261872"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2" name="Shape 210"/>
          <p:cNvSpPr/>
          <p:nvPr/>
        </p:nvSpPr>
        <p:spPr>
          <a:xfrm>
            <a:off x="1463040"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3" name="Shape 211"/>
          <p:cNvSpPr/>
          <p:nvPr/>
        </p:nvSpPr>
        <p:spPr>
          <a:xfrm>
            <a:off x="1664208"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4" name="Shape 212"/>
          <p:cNvSpPr/>
          <p:nvPr/>
        </p:nvSpPr>
        <p:spPr>
          <a:xfrm>
            <a:off x="1865376"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5" name="Shape 213"/>
          <p:cNvSpPr/>
          <p:nvPr/>
        </p:nvSpPr>
        <p:spPr>
          <a:xfrm>
            <a:off x="2066544" y="3493008"/>
            <a:ext cx="182880" cy="164592"/>
          </a:xfrm>
          <a:prstGeom prst="rect">
            <a:avLst/>
          </a:prstGeom>
          <a:solidFill>
            <a:srgbClr val="8B5CF6"/>
          </a:solidFill>
          <a:ln w="3810">
            <a:solidFill>
              <a:srgbClr val="0A1628"/>
            </a:solidFill>
            <a:prstDash val="solid"/>
          </a:ln>
        </p:spPr>
        <p:txBody>
          <a:bodyPr/>
          <a:lstStyle/>
          <a:p>
            <a:endParaRPr lang="en-US"/>
          </a:p>
        </p:txBody>
      </p:sp>
      <p:sp>
        <p:nvSpPr>
          <p:cNvPr id="216" name="Shape 214"/>
          <p:cNvSpPr/>
          <p:nvPr/>
        </p:nvSpPr>
        <p:spPr>
          <a:xfrm>
            <a:off x="2267712" y="3493008"/>
            <a:ext cx="182880" cy="164592"/>
          </a:xfrm>
          <a:prstGeom prst="rect">
            <a:avLst/>
          </a:prstGeom>
          <a:solidFill>
            <a:srgbClr val="8B5CF6"/>
          </a:solidFill>
          <a:ln w="3810">
            <a:solidFill>
              <a:srgbClr val="0A1628"/>
            </a:solidFill>
            <a:prstDash val="solid"/>
          </a:ln>
        </p:spPr>
        <p:txBody>
          <a:bodyPr/>
          <a:lstStyle/>
          <a:p>
            <a:endParaRPr lang="en-US"/>
          </a:p>
        </p:txBody>
      </p:sp>
      <p:sp>
        <p:nvSpPr>
          <p:cNvPr id="217" name="Shape 215"/>
          <p:cNvSpPr/>
          <p:nvPr/>
        </p:nvSpPr>
        <p:spPr>
          <a:xfrm>
            <a:off x="2468880" y="3493008"/>
            <a:ext cx="182880" cy="164592"/>
          </a:xfrm>
          <a:prstGeom prst="rect">
            <a:avLst/>
          </a:prstGeom>
          <a:solidFill>
            <a:srgbClr val="D97706"/>
          </a:solidFill>
          <a:ln w="3810">
            <a:solidFill>
              <a:srgbClr val="0A1628"/>
            </a:solidFill>
            <a:prstDash val="solid"/>
          </a:ln>
        </p:spPr>
        <p:txBody>
          <a:bodyPr/>
          <a:lstStyle/>
          <a:p>
            <a:endParaRPr lang="en-US"/>
          </a:p>
        </p:txBody>
      </p:sp>
      <p:sp>
        <p:nvSpPr>
          <p:cNvPr id="218" name="Shape 216"/>
          <p:cNvSpPr/>
          <p:nvPr/>
        </p:nvSpPr>
        <p:spPr>
          <a:xfrm>
            <a:off x="2670048"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19" name="Shape 217"/>
          <p:cNvSpPr/>
          <p:nvPr/>
        </p:nvSpPr>
        <p:spPr>
          <a:xfrm>
            <a:off x="2871216"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0" name="Shape 218"/>
          <p:cNvSpPr/>
          <p:nvPr/>
        </p:nvSpPr>
        <p:spPr>
          <a:xfrm>
            <a:off x="3072384"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1" name="Shape 219"/>
          <p:cNvSpPr/>
          <p:nvPr/>
        </p:nvSpPr>
        <p:spPr>
          <a:xfrm>
            <a:off x="3273552"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2" name="Shape 220"/>
          <p:cNvSpPr/>
          <p:nvPr/>
        </p:nvSpPr>
        <p:spPr>
          <a:xfrm>
            <a:off x="3474720"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3" name="Shape 221"/>
          <p:cNvSpPr/>
          <p:nvPr/>
        </p:nvSpPr>
        <p:spPr>
          <a:xfrm>
            <a:off x="3675888"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4" name="Shape 222"/>
          <p:cNvSpPr/>
          <p:nvPr/>
        </p:nvSpPr>
        <p:spPr>
          <a:xfrm>
            <a:off x="3877056" y="3493008"/>
            <a:ext cx="182880" cy="164592"/>
          </a:xfrm>
          <a:prstGeom prst="rect">
            <a:avLst/>
          </a:prstGeom>
          <a:solidFill>
            <a:srgbClr val="0F2040"/>
          </a:solidFill>
          <a:ln w="3810">
            <a:solidFill>
              <a:srgbClr val="0A1628"/>
            </a:solidFill>
            <a:prstDash val="solid"/>
          </a:ln>
        </p:spPr>
        <p:txBody>
          <a:bodyPr/>
          <a:lstStyle/>
          <a:p>
            <a:endParaRPr lang="en-US"/>
          </a:p>
        </p:txBody>
      </p:sp>
      <p:sp>
        <p:nvSpPr>
          <p:cNvPr id="225" name="Shape 223"/>
          <p:cNvSpPr/>
          <p:nvPr/>
        </p:nvSpPr>
        <p:spPr>
          <a:xfrm>
            <a:off x="457200"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26" name="Shape 224"/>
          <p:cNvSpPr/>
          <p:nvPr/>
        </p:nvSpPr>
        <p:spPr>
          <a:xfrm>
            <a:off x="658368"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27" name="Shape 225"/>
          <p:cNvSpPr/>
          <p:nvPr/>
        </p:nvSpPr>
        <p:spPr>
          <a:xfrm>
            <a:off x="859536"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28" name="Shape 226"/>
          <p:cNvSpPr/>
          <p:nvPr/>
        </p:nvSpPr>
        <p:spPr>
          <a:xfrm>
            <a:off x="1060704"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29" name="Shape 227"/>
          <p:cNvSpPr/>
          <p:nvPr/>
        </p:nvSpPr>
        <p:spPr>
          <a:xfrm>
            <a:off x="1261872"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0" name="Shape 228"/>
          <p:cNvSpPr/>
          <p:nvPr/>
        </p:nvSpPr>
        <p:spPr>
          <a:xfrm>
            <a:off x="1463040"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1" name="Shape 229"/>
          <p:cNvSpPr/>
          <p:nvPr/>
        </p:nvSpPr>
        <p:spPr>
          <a:xfrm>
            <a:off x="1664208"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3" name="Shape 231"/>
          <p:cNvSpPr/>
          <p:nvPr/>
        </p:nvSpPr>
        <p:spPr>
          <a:xfrm>
            <a:off x="2066544"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5" name="Shape 233"/>
          <p:cNvSpPr/>
          <p:nvPr/>
        </p:nvSpPr>
        <p:spPr>
          <a:xfrm>
            <a:off x="2468880"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6" name="Shape 234"/>
          <p:cNvSpPr/>
          <p:nvPr/>
        </p:nvSpPr>
        <p:spPr>
          <a:xfrm>
            <a:off x="2670048"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7" name="Shape 235"/>
          <p:cNvSpPr/>
          <p:nvPr/>
        </p:nvSpPr>
        <p:spPr>
          <a:xfrm>
            <a:off x="2871216" y="3675888"/>
            <a:ext cx="182880" cy="164592"/>
          </a:xfrm>
          <a:prstGeom prst="rect">
            <a:avLst/>
          </a:prstGeom>
          <a:solidFill>
            <a:srgbClr val="8B5CF6"/>
          </a:solidFill>
          <a:ln w="3810">
            <a:solidFill>
              <a:srgbClr val="0A1628"/>
            </a:solidFill>
            <a:prstDash val="solid"/>
          </a:ln>
        </p:spPr>
        <p:txBody>
          <a:bodyPr/>
          <a:lstStyle/>
          <a:p>
            <a:endParaRPr lang="en-US"/>
          </a:p>
        </p:txBody>
      </p:sp>
      <p:sp>
        <p:nvSpPr>
          <p:cNvPr id="238" name="Shape 236"/>
          <p:cNvSpPr/>
          <p:nvPr/>
        </p:nvSpPr>
        <p:spPr>
          <a:xfrm>
            <a:off x="3072384" y="3675888"/>
            <a:ext cx="182880" cy="164592"/>
          </a:xfrm>
          <a:prstGeom prst="rect">
            <a:avLst/>
          </a:prstGeom>
          <a:solidFill>
            <a:srgbClr val="D97706"/>
          </a:solidFill>
          <a:ln w="3810">
            <a:solidFill>
              <a:srgbClr val="0A1628"/>
            </a:solidFill>
            <a:prstDash val="solid"/>
          </a:ln>
        </p:spPr>
        <p:txBody>
          <a:bodyPr/>
          <a:lstStyle/>
          <a:p>
            <a:endParaRPr lang="en-US"/>
          </a:p>
        </p:txBody>
      </p:sp>
      <p:sp>
        <p:nvSpPr>
          <p:cNvPr id="239" name="Shape 237"/>
          <p:cNvSpPr/>
          <p:nvPr/>
        </p:nvSpPr>
        <p:spPr>
          <a:xfrm>
            <a:off x="3273552" y="3675888"/>
            <a:ext cx="182880" cy="164592"/>
          </a:xfrm>
          <a:prstGeom prst="rect">
            <a:avLst/>
          </a:prstGeom>
          <a:solidFill>
            <a:srgbClr val="D97706"/>
          </a:solidFill>
          <a:ln w="3810">
            <a:solidFill>
              <a:srgbClr val="0A1628"/>
            </a:solidFill>
            <a:prstDash val="solid"/>
          </a:ln>
        </p:spPr>
        <p:txBody>
          <a:bodyPr/>
          <a:lstStyle/>
          <a:p>
            <a:endParaRPr lang="en-US"/>
          </a:p>
        </p:txBody>
      </p:sp>
      <p:sp>
        <p:nvSpPr>
          <p:cNvPr id="240" name="Shape 238"/>
          <p:cNvSpPr/>
          <p:nvPr/>
        </p:nvSpPr>
        <p:spPr>
          <a:xfrm>
            <a:off x="3474720"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41" name="Shape 239"/>
          <p:cNvSpPr/>
          <p:nvPr/>
        </p:nvSpPr>
        <p:spPr>
          <a:xfrm>
            <a:off x="3675888"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42" name="Shape 240"/>
          <p:cNvSpPr/>
          <p:nvPr/>
        </p:nvSpPr>
        <p:spPr>
          <a:xfrm>
            <a:off x="3877056"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243" name="Shape 241"/>
          <p:cNvSpPr/>
          <p:nvPr/>
        </p:nvSpPr>
        <p:spPr>
          <a:xfrm>
            <a:off x="457200"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44" name="Shape 242"/>
          <p:cNvSpPr/>
          <p:nvPr/>
        </p:nvSpPr>
        <p:spPr>
          <a:xfrm>
            <a:off x="658368"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45" name="Shape 243"/>
          <p:cNvSpPr/>
          <p:nvPr/>
        </p:nvSpPr>
        <p:spPr>
          <a:xfrm>
            <a:off x="859536"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46" name="Shape 244"/>
          <p:cNvSpPr/>
          <p:nvPr/>
        </p:nvSpPr>
        <p:spPr>
          <a:xfrm>
            <a:off x="1060704"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47" name="Shape 245"/>
          <p:cNvSpPr/>
          <p:nvPr/>
        </p:nvSpPr>
        <p:spPr>
          <a:xfrm>
            <a:off x="1261872"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48" name="Shape 246"/>
          <p:cNvSpPr/>
          <p:nvPr/>
        </p:nvSpPr>
        <p:spPr>
          <a:xfrm>
            <a:off x="1463040" y="3858768"/>
            <a:ext cx="182880" cy="164592"/>
          </a:xfrm>
          <a:prstGeom prst="rect">
            <a:avLst/>
          </a:prstGeom>
          <a:solidFill>
            <a:srgbClr val="D97706"/>
          </a:solidFill>
          <a:ln w="3810">
            <a:solidFill>
              <a:srgbClr val="0A1628"/>
            </a:solidFill>
            <a:prstDash val="solid"/>
          </a:ln>
        </p:spPr>
        <p:txBody>
          <a:bodyPr/>
          <a:lstStyle/>
          <a:p>
            <a:endParaRPr lang="en-US"/>
          </a:p>
        </p:txBody>
      </p:sp>
      <p:sp>
        <p:nvSpPr>
          <p:cNvPr id="249" name="Shape 247"/>
          <p:cNvSpPr/>
          <p:nvPr/>
        </p:nvSpPr>
        <p:spPr>
          <a:xfrm>
            <a:off x="1664208" y="3858768"/>
            <a:ext cx="182880" cy="164592"/>
          </a:xfrm>
          <a:prstGeom prst="rect">
            <a:avLst/>
          </a:prstGeom>
          <a:solidFill>
            <a:srgbClr val="D97706"/>
          </a:solidFill>
          <a:ln w="3810">
            <a:solidFill>
              <a:srgbClr val="0A1628"/>
            </a:solidFill>
            <a:prstDash val="solid"/>
          </a:ln>
        </p:spPr>
        <p:txBody>
          <a:bodyPr/>
          <a:lstStyle/>
          <a:p>
            <a:endParaRPr lang="en-US"/>
          </a:p>
        </p:txBody>
      </p:sp>
      <p:sp>
        <p:nvSpPr>
          <p:cNvPr id="250" name="Shape 248"/>
          <p:cNvSpPr/>
          <p:nvPr/>
        </p:nvSpPr>
        <p:spPr>
          <a:xfrm>
            <a:off x="1865376" y="3858768"/>
            <a:ext cx="182880" cy="164592"/>
          </a:xfrm>
          <a:prstGeom prst="rect">
            <a:avLst/>
          </a:prstGeom>
          <a:solidFill>
            <a:srgbClr val="8B5CF6"/>
          </a:solidFill>
          <a:ln w="3810">
            <a:solidFill>
              <a:srgbClr val="0A1628"/>
            </a:solidFill>
            <a:prstDash val="solid"/>
          </a:ln>
        </p:spPr>
        <p:txBody>
          <a:bodyPr/>
          <a:lstStyle/>
          <a:p>
            <a:endParaRPr lang="en-US"/>
          </a:p>
        </p:txBody>
      </p:sp>
      <p:sp>
        <p:nvSpPr>
          <p:cNvPr id="251" name="Shape 249"/>
          <p:cNvSpPr/>
          <p:nvPr/>
        </p:nvSpPr>
        <p:spPr>
          <a:xfrm>
            <a:off x="2066544" y="3858768"/>
            <a:ext cx="182880" cy="164592"/>
          </a:xfrm>
          <a:prstGeom prst="rect">
            <a:avLst/>
          </a:prstGeom>
          <a:solidFill>
            <a:srgbClr val="8B5CF6"/>
          </a:solidFill>
          <a:ln w="3810">
            <a:solidFill>
              <a:srgbClr val="0A1628"/>
            </a:solidFill>
            <a:prstDash val="solid"/>
          </a:ln>
        </p:spPr>
        <p:txBody>
          <a:bodyPr/>
          <a:lstStyle/>
          <a:p>
            <a:endParaRPr lang="en-US"/>
          </a:p>
        </p:txBody>
      </p:sp>
      <p:sp>
        <p:nvSpPr>
          <p:cNvPr id="253" name="Shape 251"/>
          <p:cNvSpPr/>
          <p:nvPr/>
        </p:nvSpPr>
        <p:spPr>
          <a:xfrm>
            <a:off x="2468880" y="3858768"/>
            <a:ext cx="182880" cy="164592"/>
          </a:xfrm>
          <a:prstGeom prst="rect">
            <a:avLst/>
          </a:prstGeom>
          <a:solidFill>
            <a:srgbClr val="8B5CF6"/>
          </a:solidFill>
          <a:ln w="3810">
            <a:solidFill>
              <a:srgbClr val="0A1628"/>
            </a:solidFill>
            <a:prstDash val="solid"/>
          </a:ln>
        </p:spPr>
        <p:txBody>
          <a:bodyPr/>
          <a:lstStyle/>
          <a:p>
            <a:endParaRPr lang="en-US"/>
          </a:p>
        </p:txBody>
      </p:sp>
      <p:sp>
        <p:nvSpPr>
          <p:cNvPr id="254" name="Shape 252"/>
          <p:cNvSpPr/>
          <p:nvPr/>
        </p:nvSpPr>
        <p:spPr>
          <a:xfrm>
            <a:off x="2670048" y="3858768"/>
            <a:ext cx="182880" cy="164592"/>
          </a:xfrm>
          <a:prstGeom prst="rect">
            <a:avLst/>
          </a:prstGeom>
          <a:solidFill>
            <a:srgbClr val="8B5CF6"/>
          </a:solidFill>
          <a:ln w="3810">
            <a:solidFill>
              <a:srgbClr val="0A1628"/>
            </a:solidFill>
            <a:prstDash val="solid"/>
          </a:ln>
        </p:spPr>
        <p:txBody>
          <a:bodyPr/>
          <a:lstStyle/>
          <a:p>
            <a:endParaRPr lang="en-US"/>
          </a:p>
        </p:txBody>
      </p:sp>
      <p:sp>
        <p:nvSpPr>
          <p:cNvPr id="256" name="Shape 254"/>
          <p:cNvSpPr/>
          <p:nvPr/>
        </p:nvSpPr>
        <p:spPr>
          <a:xfrm>
            <a:off x="3072384" y="3858768"/>
            <a:ext cx="182880" cy="164592"/>
          </a:xfrm>
          <a:prstGeom prst="rect">
            <a:avLst/>
          </a:prstGeom>
          <a:solidFill>
            <a:srgbClr val="8B5CF6"/>
          </a:solidFill>
          <a:ln w="3810">
            <a:solidFill>
              <a:srgbClr val="0A1628"/>
            </a:solidFill>
            <a:prstDash val="solid"/>
          </a:ln>
        </p:spPr>
        <p:txBody>
          <a:bodyPr/>
          <a:lstStyle/>
          <a:p>
            <a:endParaRPr lang="en-US"/>
          </a:p>
        </p:txBody>
      </p:sp>
      <p:sp>
        <p:nvSpPr>
          <p:cNvPr id="257" name="Shape 255"/>
          <p:cNvSpPr/>
          <p:nvPr/>
        </p:nvSpPr>
        <p:spPr>
          <a:xfrm>
            <a:off x="3273552"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58" name="Shape 256"/>
          <p:cNvSpPr/>
          <p:nvPr/>
        </p:nvSpPr>
        <p:spPr>
          <a:xfrm>
            <a:off x="3474720"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59" name="Shape 257"/>
          <p:cNvSpPr/>
          <p:nvPr/>
        </p:nvSpPr>
        <p:spPr>
          <a:xfrm>
            <a:off x="3675888"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60" name="Shape 258"/>
          <p:cNvSpPr/>
          <p:nvPr/>
        </p:nvSpPr>
        <p:spPr>
          <a:xfrm>
            <a:off x="3877056" y="3858768"/>
            <a:ext cx="182880" cy="164592"/>
          </a:xfrm>
          <a:prstGeom prst="rect">
            <a:avLst/>
          </a:prstGeom>
          <a:solidFill>
            <a:srgbClr val="0F2040"/>
          </a:solidFill>
          <a:ln w="3810">
            <a:solidFill>
              <a:srgbClr val="0A1628"/>
            </a:solidFill>
            <a:prstDash val="solid"/>
          </a:ln>
        </p:spPr>
        <p:txBody>
          <a:bodyPr/>
          <a:lstStyle/>
          <a:p>
            <a:endParaRPr lang="en-US"/>
          </a:p>
        </p:txBody>
      </p:sp>
      <p:sp>
        <p:nvSpPr>
          <p:cNvPr id="261" name="Shape 259"/>
          <p:cNvSpPr/>
          <p:nvPr/>
        </p:nvSpPr>
        <p:spPr>
          <a:xfrm>
            <a:off x="457200" y="4251960"/>
            <a:ext cx="201168" cy="164592"/>
          </a:xfrm>
          <a:prstGeom prst="rect">
            <a:avLst/>
          </a:prstGeom>
          <a:solidFill>
            <a:srgbClr val="0F2040"/>
          </a:solidFill>
          <a:ln w="12700">
            <a:solidFill>
              <a:srgbClr val="0F2040"/>
            </a:solidFill>
            <a:prstDash val="solid"/>
          </a:ln>
        </p:spPr>
        <p:txBody>
          <a:bodyPr/>
          <a:lstStyle/>
          <a:p>
            <a:endParaRPr lang="en-US"/>
          </a:p>
        </p:txBody>
      </p:sp>
      <p:sp>
        <p:nvSpPr>
          <p:cNvPr id="262" name="Text 260"/>
          <p:cNvSpPr/>
          <p:nvPr/>
        </p:nvSpPr>
        <p:spPr>
          <a:xfrm>
            <a:off x="731520" y="4251960"/>
            <a:ext cx="3657600" cy="164592"/>
          </a:xfrm>
          <a:prstGeom prst="rect">
            <a:avLst/>
          </a:prstGeom>
          <a:noFill/>
        </p:spPr>
        <p:txBody>
          <a:bodyPr wrap="square" lIns="0" tIns="0" rIns="0" bIns="0" rtlCol="0" anchor="ctr"/>
          <a:lstStyle/>
          <a:p>
            <a:pPr marL="0" indent="0">
              <a:buNone/>
            </a:pPr>
            <a:r>
              <a:rPr lang="en-US" sz="950" dirty="0">
                <a:solidFill>
                  <a:srgbClr val="E2E8F0"/>
                </a:solidFill>
              </a:rPr>
              <a:t>No vulnerability</a:t>
            </a:r>
            <a:endParaRPr lang="en-US" sz="950" dirty="0"/>
          </a:p>
        </p:txBody>
      </p:sp>
      <p:sp>
        <p:nvSpPr>
          <p:cNvPr id="263" name="Shape 261"/>
          <p:cNvSpPr/>
          <p:nvPr/>
        </p:nvSpPr>
        <p:spPr>
          <a:xfrm>
            <a:off x="457200" y="4462272"/>
            <a:ext cx="201168" cy="164592"/>
          </a:xfrm>
          <a:prstGeom prst="rect">
            <a:avLst/>
          </a:prstGeom>
          <a:solidFill>
            <a:srgbClr val="D97706"/>
          </a:solidFill>
          <a:ln w="12700">
            <a:solidFill>
              <a:srgbClr val="D97706"/>
            </a:solidFill>
            <a:prstDash val="solid"/>
          </a:ln>
        </p:spPr>
        <p:txBody>
          <a:bodyPr/>
          <a:lstStyle/>
          <a:p>
            <a:endParaRPr lang="en-US"/>
          </a:p>
        </p:txBody>
      </p:sp>
      <p:sp>
        <p:nvSpPr>
          <p:cNvPr id="264" name="Text 262"/>
          <p:cNvSpPr/>
          <p:nvPr/>
        </p:nvSpPr>
        <p:spPr>
          <a:xfrm>
            <a:off x="731520" y="4462272"/>
            <a:ext cx="3657600" cy="164592"/>
          </a:xfrm>
          <a:prstGeom prst="rect">
            <a:avLst/>
          </a:prstGeom>
          <a:noFill/>
        </p:spPr>
        <p:txBody>
          <a:bodyPr wrap="square" lIns="0" tIns="0" rIns="0" bIns="0" rtlCol="0" anchor="ctr"/>
          <a:lstStyle/>
          <a:p>
            <a:pPr marL="0" indent="0">
              <a:buNone/>
            </a:pPr>
            <a:r>
              <a:rPr lang="en-US" sz="950" dirty="0">
                <a:solidFill>
                  <a:srgbClr val="E2E8F0"/>
                </a:solidFill>
              </a:rPr>
              <a:t>RowHammer only  (C_RH)</a:t>
            </a:r>
            <a:endParaRPr lang="en-US" sz="950" dirty="0"/>
          </a:p>
        </p:txBody>
      </p:sp>
      <p:sp>
        <p:nvSpPr>
          <p:cNvPr id="265" name="Shape 263"/>
          <p:cNvSpPr/>
          <p:nvPr/>
        </p:nvSpPr>
        <p:spPr>
          <a:xfrm>
            <a:off x="457200" y="4672584"/>
            <a:ext cx="201168" cy="164592"/>
          </a:xfrm>
          <a:prstGeom prst="rect">
            <a:avLst/>
          </a:prstGeom>
          <a:solidFill>
            <a:srgbClr val="8B5CF6"/>
          </a:solidFill>
          <a:ln w="12700">
            <a:solidFill>
              <a:srgbClr val="8B5CF6"/>
            </a:solidFill>
            <a:prstDash val="solid"/>
          </a:ln>
        </p:spPr>
        <p:txBody>
          <a:bodyPr/>
          <a:lstStyle/>
          <a:p>
            <a:endParaRPr lang="en-US"/>
          </a:p>
        </p:txBody>
      </p:sp>
      <p:sp>
        <p:nvSpPr>
          <p:cNvPr id="266" name="Text 264"/>
          <p:cNvSpPr/>
          <p:nvPr/>
        </p:nvSpPr>
        <p:spPr>
          <a:xfrm>
            <a:off x="731520" y="4672584"/>
            <a:ext cx="3657600" cy="164592"/>
          </a:xfrm>
          <a:prstGeom prst="rect">
            <a:avLst/>
          </a:prstGeom>
          <a:noFill/>
        </p:spPr>
        <p:txBody>
          <a:bodyPr wrap="square" lIns="0" tIns="0" rIns="0" bIns="0" rtlCol="0" anchor="ctr"/>
          <a:lstStyle/>
          <a:p>
            <a:pPr marL="0" indent="0">
              <a:buNone/>
            </a:pPr>
            <a:r>
              <a:rPr lang="en-US" sz="950" dirty="0">
                <a:solidFill>
                  <a:srgbClr val="E2E8F0"/>
                </a:solidFill>
              </a:rPr>
              <a:t>RowPress only  (C_RP)</a:t>
            </a:r>
            <a:endParaRPr lang="en-US" sz="950" dirty="0"/>
          </a:p>
        </p:txBody>
      </p:sp>
      <p:sp>
        <p:nvSpPr>
          <p:cNvPr id="267" name="Shape 265"/>
          <p:cNvSpPr/>
          <p:nvPr/>
        </p:nvSpPr>
        <p:spPr>
          <a:xfrm>
            <a:off x="457200" y="4882896"/>
            <a:ext cx="201168" cy="164592"/>
          </a:xfrm>
          <a:prstGeom prst="rect">
            <a:avLst/>
          </a:prstGeom>
          <a:solidFill>
            <a:srgbClr val="EF4444"/>
          </a:solidFill>
          <a:ln w="12700">
            <a:solidFill>
              <a:srgbClr val="EF4444"/>
            </a:solidFill>
            <a:prstDash val="solid"/>
          </a:ln>
        </p:spPr>
        <p:txBody>
          <a:bodyPr/>
          <a:lstStyle/>
          <a:p>
            <a:endParaRPr lang="en-US"/>
          </a:p>
        </p:txBody>
      </p:sp>
      <p:sp>
        <p:nvSpPr>
          <p:cNvPr id="268" name="Text 266"/>
          <p:cNvSpPr/>
          <p:nvPr/>
        </p:nvSpPr>
        <p:spPr>
          <a:xfrm>
            <a:off x="731520" y="4882896"/>
            <a:ext cx="3657600" cy="164592"/>
          </a:xfrm>
          <a:prstGeom prst="rect">
            <a:avLst/>
          </a:prstGeom>
          <a:noFill/>
        </p:spPr>
        <p:txBody>
          <a:bodyPr wrap="square" lIns="0" tIns="0" rIns="0" bIns="0" rtlCol="0" anchor="ctr"/>
          <a:lstStyle/>
          <a:p>
            <a:pPr marL="0" indent="0">
              <a:buNone/>
            </a:pPr>
            <a:r>
              <a:rPr lang="en-US" sz="950" dirty="0">
                <a:solidFill>
                  <a:srgbClr val="E2E8F0"/>
                </a:solidFill>
              </a:rPr>
              <a:t>Both RH &amp; RP  (&lt;0.5% overlap)</a:t>
            </a:r>
            <a:endParaRPr lang="en-US" sz="950" dirty="0"/>
          </a:p>
        </p:txBody>
      </p:sp>
      <p:sp>
        <p:nvSpPr>
          <p:cNvPr id="269" name="Shape 267"/>
          <p:cNvSpPr/>
          <p:nvPr/>
        </p:nvSpPr>
        <p:spPr>
          <a:xfrm>
            <a:off x="4800600" y="896112"/>
            <a:ext cx="4023360" cy="3977640"/>
          </a:xfrm>
          <a:prstGeom prst="rect">
            <a:avLst/>
          </a:prstGeom>
          <a:solidFill>
            <a:srgbClr val="162035"/>
          </a:solidFill>
          <a:ln w="1270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270" name="Text 268"/>
          <p:cNvSpPr/>
          <p:nvPr/>
        </p:nvSpPr>
        <p:spPr>
          <a:xfrm>
            <a:off x="4892040" y="960120"/>
            <a:ext cx="3840480" cy="256032"/>
          </a:xfrm>
          <a:prstGeom prst="rect">
            <a:avLst/>
          </a:prstGeom>
          <a:noFill/>
        </p:spPr>
        <p:txBody>
          <a:bodyPr wrap="square" lIns="0" tIns="0" rIns="0" bIns="0" rtlCol="0" anchor="ctr"/>
          <a:lstStyle/>
          <a:p>
            <a:pPr marL="0" indent="0">
              <a:buNone/>
            </a:pPr>
            <a:r>
              <a:rPr lang="en-US" sz="1200" b="1" dirty="0">
                <a:solidFill>
                  <a:srgbClr val="8B5CF6"/>
                </a:solidFill>
              </a:rPr>
              <a:t>Key Profiling Observations</a:t>
            </a:r>
            <a:endParaRPr lang="en-US" sz="1200" dirty="0"/>
          </a:p>
        </p:txBody>
      </p:sp>
      <p:sp>
        <p:nvSpPr>
          <p:cNvPr id="271" name="Shape 269"/>
          <p:cNvSpPr/>
          <p:nvPr/>
        </p:nvSpPr>
        <p:spPr>
          <a:xfrm>
            <a:off x="4892040" y="1325880"/>
            <a:ext cx="3840480" cy="777240"/>
          </a:xfrm>
          <a:prstGeom prst="rect">
            <a:avLst/>
          </a:prstGeom>
          <a:solidFill>
            <a:srgbClr val="1A2A45"/>
          </a:solidFill>
          <a:ln w="12700">
            <a:solidFill>
              <a:srgbClr val="8B5CF6"/>
            </a:solidFill>
            <a:prstDash val="solid"/>
          </a:ln>
        </p:spPr>
        <p:txBody>
          <a:bodyPr/>
          <a:lstStyle/>
          <a:p>
            <a:endParaRPr lang="en-US"/>
          </a:p>
        </p:txBody>
      </p:sp>
      <p:sp>
        <p:nvSpPr>
          <p:cNvPr id="272" name="Shape 270"/>
          <p:cNvSpPr/>
          <p:nvPr/>
        </p:nvSpPr>
        <p:spPr>
          <a:xfrm>
            <a:off x="4892040" y="1325880"/>
            <a:ext cx="64008" cy="777240"/>
          </a:xfrm>
          <a:prstGeom prst="rect">
            <a:avLst/>
          </a:prstGeom>
          <a:solidFill>
            <a:srgbClr val="8B5CF6"/>
          </a:solidFill>
          <a:ln w="12700">
            <a:solidFill>
              <a:srgbClr val="8B5CF6"/>
            </a:solidFill>
            <a:prstDash val="solid"/>
          </a:ln>
        </p:spPr>
        <p:txBody>
          <a:bodyPr/>
          <a:lstStyle/>
          <a:p>
            <a:endParaRPr lang="en-US"/>
          </a:p>
        </p:txBody>
      </p:sp>
      <p:sp>
        <p:nvSpPr>
          <p:cNvPr id="273" name="Shape 271"/>
          <p:cNvSpPr/>
          <p:nvPr/>
        </p:nvSpPr>
        <p:spPr>
          <a:xfrm>
            <a:off x="5010912" y="1399032"/>
            <a:ext cx="228600" cy="228600"/>
          </a:xfrm>
          <a:prstGeom prst="ellipse">
            <a:avLst/>
          </a:prstGeom>
          <a:solidFill>
            <a:srgbClr val="8B5CF6"/>
          </a:solidFill>
          <a:ln w="12700">
            <a:solidFill>
              <a:srgbClr val="8B5CF6"/>
            </a:solidFill>
            <a:prstDash val="solid"/>
          </a:ln>
        </p:spPr>
        <p:txBody>
          <a:bodyPr/>
          <a:lstStyle/>
          <a:p>
            <a:endParaRPr lang="en-US"/>
          </a:p>
        </p:txBody>
      </p:sp>
      <p:sp>
        <p:nvSpPr>
          <p:cNvPr id="274" name="Text 272"/>
          <p:cNvSpPr/>
          <p:nvPr/>
        </p:nvSpPr>
        <p:spPr>
          <a:xfrm>
            <a:off x="5010912" y="1399032"/>
            <a:ext cx="228600" cy="228600"/>
          </a:xfrm>
          <a:prstGeom prst="rect">
            <a:avLst/>
          </a:prstGeom>
          <a:noFill/>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75" name="Text 273"/>
          <p:cNvSpPr/>
          <p:nvPr/>
        </p:nvSpPr>
        <p:spPr>
          <a:xfrm>
            <a:off x="5321808" y="1380744"/>
            <a:ext cx="3337560" cy="237744"/>
          </a:xfrm>
          <a:prstGeom prst="rect">
            <a:avLst/>
          </a:prstGeom>
          <a:noFill/>
        </p:spPr>
        <p:txBody>
          <a:bodyPr wrap="square" lIns="0" tIns="0" rIns="0" bIns="0" rtlCol="0" anchor="ctr"/>
          <a:lstStyle/>
          <a:p>
            <a:pPr marL="0" indent="0">
              <a:buNone/>
            </a:pPr>
            <a:r>
              <a:rPr lang="en-US" sz="1150" b="1" dirty="0">
                <a:solidFill>
                  <a:srgbClr val="8B5CF6"/>
                </a:solidFill>
              </a:rPr>
              <a:t>Distinct bit-cell populations</a:t>
            </a:r>
            <a:endParaRPr lang="en-US" sz="1150" dirty="0"/>
          </a:p>
        </p:txBody>
      </p:sp>
      <p:sp>
        <p:nvSpPr>
          <p:cNvPr id="276" name="Text 274"/>
          <p:cNvSpPr/>
          <p:nvPr/>
        </p:nvSpPr>
        <p:spPr>
          <a:xfrm>
            <a:off x="5321808" y="1636776"/>
            <a:ext cx="3337560" cy="420624"/>
          </a:xfrm>
          <a:prstGeom prst="rect">
            <a:avLst/>
          </a:prstGeom>
          <a:noFill/>
        </p:spPr>
        <p:txBody>
          <a:bodyPr wrap="square" lIns="0" tIns="0" rIns="0" bIns="0" rtlCol="0" anchor="ctr"/>
          <a:lstStyle/>
          <a:p>
            <a:pPr marL="0" indent="0">
              <a:buNone/>
            </a:pPr>
            <a:r>
              <a:rPr lang="en-US" sz="1000" dirty="0">
                <a:solidFill>
                  <a:srgbClr val="E2E8F0"/>
                </a:solidFill>
              </a:rPr>
              <a:t>RowHammer-vulnerable and RowPress-vulnerable cells are almost entirely separate populations in the DRAM array.</a:t>
            </a:r>
            <a:endParaRPr lang="en-US" sz="1000" dirty="0"/>
          </a:p>
        </p:txBody>
      </p:sp>
      <p:sp>
        <p:nvSpPr>
          <p:cNvPr id="277" name="Shape 275"/>
          <p:cNvSpPr/>
          <p:nvPr/>
        </p:nvSpPr>
        <p:spPr>
          <a:xfrm>
            <a:off x="4892040" y="2176272"/>
            <a:ext cx="3840480" cy="777240"/>
          </a:xfrm>
          <a:prstGeom prst="rect">
            <a:avLst/>
          </a:prstGeom>
          <a:solidFill>
            <a:srgbClr val="1A2A45"/>
          </a:solidFill>
          <a:ln w="12700">
            <a:solidFill>
              <a:srgbClr val="F59E0B"/>
            </a:solidFill>
            <a:prstDash val="solid"/>
          </a:ln>
        </p:spPr>
        <p:txBody>
          <a:bodyPr/>
          <a:lstStyle/>
          <a:p>
            <a:endParaRPr lang="en-US"/>
          </a:p>
        </p:txBody>
      </p:sp>
      <p:sp>
        <p:nvSpPr>
          <p:cNvPr id="278" name="Shape 276"/>
          <p:cNvSpPr/>
          <p:nvPr/>
        </p:nvSpPr>
        <p:spPr>
          <a:xfrm>
            <a:off x="4892040" y="2176272"/>
            <a:ext cx="64008" cy="777240"/>
          </a:xfrm>
          <a:prstGeom prst="rect">
            <a:avLst/>
          </a:prstGeom>
          <a:solidFill>
            <a:srgbClr val="F59E0B"/>
          </a:solidFill>
          <a:ln w="12700">
            <a:solidFill>
              <a:srgbClr val="F59E0B"/>
            </a:solidFill>
            <a:prstDash val="solid"/>
          </a:ln>
        </p:spPr>
        <p:txBody>
          <a:bodyPr/>
          <a:lstStyle/>
          <a:p>
            <a:endParaRPr lang="en-US"/>
          </a:p>
        </p:txBody>
      </p:sp>
      <p:sp>
        <p:nvSpPr>
          <p:cNvPr id="279" name="Shape 277"/>
          <p:cNvSpPr/>
          <p:nvPr/>
        </p:nvSpPr>
        <p:spPr>
          <a:xfrm>
            <a:off x="5010912" y="2249424"/>
            <a:ext cx="228600" cy="228600"/>
          </a:xfrm>
          <a:prstGeom prst="ellipse">
            <a:avLst/>
          </a:prstGeom>
          <a:solidFill>
            <a:srgbClr val="F59E0B"/>
          </a:solidFill>
          <a:ln w="12700">
            <a:solidFill>
              <a:srgbClr val="F59E0B"/>
            </a:solidFill>
            <a:prstDash val="solid"/>
          </a:ln>
        </p:spPr>
        <p:txBody>
          <a:bodyPr/>
          <a:lstStyle/>
          <a:p>
            <a:endParaRPr lang="en-US"/>
          </a:p>
        </p:txBody>
      </p:sp>
      <p:sp>
        <p:nvSpPr>
          <p:cNvPr id="280" name="Text 278"/>
          <p:cNvSpPr/>
          <p:nvPr/>
        </p:nvSpPr>
        <p:spPr>
          <a:xfrm>
            <a:off x="5010912" y="2249424"/>
            <a:ext cx="228600" cy="228600"/>
          </a:xfrm>
          <a:prstGeom prst="rect">
            <a:avLst/>
          </a:prstGeom>
          <a:noFill/>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81" name="Text 279"/>
          <p:cNvSpPr/>
          <p:nvPr/>
        </p:nvSpPr>
        <p:spPr>
          <a:xfrm>
            <a:off x="5321808" y="2231136"/>
            <a:ext cx="3337560" cy="237744"/>
          </a:xfrm>
          <a:prstGeom prst="rect">
            <a:avLst/>
          </a:prstGeom>
          <a:noFill/>
        </p:spPr>
        <p:txBody>
          <a:bodyPr wrap="square" lIns="0" tIns="0" rIns="0" bIns="0" rtlCol="0" anchor="ctr"/>
          <a:lstStyle/>
          <a:p>
            <a:pPr marL="0" indent="0">
              <a:buNone/>
            </a:pPr>
            <a:r>
              <a:rPr lang="en-US" sz="1150" b="1" dirty="0">
                <a:solidFill>
                  <a:srgbClr val="F59E0B"/>
                </a:solidFill>
              </a:rPr>
              <a:t>Opposite flip directionality</a:t>
            </a:r>
            <a:endParaRPr lang="en-US" sz="1150" dirty="0"/>
          </a:p>
        </p:txBody>
      </p:sp>
      <p:sp>
        <p:nvSpPr>
          <p:cNvPr id="282" name="Text 280"/>
          <p:cNvSpPr/>
          <p:nvPr/>
        </p:nvSpPr>
        <p:spPr>
          <a:xfrm>
            <a:off x="5321808" y="2487168"/>
            <a:ext cx="3337560" cy="420624"/>
          </a:xfrm>
          <a:prstGeom prst="rect">
            <a:avLst/>
          </a:prstGeom>
          <a:noFill/>
        </p:spPr>
        <p:txBody>
          <a:bodyPr wrap="square" lIns="0" tIns="0" rIns="0" bIns="0" rtlCol="0" anchor="ctr"/>
          <a:lstStyle/>
          <a:p>
            <a:pPr marL="0" indent="0">
              <a:buNone/>
            </a:pPr>
            <a:r>
              <a:rPr lang="en-US" sz="1000" dirty="0">
                <a:solidFill>
                  <a:srgbClr val="E2E8F0"/>
                </a:solidFill>
              </a:rPr>
              <a:t>RH tends to cause 1→0 flips; RP exhibits opposite directionality trend. This has fundamentally different impact on weight quantization.</a:t>
            </a:r>
            <a:endParaRPr lang="en-US" sz="1000" dirty="0"/>
          </a:p>
        </p:txBody>
      </p:sp>
      <p:sp>
        <p:nvSpPr>
          <p:cNvPr id="283" name="Shape 281"/>
          <p:cNvSpPr/>
          <p:nvPr/>
        </p:nvSpPr>
        <p:spPr>
          <a:xfrm>
            <a:off x="4892040" y="3026664"/>
            <a:ext cx="3840480" cy="777240"/>
          </a:xfrm>
          <a:prstGeom prst="rect">
            <a:avLst/>
          </a:prstGeom>
          <a:solidFill>
            <a:srgbClr val="1A2A45"/>
          </a:solidFill>
          <a:ln w="12700">
            <a:solidFill>
              <a:srgbClr val="06B6D4"/>
            </a:solidFill>
            <a:prstDash val="solid"/>
          </a:ln>
        </p:spPr>
        <p:txBody>
          <a:bodyPr/>
          <a:lstStyle/>
          <a:p>
            <a:endParaRPr lang="en-US"/>
          </a:p>
        </p:txBody>
      </p:sp>
      <p:sp>
        <p:nvSpPr>
          <p:cNvPr id="284" name="Shape 282"/>
          <p:cNvSpPr/>
          <p:nvPr/>
        </p:nvSpPr>
        <p:spPr>
          <a:xfrm>
            <a:off x="4892040" y="3026664"/>
            <a:ext cx="64008" cy="777240"/>
          </a:xfrm>
          <a:prstGeom prst="rect">
            <a:avLst/>
          </a:prstGeom>
          <a:solidFill>
            <a:srgbClr val="06B6D4"/>
          </a:solidFill>
          <a:ln w="12700">
            <a:solidFill>
              <a:srgbClr val="06B6D4"/>
            </a:solidFill>
            <a:prstDash val="solid"/>
          </a:ln>
        </p:spPr>
        <p:txBody>
          <a:bodyPr/>
          <a:lstStyle/>
          <a:p>
            <a:endParaRPr lang="en-US"/>
          </a:p>
        </p:txBody>
      </p:sp>
      <p:sp>
        <p:nvSpPr>
          <p:cNvPr id="285" name="Shape 283"/>
          <p:cNvSpPr/>
          <p:nvPr/>
        </p:nvSpPr>
        <p:spPr>
          <a:xfrm>
            <a:off x="5010912" y="3099816"/>
            <a:ext cx="228600" cy="228600"/>
          </a:xfrm>
          <a:prstGeom prst="ellipse">
            <a:avLst/>
          </a:prstGeom>
          <a:solidFill>
            <a:srgbClr val="06B6D4"/>
          </a:solidFill>
          <a:ln w="12700">
            <a:solidFill>
              <a:srgbClr val="06B6D4"/>
            </a:solidFill>
            <a:prstDash val="solid"/>
          </a:ln>
        </p:spPr>
        <p:txBody>
          <a:bodyPr/>
          <a:lstStyle/>
          <a:p>
            <a:endParaRPr lang="en-US"/>
          </a:p>
        </p:txBody>
      </p:sp>
      <p:sp>
        <p:nvSpPr>
          <p:cNvPr id="286" name="Text 284"/>
          <p:cNvSpPr/>
          <p:nvPr/>
        </p:nvSpPr>
        <p:spPr>
          <a:xfrm>
            <a:off x="5010912" y="3099816"/>
            <a:ext cx="228600" cy="228600"/>
          </a:xfrm>
          <a:prstGeom prst="rect">
            <a:avLst/>
          </a:prstGeom>
          <a:noFill/>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87" name="Text 285"/>
          <p:cNvSpPr/>
          <p:nvPr/>
        </p:nvSpPr>
        <p:spPr>
          <a:xfrm>
            <a:off x="5321808" y="3081528"/>
            <a:ext cx="3337560" cy="237744"/>
          </a:xfrm>
          <a:prstGeom prst="rect">
            <a:avLst/>
          </a:prstGeom>
          <a:noFill/>
        </p:spPr>
        <p:txBody>
          <a:bodyPr wrap="square" lIns="0" tIns="0" rIns="0" bIns="0" rtlCol="0" anchor="ctr"/>
          <a:lstStyle/>
          <a:p>
            <a:pPr marL="0" indent="0">
              <a:buNone/>
            </a:pPr>
            <a:r>
              <a:rPr lang="en-US" sz="1150" b="1" dirty="0">
                <a:solidFill>
                  <a:srgbClr val="06B6D4"/>
                </a:solidFill>
              </a:rPr>
              <a:t>RP profile is much richer</a:t>
            </a:r>
            <a:endParaRPr lang="en-US" sz="1150" dirty="0"/>
          </a:p>
        </p:txBody>
      </p:sp>
      <p:sp>
        <p:nvSpPr>
          <p:cNvPr id="288" name="Text 286"/>
          <p:cNvSpPr/>
          <p:nvPr/>
        </p:nvSpPr>
        <p:spPr>
          <a:xfrm>
            <a:off x="5321808" y="3337560"/>
            <a:ext cx="3337560" cy="420624"/>
          </a:xfrm>
          <a:prstGeom prst="rect">
            <a:avLst/>
          </a:prstGeom>
          <a:noFill/>
        </p:spPr>
        <p:txBody>
          <a:bodyPr wrap="square" lIns="0" tIns="0" rIns="0" bIns="0" rtlCol="0" anchor="ctr"/>
          <a:lstStyle/>
          <a:p>
            <a:pPr marL="0" indent="0">
              <a:buNone/>
            </a:pPr>
            <a:r>
              <a:rPr lang="en-US" sz="1000" dirty="0">
                <a:solidFill>
                  <a:srgbClr val="E2E8F0"/>
                </a:solidFill>
              </a:rPr>
              <a:t>The RowPress profile C_RP contains substantially more vulnerable bit-cells than C_RH, enabling more attack options with fewer activations.</a:t>
            </a:r>
            <a:endParaRPr lang="en-US" sz="1000" dirty="0"/>
          </a:p>
        </p:txBody>
      </p:sp>
      <p:sp>
        <p:nvSpPr>
          <p:cNvPr id="289" name="Shape 287"/>
          <p:cNvSpPr/>
          <p:nvPr/>
        </p:nvSpPr>
        <p:spPr>
          <a:xfrm>
            <a:off x="4892040" y="3877056"/>
            <a:ext cx="3840480" cy="777240"/>
          </a:xfrm>
          <a:prstGeom prst="rect">
            <a:avLst/>
          </a:prstGeom>
          <a:solidFill>
            <a:srgbClr val="1A2A45"/>
          </a:solidFill>
          <a:ln w="12700">
            <a:solidFill>
              <a:srgbClr val="22C55E"/>
            </a:solidFill>
            <a:prstDash val="solid"/>
          </a:ln>
        </p:spPr>
        <p:txBody>
          <a:bodyPr/>
          <a:lstStyle/>
          <a:p>
            <a:endParaRPr lang="en-US"/>
          </a:p>
        </p:txBody>
      </p:sp>
      <p:sp>
        <p:nvSpPr>
          <p:cNvPr id="290" name="Shape 288"/>
          <p:cNvSpPr/>
          <p:nvPr/>
        </p:nvSpPr>
        <p:spPr>
          <a:xfrm>
            <a:off x="4892040" y="3877056"/>
            <a:ext cx="64008" cy="777240"/>
          </a:xfrm>
          <a:prstGeom prst="rect">
            <a:avLst/>
          </a:prstGeom>
          <a:solidFill>
            <a:srgbClr val="22C55E"/>
          </a:solidFill>
          <a:ln w="12700">
            <a:solidFill>
              <a:srgbClr val="22C55E"/>
            </a:solidFill>
            <a:prstDash val="solid"/>
          </a:ln>
        </p:spPr>
        <p:txBody>
          <a:bodyPr/>
          <a:lstStyle/>
          <a:p>
            <a:endParaRPr lang="en-US"/>
          </a:p>
        </p:txBody>
      </p:sp>
      <p:sp>
        <p:nvSpPr>
          <p:cNvPr id="291" name="Shape 289"/>
          <p:cNvSpPr/>
          <p:nvPr/>
        </p:nvSpPr>
        <p:spPr>
          <a:xfrm>
            <a:off x="5010912" y="3950208"/>
            <a:ext cx="228600" cy="228600"/>
          </a:xfrm>
          <a:prstGeom prst="ellipse">
            <a:avLst/>
          </a:prstGeom>
          <a:solidFill>
            <a:srgbClr val="22C55E"/>
          </a:solidFill>
          <a:ln w="12700">
            <a:solidFill>
              <a:srgbClr val="22C55E"/>
            </a:solidFill>
            <a:prstDash val="solid"/>
          </a:ln>
        </p:spPr>
        <p:txBody>
          <a:bodyPr/>
          <a:lstStyle/>
          <a:p>
            <a:endParaRPr lang="en-US"/>
          </a:p>
        </p:txBody>
      </p:sp>
      <p:sp>
        <p:nvSpPr>
          <p:cNvPr id="292" name="Text 290"/>
          <p:cNvSpPr/>
          <p:nvPr/>
        </p:nvSpPr>
        <p:spPr>
          <a:xfrm>
            <a:off x="5010912" y="3950208"/>
            <a:ext cx="228600" cy="228600"/>
          </a:xfrm>
          <a:prstGeom prst="rect">
            <a:avLst/>
          </a:prstGeom>
          <a:noFill/>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93" name="Text 291"/>
          <p:cNvSpPr/>
          <p:nvPr/>
        </p:nvSpPr>
        <p:spPr>
          <a:xfrm>
            <a:off x="5321808" y="3931920"/>
            <a:ext cx="3337560" cy="237744"/>
          </a:xfrm>
          <a:prstGeom prst="rect">
            <a:avLst/>
          </a:prstGeom>
          <a:noFill/>
        </p:spPr>
        <p:txBody>
          <a:bodyPr wrap="square" lIns="0" tIns="0" rIns="0" bIns="0" rtlCol="0" anchor="ctr"/>
          <a:lstStyle/>
          <a:p>
            <a:pPr marL="0" indent="0">
              <a:buNone/>
            </a:pPr>
            <a:r>
              <a:rPr lang="en-US" sz="1150" b="1" dirty="0">
                <a:solidFill>
                  <a:srgbClr val="22C55E"/>
                </a:solidFill>
              </a:rPr>
              <a:t>Hardware validated</a:t>
            </a:r>
            <a:endParaRPr lang="en-US" sz="1150" dirty="0"/>
          </a:p>
        </p:txBody>
      </p:sp>
      <p:sp>
        <p:nvSpPr>
          <p:cNvPr id="294" name="Text 292"/>
          <p:cNvSpPr/>
          <p:nvPr/>
        </p:nvSpPr>
        <p:spPr>
          <a:xfrm>
            <a:off x="5321808" y="4187952"/>
            <a:ext cx="3337560" cy="420624"/>
          </a:xfrm>
          <a:prstGeom prst="rect">
            <a:avLst/>
          </a:prstGeom>
          <a:noFill/>
        </p:spPr>
        <p:txBody>
          <a:bodyPr wrap="square" lIns="0" tIns="0" rIns="0" bIns="0" rtlCol="0" anchor="ctr"/>
          <a:lstStyle/>
          <a:p>
            <a:pPr marL="0" indent="0">
              <a:buNone/>
            </a:pPr>
            <a:r>
              <a:rPr lang="en-US" sz="1000" dirty="0">
                <a:solidFill>
                  <a:srgbClr val="E2E8F0"/>
                </a:solidFill>
              </a:rPr>
              <a:t>Experiments conducted on physical Samsung DDR4 16GB chip using Xilinx Alveo U200 FPGA testbench with DRAM-Bender infrastructure.</a:t>
            </a:r>
            <a:endParaRPr lang="en-US" sz="1000" dirty="0"/>
          </a:p>
        </p:txBody>
      </p:sp>
      <p:sp>
        <p:nvSpPr>
          <p:cNvPr id="295" name="Shape 293"/>
          <p:cNvSpPr/>
          <p:nvPr/>
        </p:nvSpPr>
        <p:spPr>
          <a:xfrm>
            <a:off x="4892040" y="4690872"/>
            <a:ext cx="3840480" cy="347472"/>
          </a:xfrm>
          <a:prstGeom prst="rect">
            <a:avLst/>
          </a:prstGeom>
          <a:solidFill>
            <a:srgbClr val="0F2040"/>
          </a:solidFill>
          <a:ln w="12700">
            <a:solidFill>
              <a:srgbClr val="8B5CF6"/>
            </a:solidFill>
            <a:prstDash val="solid"/>
          </a:ln>
        </p:spPr>
        <p:txBody>
          <a:bodyPr/>
          <a:lstStyle/>
          <a:p>
            <a:endParaRPr lang="en-US"/>
          </a:p>
        </p:txBody>
      </p:sp>
      <p:sp>
        <p:nvSpPr>
          <p:cNvPr id="296" name="Text 294"/>
          <p:cNvSpPr/>
          <p:nvPr/>
        </p:nvSpPr>
        <p:spPr>
          <a:xfrm>
            <a:off x="4983480" y="4690872"/>
            <a:ext cx="3657600" cy="347472"/>
          </a:xfrm>
          <a:prstGeom prst="rect">
            <a:avLst/>
          </a:prstGeom>
          <a:noFill/>
        </p:spPr>
        <p:txBody>
          <a:bodyPr wrap="square" lIns="0" tIns="0" rIns="0" bIns="0" rtlCol="0" anchor="ctr"/>
          <a:lstStyle/>
          <a:p>
            <a:pPr marL="0" indent="0">
              <a:buNone/>
            </a:pPr>
            <a:r>
              <a:rPr lang="en-US" sz="1100" b="1" dirty="0">
                <a:solidFill>
                  <a:srgbClr val="EAB308"/>
                </a:solidFill>
              </a:rPr>
              <a:t>&lt; 0.5% overlap between C_RH and C_RP populations</a:t>
            </a:r>
            <a:endParaRPr lang="en-US" sz="1100" dirty="0"/>
          </a:p>
        </p:txBody>
      </p:sp>
      <p:sp>
        <p:nvSpPr>
          <p:cNvPr id="299" name="Shape 107"/>
          <p:cNvSpPr/>
          <p:nvPr/>
        </p:nvSpPr>
        <p:spPr>
          <a:xfrm>
            <a:off x="2267712" y="1664208"/>
            <a:ext cx="182880" cy="164592"/>
          </a:xfrm>
          <a:prstGeom prst="rect">
            <a:avLst/>
          </a:prstGeom>
          <a:solidFill>
            <a:srgbClr val="0F2040"/>
          </a:solidFill>
          <a:ln w="3810">
            <a:solidFill>
              <a:srgbClr val="0A1628"/>
            </a:solidFill>
            <a:prstDash val="solid"/>
          </a:ln>
        </p:spPr>
        <p:txBody>
          <a:bodyPr/>
          <a:lstStyle/>
          <a:p>
            <a:endParaRPr lang="en-US"/>
          </a:p>
        </p:txBody>
      </p:sp>
      <p:sp>
        <p:nvSpPr>
          <p:cNvPr id="300" name="Shape 107"/>
          <p:cNvSpPr/>
          <p:nvPr/>
        </p:nvSpPr>
        <p:spPr>
          <a:xfrm>
            <a:off x="2267712" y="1844802"/>
            <a:ext cx="182880" cy="164592"/>
          </a:xfrm>
          <a:prstGeom prst="rect">
            <a:avLst/>
          </a:prstGeom>
          <a:solidFill>
            <a:srgbClr val="0F2040"/>
          </a:solidFill>
          <a:ln w="3810">
            <a:solidFill>
              <a:srgbClr val="0A1628"/>
            </a:solidFill>
            <a:prstDash val="solid"/>
          </a:ln>
        </p:spPr>
        <p:txBody>
          <a:bodyPr/>
          <a:lstStyle/>
          <a:p>
            <a:endParaRPr lang="en-US"/>
          </a:p>
        </p:txBody>
      </p:sp>
      <p:sp>
        <p:nvSpPr>
          <p:cNvPr id="301" name="Shape 107"/>
          <p:cNvSpPr/>
          <p:nvPr/>
        </p:nvSpPr>
        <p:spPr>
          <a:xfrm>
            <a:off x="2267712" y="2029968"/>
            <a:ext cx="182880" cy="164592"/>
          </a:xfrm>
          <a:prstGeom prst="rect">
            <a:avLst/>
          </a:prstGeom>
          <a:solidFill>
            <a:srgbClr val="0F2040"/>
          </a:solidFill>
          <a:ln w="3810">
            <a:solidFill>
              <a:srgbClr val="0A1628"/>
            </a:solidFill>
            <a:prstDash val="solid"/>
          </a:ln>
        </p:spPr>
        <p:txBody>
          <a:bodyPr/>
          <a:lstStyle/>
          <a:p>
            <a:endParaRPr lang="en-US"/>
          </a:p>
        </p:txBody>
      </p:sp>
      <p:sp>
        <p:nvSpPr>
          <p:cNvPr id="302" name="Shape 107"/>
          <p:cNvSpPr/>
          <p:nvPr/>
        </p:nvSpPr>
        <p:spPr>
          <a:xfrm>
            <a:off x="2267712" y="2194560"/>
            <a:ext cx="182880" cy="164592"/>
          </a:xfrm>
          <a:prstGeom prst="rect">
            <a:avLst/>
          </a:prstGeom>
          <a:solidFill>
            <a:srgbClr val="0F2040"/>
          </a:solidFill>
          <a:ln w="3810">
            <a:solidFill>
              <a:srgbClr val="0A1628"/>
            </a:solidFill>
            <a:prstDash val="solid"/>
          </a:ln>
        </p:spPr>
        <p:txBody>
          <a:bodyPr/>
          <a:lstStyle/>
          <a:p>
            <a:endParaRPr lang="en-US"/>
          </a:p>
        </p:txBody>
      </p:sp>
      <p:sp>
        <p:nvSpPr>
          <p:cNvPr id="303" name="Shape 107"/>
          <p:cNvSpPr/>
          <p:nvPr/>
        </p:nvSpPr>
        <p:spPr>
          <a:xfrm>
            <a:off x="2267712" y="2571750"/>
            <a:ext cx="182880" cy="164592"/>
          </a:xfrm>
          <a:prstGeom prst="rect">
            <a:avLst/>
          </a:prstGeom>
          <a:solidFill>
            <a:srgbClr val="0F2040"/>
          </a:solidFill>
          <a:ln w="3810">
            <a:solidFill>
              <a:srgbClr val="0A1628"/>
            </a:solidFill>
            <a:prstDash val="solid"/>
          </a:ln>
        </p:spPr>
        <p:txBody>
          <a:bodyPr/>
          <a:lstStyle/>
          <a:p>
            <a:endParaRPr lang="en-US"/>
          </a:p>
        </p:txBody>
      </p:sp>
      <p:sp>
        <p:nvSpPr>
          <p:cNvPr id="304" name="Shape 107"/>
          <p:cNvSpPr/>
          <p:nvPr/>
        </p:nvSpPr>
        <p:spPr>
          <a:xfrm>
            <a:off x="2267712" y="2761488"/>
            <a:ext cx="182880" cy="164592"/>
          </a:xfrm>
          <a:prstGeom prst="rect">
            <a:avLst/>
          </a:prstGeom>
          <a:solidFill>
            <a:srgbClr val="0F2040"/>
          </a:solidFill>
          <a:ln w="3810">
            <a:solidFill>
              <a:srgbClr val="0A1628"/>
            </a:solidFill>
            <a:prstDash val="solid"/>
          </a:ln>
        </p:spPr>
        <p:txBody>
          <a:bodyPr/>
          <a:lstStyle/>
          <a:p>
            <a:endParaRPr lang="en-US"/>
          </a:p>
        </p:txBody>
      </p:sp>
      <p:sp>
        <p:nvSpPr>
          <p:cNvPr id="305" name="Shape 107"/>
          <p:cNvSpPr/>
          <p:nvPr/>
        </p:nvSpPr>
        <p:spPr>
          <a:xfrm>
            <a:off x="2267712" y="3310128"/>
            <a:ext cx="182880" cy="164592"/>
          </a:xfrm>
          <a:prstGeom prst="rect">
            <a:avLst/>
          </a:prstGeom>
          <a:solidFill>
            <a:srgbClr val="0F2040"/>
          </a:solidFill>
          <a:ln w="3810">
            <a:solidFill>
              <a:srgbClr val="0A1628"/>
            </a:solidFill>
            <a:prstDash val="solid"/>
          </a:ln>
        </p:spPr>
        <p:txBody>
          <a:bodyPr/>
          <a:lstStyle/>
          <a:p>
            <a:endParaRPr lang="en-US"/>
          </a:p>
        </p:txBody>
      </p:sp>
      <p:sp>
        <p:nvSpPr>
          <p:cNvPr id="306" name="Shape 107"/>
          <p:cNvSpPr/>
          <p:nvPr/>
        </p:nvSpPr>
        <p:spPr>
          <a:xfrm>
            <a:off x="2267712" y="3675888"/>
            <a:ext cx="182880" cy="164592"/>
          </a:xfrm>
          <a:prstGeom prst="rect">
            <a:avLst/>
          </a:prstGeom>
          <a:solidFill>
            <a:srgbClr val="0F2040"/>
          </a:solidFill>
          <a:ln w="3810">
            <a:solidFill>
              <a:srgbClr val="0A1628"/>
            </a:solidFill>
            <a:prstDash val="solid"/>
          </a:ln>
        </p:spPr>
        <p:txBody>
          <a:bodyPr/>
          <a:lstStyle/>
          <a:p>
            <a:endParaRPr lang="en-US"/>
          </a:p>
        </p:txBody>
      </p:sp>
      <p:sp>
        <p:nvSpPr>
          <p:cNvPr id="307" name="Shape 107"/>
          <p:cNvSpPr/>
          <p:nvPr/>
        </p:nvSpPr>
        <p:spPr>
          <a:xfrm>
            <a:off x="2267712" y="3877056"/>
            <a:ext cx="182880" cy="164592"/>
          </a:xfrm>
          <a:prstGeom prst="rect">
            <a:avLst/>
          </a:prstGeom>
          <a:solidFill>
            <a:srgbClr val="0F2040"/>
          </a:solidFill>
          <a:ln w="3810">
            <a:solidFill>
              <a:srgbClr val="0A1628"/>
            </a:solidFill>
            <a:prstDash val="solid"/>
          </a:ln>
        </p:spPr>
        <p:txBody>
          <a:bodyPr/>
          <a:lstStyle/>
          <a:p>
            <a:endParaRPr lang="en-US"/>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8B5CF6"/>
                </a:solidFill>
              </a:rPr>
              <a:t>ROWPRESS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DRAM-Profile-Aware Attack Algorithm</a:t>
            </a:r>
            <a:endParaRPr lang="en-US" sz="2400" dirty="0"/>
          </a:p>
        </p:txBody>
      </p:sp>
      <p:sp>
        <p:nvSpPr>
          <p:cNvPr id="6" name="Shape 4"/>
          <p:cNvSpPr/>
          <p:nvPr/>
        </p:nvSpPr>
        <p:spPr>
          <a:xfrm>
            <a:off x="365760" y="886968"/>
            <a:ext cx="8412480" cy="960120"/>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48640" y="932688"/>
            <a:ext cx="8046720" cy="256032"/>
          </a:xfrm>
          <a:prstGeom prst="rect">
            <a:avLst/>
          </a:prstGeom>
          <a:noFill/>
        </p:spPr>
        <p:txBody>
          <a:bodyPr wrap="square" lIns="0" tIns="0" rIns="0" bIns="0" rtlCol="0" anchor="ctr"/>
          <a:lstStyle/>
          <a:p>
            <a:pPr marL="0" indent="0">
              <a:buNone/>
            </a:pPr>
            <a:r>
              <a:rPr lang="en-US" sz="1200" b="1" dirty="0">
                <a:solidFill>
                  <a:srgbClr val="8B5CF6"/>
                </a:solidFill>
              </a:rPr>
              <a:t>Attack Objective: Deplete DNN intelligence to random-guess level with minimum bit-flips</a:t>
            </a:r>
            <a:endParaRPr lang="en-US" sz="1200" dirty="0"/>
          </a:p>
        </p:txBody>
      </p:sp>
      <p:sp>
        <p:nvSpPr>
          <p:cNvPr id="8" name="Text 6"/>
          <p:cNvSpPr/>
          <p:nvPr/>
        </p:nvSpPr>
        <p:spPr>
          <a:xfrm>
            <a:off x="548640" y="1207008"/>
            <a:ext cx="8046720" cy="512064"/>
          </a:xfrm>
          <a:prstGeom prst="rect">
            <a:avLst/>
          </a:prstGeom>
          <a:noFill/>
        </p:spPr>
        <p:txBody>
          <a:bodyPr wrap="square" rtlCol="0" anchor="ctr"/>
          <a:lstStyle/>
          <a:p>
            <a:pPr marL="0" indent="0">
              <a:buNone/>
            </a:pPr>
            <a:r>
              <a:rPr lang="en-US" sz="1500" b="1" dirty="0">
                <a:solidFill>
                  <a:srgbClr val="EAB308"/>
                </a:solidFill>
                <a:latin typeface="Calibri" panose="020F0502020204030204" pitchFamily="34" charset="0"/>
                <a:ea typeface="Calibri" panose="020F0502020204030204" pitchFamily="34" charset="-122"/>
                <a:cs typeface="Calibri" panose="020F0502020204030204" pitchFamily="34" charset="-120"/>
              </a:rPr>
              <a:t>max  </a:t>
            </a:r>
            <a:r>
              <a:rPr lang="en-US" sz="1500" dirty="0">
                <a:solidFill>
                  <a:srgbClr val="E2E8F0"/>
                </a:solidFill>
                <a:latin typeface="Calibri" panose="020F0502020204030204" pitchFamily="34" charset="0"/>
                <a:ea typeface="Calibri" panose="020F0502020204030204" pitchFamily="34" charset="-122"/>
                <a:cs typeface="Calibri" panose="020F0502020204030204" pitchFamily="34" charset="-120"/>
              </a:rPr>
              <a:t>  L( f(x; {B̂ˡ}), y )   subject to:  ∑ D(B̂ˡ, Bˡ) ∈ {0,1,...,n</a:t>
            </a:r>
            <a:r>
              <a:rPr lang="en-US" sz="900" dirty="0">
                <a:solidFill>
                  <a:srgbClr val="E2E8F0"/>
                </a:solidFill>
                <a:latin typeface="Calibri" panose="020F0502020204030204" pitchFamily="34" charset="0"/>
                <a:ea typeface="Calibri" panose="020F0502020204030204" pitchFamily="34" charset="-122"/>
                <a:cs typeface="Calibri" panose="020F0502020204030204" pitchFamily="34" charset="-120"/>
              </a:rPr>
              <a:t>b</a:t>
            </a:r>
            <a:r>
              <a:rPr lang="en-US" sz="1500" dirty="0">
                <a:solidFill>
                  <a:srgbClr val="E2E8F0"/>
                </a:solidFill>
                <a:latin typeface="Calibri" panose="020F0502020204030204" pitchFamily="34" charset="0"/>
                <a:ea typeface="Calibri" panose="020F0502020204030204" pitchFamily="34" charset="-122"/>
                <a:cs typeface="Calibri" panose="020F0502020204030204" pitchFamily="34" charset="-120"/>
              </a:rPr>
              <a:t>}     minimize  D  (# bit-flips)</a:t>
            </a:r>
            <a:endParaRPr lang="en-US" sz="1500" dirty="0"/>
          </a:p>
        </p:txBody>
      </p:sp>
      <p:grpSp>
        <p:nvGrpSpPr>
          <p:cNvPr id="55" name="Group 54"/>
          <p:cNvGrpSpPr/>
          <p:nvPr/>
        </p:nvGrpSpPr>
        <p:grpSpPr>
          <a:xfrm>
            <a:off x="365760" y="1993392"/>
            <a:ext cx="8685475" cy="2852928"/>
            <a:chOff x="365760" y="1993392"/>
            <a:chExt cx="8833104" cy="2852928"/>
          </a:xfrm>
        </p:grpSpPr>
        <p:sp>
          <p:nvSpPr>
            <p:cNvPr id="9" name="Shape 7"/>
            <p:cNvSpPr/>
            <p:nvPr/>
          </p:nvSpPr>
          <p:spPr>
            <a:xfrm>
              <a:off x="365760" y="1993392"/>
              <a:ext cx="2743200" cy="2852928"/>
            </a:xfrm>
            <a:prstGeom prst="rect">
              <a:avLst/>
            </a:prstGeom>
            <a:solidFill>
              <a:srgbClr val="16203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10" name="Shape 8"/>
            <p:cNvSpPr/>
            <p:nvPr/>
          </p:nvSpPr>
          <p:spPr>
            <a:xfrm>
              <a:off x="365760" y="1993392"/>
              <a:ext cx="2743200" cy="347472"/>
            </a:xfrm>
            <a:prstGeom prst="rect">
              <a:avLst/>
            </a:prstGeom>
            <a:solidFill>
              <a:srgbClr val="06B6D4"/>
            </a:solidFill>
            <a:ln w="12700">
              <a:solidFill>
                <a:srgbClr val="06B6D4"/>
              </a:solidFill>
              <a:prstDash val="solid"/>
            </a:ln>
          </p:spPr>
          <p:txBody>
            <a:bodyPr/>
            <a:lstStyle/>
            <a:p>
              <a:endParaRPr lang="en-US"/>
            </a:p>
          </p:txBody>
        </p:sp>
        <p:sp>
          <p:nvSpPr>
            <p:cNvPr id="11" name="Shape 9"/>
            <p:cNvSpPr/>
            <p:nvPr/>
          </p:nvSpPr>
          <p:spPr>
            <a:xfrm>
              <a:off x="438912" y="2029968"/>
              <a:ext cx="274320" cy="274320"/>
            </a:xfrm>
            <a:prstGeom prst="ellipse">
              <a:avLst/>
            </a:prstGeom>
            <a:solidFill>
              <a:srgbClr val="FFFFFF"/>
            </a:solidFill>
            <a:ln w="12700">
              <a:solidFill>
                <a:srgbClr val="FFFFFF"/>
              </a:solidFill>
              <a:prstDash val="solid"/>
            </a:ln>
          </p:spPr>
          <p:txBody>
            <a:bodyPr/>
            <a:lstStyle/>
            <a:p>
              <a:endParaRPr lang="en-US"/>
            </a:p>
          </p:txBody>
        </p:sp>
        <p:sp>
          <p:nvSpPr>
            <p:cNvPr id="12" name="Text 10"/>
            <p:cNvSpPr/>
            <p:nvPr/>
          </p:nvSpPr>
          <p:spPr>
            <a:xfrm>
              <a:off x="438912" y="2029968"/>
              <a:ext cx="274320" cy="274320"/>
            </a:xfrm>
            <a:prstGeom prst="rect">
              <a:avLst/>
            </a:prstGeom>
            <a:noFill/>
          </p:spPr>
          <p:txBody>
            <a:bodyPr wrap="square" lIns="0" tIns="0" rIns="0" bIns="0" rtlCol="0" anchor="ctr"/>
            <a:lstStyle/>
            <a:p>
              <a:pPr marL="0" indent="0" algn="ctr">
                <a:buNone/>
              </a:pPr>
              <a:r>
                <a:rPr lang="en-US" sz="1300" b="1" dirty="0">
                  <a:solidFill>
                    <a:srgbClr val="06B6D4"/>
                  </a:solidFill>
                </a:rPr>
                <a:t>1</a:t>
              </a:r>
              <a:endParaRPr lang="en-US" sz="1300" dirty="0"/>
            </a:p>
          </p:txBody>
        </p:sp>
        <p:sp>
          <p:nvSpPr>
            <p:cNvPr id="13" name="Text 11"/>
            <p:cNvSpPr/>
            <p:nvPr/>
          </p:nvSpPr>
          <p:spPr>
            <a:xfrm>
              <a:off x="777240" y="2029968"/>
              <a:ext cx="2240280" cy="182880"/>
            </a:xfrm>
            <a:prstGeom prst="rect">
              <a:avLst/>
            </a:prstGeom>
            <a:noFill/>
          </p:spPr>
          <p:txBody>
            <a:bodyPr wrap="square" lIns="0" tIns="0" rIns="0" bIns="0" rtlCol="0" anchor="ctr"/>
            <a:lstStyle/>
            <a:p>
              <a:pPr marL="0" indent="0">
                <a:buNone/>
              </a:pPr>
              <a:r>
                <a:rPr lang="en-US" sz="900" b="1" dirty="0">
                  <a:solidFill>
                    <a:srgbClr val="FFFFFF"/>
                  </a:solidFill>
                </a:rPr>
                <a:t>Phase 1</a:t>
              </a:r>
              <a:endParaRPr lang="en-US" sz="900" dirty="0"/>
            </a:p>
          </p:txBody>
        </p:sp>
        <p:sp>
          <p:nvSpPr>
            <p:cNvPr id="14" name="Text 12"/>
            <p:cNvSpPr/>
            <p:nvPr/>
          </p:nvSpPr>
          <p:spPr>
            <a:xfrm>
              <a:off x="758952" y="2148575"/>
              <a:ext cx="2606040" cy="201168"/>
            </a:xfrm>
            <a:prstGeom prst="rect">
              <a:avLst/>
            </a:prstGeom>
            <a:noFill/>
          </p:spPr>
          <p:txBody>
            <a:bodyPr wrap="square" lIns="0" tIns="0" rIns="0" bIns="0" rtlCol="0" anchor="ctr"/>
            <a:lstStyle/>
            <a:p>
              <a:pPr marL="0" indent="0">
                <a:buNone/>
              </a:pPr>
              <a:r>
                <a:rPr lang="en-US" sz="1150" b="1" dirty="0">
                  <a:solidFill>
                    <a:srgbClr val="FFFFFF"/>
                  </a:solidFill>
                </a:rPr>
                <a:t>DRAM Profiling</a:t>
              </a:r>
              <a:endParaRPr lang="en-US" sz="1150" dirty="0"/>
            </a:p>
          </p:txBody>
        </p:sp>
        <p:sp>
          <p:nvSpPr>
            <p:cNvPr id="15" name="Shape 13"/>
            <p:cNvSpPr/>
            <p:nvPr/>
          </p:nvSpPr>
          <p:spPr>
            <a:xfrm>
              <a:off x="457200" y="2505456"/>
              <a:ext cx="182880" cy="182880"/>
            </a:xfrm>
            <a:prstGeom prst="rect">
              <a:avLst/>
            </a:prstGeom>
            <a:solidFill>
              <a:srgbClr val="06B6D4"/>
            </a:solidFill>
            <a:ln w="12700">
              <a:solidFill>
                <a:srgbClr val="06B6D4"/>
              </a:solidFill>
              <a:prstDash val="solid"/>
            </a:ln>
          </p:spPr>
          <p:txBody>
            <a:bodyPr/>
            <a:lstStyle/>
            <a:p>
              <a:endParaRPr lang="en-US"/>
            </a:p>
          </p:txBody>
        </p:sp>
        <p:sp>
          <p:nvSpPr>
            <p:cNvPr id="16" name="Text 14"/>
            <p:cNvSpPr/>
            <p:nvPr/>
          </p:nvSpPr>
          <p:spPr>
            <a:xfrm>
              <a:off x="713232" y="2395595"/>
              <a:ext cx="2286000" cy="475488"/>
            </a:xfrm>
            <a:prstGeom prst="rect">
              <a:avLst/>
            </a:prstGeom>
            <a:noFill/>
          </p:spPr>
          <p:txBody>
            <a:bodyPr wrap="square" lIns="0" tIns="0" rIns="0" bIns="0" rtlCol="0" anchor="ctr"/>
            <a:lstStyle/>
            <a:p>
              <a:pPr marL="0" indent="0">
                <a:buNone/>
              </a:pPr>
              <a:r>
                <a:rPr lang="en-US" sz="980" dirty="0">
                  <a:solidFill>
                    <a:srgbClr val="E2E8F0"/>
                  </a:solidFill>
                </a:rPr>
                <a:t>Profile entire DRAM chip under RH and RP attack models</a:t>
              </a:r>
              <a:endParaRPr lang="en-US" sz="980" dirty="0"/>
            </a:p>
          </p:txBody>
        </p:sp>
        <p:sp>
          <p:nvSpPr>
            <p:cNvPr id="17" name="Shape 15"/>
            <p:cNvSpPr/>
            <p:nvPr/>
          </p:nvSpPr>
          <p:spPr>
            <a:xfrm>
              <a:off x="457200" y="3054096"/>
              <a:ext cx="182880" cy="182880"/>
            </a:xfrm>
            <a:prstGeom prst="rect">
              <a:avLst/>
            </a:prstGeom>
            <a:solidFill>
              <a:srgbClr val="06B6D4"/>
            </a:solidFill>
            <a:ln w="12700">
              <a:solidFill>
                <a:srgbClr val="06B6D4"/>
              </a:solidFill>
              <a:prstDash val="solid"/>
            </a:ln>
          </p:spPr>
          <p:txBody>
            <a:bodyPr/>
            <a:lstStyle/>
            <a:p>
              <a:endParaRPr lang="en-US"/>
            </a:p>
          </p:txBody>
        </p:sp>
        <p:sp>
          <p:nvSpPr>
            <p:cNvPr id="18" name="Text 16"/>
            <p:cNvSpPr/>
            <p:nvPr/>
          </p:nvSpPr>
          <p:spPr>
            <a:xfrm>
              <a:off x="713232" y="2962656"/>
              <a:ext cx="2286000" cy="475488"/>
            </a:xfrm>
            <a:prstGeom prst="rect">
              <a:avLst/>
            </a:prstGeom>
            <a:noFill/>
          </p:spPr>
          <p:txBody>
            <a:bodyPr wrap="square" lIns="0" tIns="0" rIns="0" bIns="0" rtlCol="0" anchor="ctr"/>
            <a:lstStyle/>
            <a:p>
              <a:pPr marL="0" indent="0">
                <a:buNone/>
              </a:pPr>
              <a:r>
                <a:rPr lang="en-US" sz="980" dirty="0">
                  <a:solidFill>
                    <a:srgbClr val="E2E8F0"/>
                  </a:solidFill>
                </a:rPr>
                <a:t>Map all vulnerable bit-cell locations (page frame + offset)</a:t>
              </a:r>
              <a:endParaRPr lang="en-US" sz="980" dirty="0"/>
            </a:p>
          </p:txBody>
        </p:sp>
        <p:sp>
          <p:nvSpPr>
            <p:cNvPr id="19" name="Shape 17"/>
            <p:cNvSpPr/>
            <p:nvPr/>
          </p:nvSpPr>
          <p:spPr>
            <a:xfrm>
              <a:off x="457200" y="3602736"/>
              <a:ext cx="182880" cy="182880"/>
            </a:xfrm>
            <a:prstGeom prst="rect">
              <a:avLst/>
            </a:prstGeom>
            <a:solidFill>
              <a:srgbClr val="06B6D4"/>
            </a:solidFill>
            <a:ln w="12700">
              <a:solidFill>
                <a:srgbClr val="06B6D4"/>
              </a:solidFill>
              <a:prstDash val="solid"/>
            </a:ln>
          </p:spPr>
          <p:txBody>
            <a:bodyPr/>
            <a:lstStyle/>
            <a:p>
              <a:endParaRPr lang="en-US"/>
            </a:p>
          </p:txBody>
        </p:sp>
        <p:sp>
          <p:nvSpPr>
            <p:cNvPr id="20" name="Text 18"/>
            <p:cNvSpPr/>
            <p:nvPr/>
          </p:nvSpPr>
          <p:spPr>
            <a:xfrm>
              <a:off x="713232" y="3511296"/>
              <a:ext cx="2286000" cy="475488"/>
            </a:xfrm>
            <a:prstGeom prst="rect">
              <a:avLst/>
            </a:prstGeom>
            <a:noFill/>
          </p:spPr>
          <p:txBody>
            <a:bodyPr wrap="square" lIns="0" tIns="0" rIns="0" bIns="0" rtlCol="0" anchor="ctr"/>
            <a:lstStyle/>
            <a:p>
              <a:pPr marL="0" indent="0">
                <a:buNone/>
              </a:pPr>
              <a:r>
                <a:rPr lang="en-US" sz="980" dirty="0">
                  <a:solidFill>
                    <a:srgbClr val="E2E8F0"/>
                  </a:solidFill>
                </a:rPr>
                <a:t>Obtain profiles C_RH and C_RP for respective attacks</a:t>
              </a:r>
              <a:endParaRPr lang="en-US" sz="980" dirty="0"/>
            </a:p>
          </p:txBody>
        </p:sp>
        <p:sp>
          <p:nvSpPr>
            <p:cNvPr id="21" name="Shape 19"/>
            <p:cNvSpPr/>
            <p:nvPr/>
          </p:nvSpPr>
          <p:spPr>
            <a:xfrm>
              <a:off x="457200" y="4151376"/>
              <a:ext cx="182880" cy="182880"/>
            </a:xfrm>
            <a:prstGeom prst="rect">
              <a:avLst/>
            </a:prstGeom>
            <a:solidFill>
              <a:srgbClr val="06B6D4"/>
            </a:solidFill>
            <a:ln w="12700">
              <a:solidFill>
                <a:srgbClr val="06B6D4"/>
              </a:solidFill>
              <a:prstDash val="solid"/>
            </a:ln>
          </p:spPr>
          <p:txBody>
            <a:bodyPr/>
            <a:lstStyle/>
            <a:p>
              <a:endParaRPr lang="en-US"/>
            </a:p>
          </p:txBody>
        </p:sp>
        <p:sp>
          <p:nvSpPr>
            <p:cNvPr id="22" name="Text 20"/>
            <p:cNvSpPr/>
            <p:nvPr/>
          </p:nvSpPr>
          <p:spPr>
            <a:xfrm>
              <a:off x="713232" y="4058346"/>
              <a:ext cx="2286000" cy="475488"/>
            </a:xfrm>
            <a:prstGeom prst="rect">
              <a:avLst/>
            </a:prstGeom>
            <a:noFill/>
          </p:spPr>
          <p:txBody>
            <a:bodyPr wrap="square" lIns="0" tIns="0" rIns="0" bIns="0" rtlCol="0" anchor="ctr"/>
            <a:lstStyle/>
            <a:p>
              <a:pPr marL="0" indent="0">
                <a:buNone/>
              </a:pPr>
              <a:r>
                <a:rPr lang="en-US" sz="980" dirty="0">
                  <a:solidFill>
                    <a:srgbClr val="E2E8F0"/>
                  </a:solidFill>
                </a:rPr>
                <a:t>Samsung DDR4: RP has substantially more vulnerable cells</a:t>
              </a:r>
              <a:endParaRPr lang="en-US" sz="980" dirty="0"/>
            </a:p>
          </p:txBody>
        </p:sp>
        <p:sp>
          <p:nvSpPr>
            <p:cNvPr id="23" name="Shape 21"/>
            <p:cNvSpPr/>
            <p:nvPr/>
          </p:nvSpPr>
          <p:spPr>
            <a:xfrm>
              <a:off x="3108960" y="3419856"/>
              <a:ext cx="164592" cy="0"/>
            </a:xfrm>
            <a:prstGeom prst="line">
              <a:avLst/>
            </a:prstGeom>
            <a:noFill/>
            <a:ln w="19050">
              <a:solidFill>
                <a:srgbClr val="94A3B8"/>
              </a:solidFill>
              <a:prstDash val="solid"/>
            </a:ln>
          </p:spPr>
          <p:txBody>
            <a:bodyPr/>
            <a:lstStyle/>
            <a:p>
              <a:endParaRPr lang="en-US"/>
            </a:p>
          </p:txBody>
        </p:sp>
        <p:sp>
          <p:nvSpPr>
            <p:cNvPr id="24" name="Shape 22"/>
            <p:cNvSpPr/>
            <p:nvPr/>
          </p:nvSpPr>
          <p:spPr>
            <a:xfrm>
              <a:off x="3273552" y="1993392"/>
              <a:ext cx="2743200" cy="2852928"/>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3273552" y="1993392"/>
              <a:ext cx="2743200" cy="347472"/>
            </a:xfrm>
            <a:prstGeom prst="rect">
              <a:avLst/>
            </a:prstGeom>
            <a:solidFill>
              <a:srgbClr val="F59E0B"/>
            </a:solidFill>
            <a:ln w="12700">
              <a:solidFill>
                <a:srgbClr val="F59E0B"/>
              </a:solidFill>
              <a:prstDash val="solid"/>
            </a:ln>
          </p:spPr>
          <p:txBody>
            <a:bodyPr/>
            <a:lstStyle/>
            <a:p>
              <a:endParaRPr lang="en-US"/>
            </a:p>
          </p:txBody>
        </p:sp>
        <p:sp>
          <p:nvSpPr>
            <p:cNvPr id="26" name="Shape 24"/>
            <p:cNvSpPr/>
            <p:nvPr/>
          </p:nvSpPr>
          <p:spPr>
            <a:xfrm>
              <a:off x="3346704" y="2029968"/>
              <a:ext cx="274320" cy="274320"/>
            </a:xfrm>
            <a:prstGeom prst="ellipse">
              <a:avLst/>
            </a:prstGeom>
            <a:solidFill>
              <a:srgbClr val="FFFFFF"/>
            </a:solidFill>
            <a:ln w="12700">
              <a:solidFill>
                <a:srgbClr val="FFFFFF"/>
              </a:solidFill>
              <a:prstDash val="solid"/>
            </a:ln>
          </p:spPr>
          <p:txBody>
            <a:bodyPr/>
            <a:lstStyle/>
            <a:p>
              <a:endParaRPr lang="en-US"/>
            </a:p>
          </p:txBody>
        </p:sp>
        <p:sp>
          <p:nvSpPr>
            <p:cNvPr id="27" name="Text 25"/>
            <p:cNvSpPr/>
            <p:nvPr/>
          </p:nvSpPr>
          <p:spPr>
            <a:xfrm>
              <a:off x="3346704" y="2029968"/>
              <a:ext cx="274320" cy="274320"/>
            </a:xfrm>
            <a:prstGeom prst="rect">
              <a:avLst/>
            </a:prstGeom>
            <a:noFill/>
          </p:spPr>
          <p:txBody>
            <a:bodyPr wrap="square" lIns="0" tIns="0" rIns="0" bIns="0" rtlCol="0" anchor="ctr"/>
            <a:lstStyle/>
            <a:p>
              <a:pPr marL="0" indent="0" algn="ctr">
                <a:buNone/>
              </a:pPr>
              <a:r>
                <a:rPr lang="en-US" sz="1300" b="1" dirty="0">
                  <a:solidFill>
                    <a:srgbClr val="F59E0B"/>
                  </a:solidFill>
                </a:rPr>
                <a:t>2</a:t>
              </a:r>
              <a:endParaRPr lang="en-US" sz="1300" dirty="0"/>
            </a:p>
          </p:txBody>
        </p:sp>
        <p:sp>
          <p:nvSpPr>
            <p:cNvPr id="28" name="Text 26"/>
            <p:cNvSpPr/>
            <p:nvPr/>
          </p:nvSpPr>
          <p:spPr>
            <a:xfrm>
              <a:off x="3685032" y="2029968"/>
              <a:ext cx="2240280" cy="182880"/>
            </a:xfrm>
            <a:prstGeom prst="rect">
              <a:avLst/>
            </a:prstGeom>
            <a:noFill/>
          </p:spPr>
          <p:txBody>
            <a:bodyPr wrap="square" lIns="0" tIns="0" rIns="0" bIns="0" rtlCol="0" anchor="ctr"/>
            <a:lstStyle/>
            <a:p>
              <a:pPr marL="0" indent="0">
                <a:buNone/>
              </a:pPr>
              <a:r>
                <a:rPr lang="en-US" sz="900" b="1" dirty="0">
                  <a:solidFill>
                    <a:srgbClr val="FFFFFF"/>
                  </a:solidFill>
                </a:rPr>
                <a:t>Phase 2</a:t>
              </a:r>
              <a:endParaRPr lang="en-US" sz="900" dirty="0"/>
            </a:p>
          </p:txBody>
        </p:sp>
        <p:sp>
          <p:nvSpPr>
            <p:cNvPr id="29" name="Text 27"/>
            <p:cNvSpPr/>
            <p:nvPr/>
          </p:nvSpPr>
          <p:spPr>
            <a:xfrm>
              <a:off x="3685032" y="2130552"/>
              <a:ext cx="2606040" cy="201168"/>
            </a:xfrm>
            <a:prstGeom prst="rect">
              <a:avLst/>
            </a:prstGeom>
            <a:noFill/>
          </p:spPr>
          <p:txBody>
            <a:bodyPr wrap="square" lIns="0" tIns="0" rIns="0" bIns="0" rtlCol="0" anchor="ctr"/>
            <a:lstStyle/>
            <a:p>
              <a:pPr marL="0" indent="0">
                <a:buNone/>
              </a:pPr>
              <a:r>
                <a:rPr lang="en-US" sz="1150" b="1" dirty="0">
                  <a:solidFill>
                    <a:srgbClr val="FFFFFF"/>
                  </a:solidFill>
                </a:rPr>
                <a:t>Constrained Weight Search</a:t>
              </a:r>
              <a:endParaRPr lang="en-US" sz="1150" dirty="0"/>
            </a:p>
          </p:txBody>
        </p:sp>
        <p:sp>
          <p:nvSpPr>
            <p:cNvPr id="30" name="Shape 28"/>
            <p:cNvSpPr/>
            <p:nvPr/>
          </p:nvSpPr>
          <p:spPr>
            <a:xfrm>
              <a:off x="3364992" y="2505456"/>
              <a:ext cx="182880" cy="182880"/>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3621024" y="2388042"/>
              <a:ext cx="2286000" cy="475488"/>
            </a:xfrm>
            <a:prstGeom prst="rect">
              <a:avLst/>
            </a:prstGeom>
            <a:noFill/>
          </p:spPr>
          <p:txBody>
            <a:bodyPr wrap="square" lIns="0" tIns="0" rIns="0" bIns="0" rtlCol="0" anchor="ctr"/>
            <a:lstStyle/>
            <a:p>
              <a:pPr marL="0" indent="0">
                <a:buNone/>
              </a:pPr>
              <a:r>
                <a:rPr lang="en-US" sz="980" dirty="0">
                  <a:solidFill>
                    <a:srgbClr val="E2E8F0"/>
                  </a:solidFill>
                </a:rPr>
                <a:t>Limit BFA search to weight-bits mapped to DRAM vulnerable cells</a:t>
              </a:r>
              <a:endParaRPr lang="en-US" sz="980" dirty="0"/>
            </a:p>
          </p:txBody>
        </p:sp>
        <p:sp>
          <p:nvSpPr>
            <p:cNvPr id="32" name="Shape 30"/>
            <p:cNvSpPr/>
            <p:nvPr/>
          </p:nvSpPr>
          <p:spPr>
            <a:xfrm>
              <a:off x="3364992" y="3054096"/>
              <a:ext cx="182880" cy="182880"/>
            </a:xfrm>
            <a:prstGeom prst="rect">
              <a:avLst/>
            </a:prstGeom>
            <a:solidFill>
              <a:srgbClr val="F59E0B"/>
            </a:solidFill>
            <a:ln w="12700">
              <a:solidFill>
                <a:srgbClr val="F59E0B"/>
              </a:solidFill>
              <a:prstDash val="solid"/>
            </a:ln>
          </p:spPr>
          <p:txBody>
            <a:bodyPr/>
            <a:lstStyle/>
            <a:p>
              <a:endParaRPr lang="en-US"/>
            </a:p>
          </p:txBody>
        </p:sp>
        <p:sp>
          <p:nvSpPr>
            <p:cNvPr id="33" name="Text 31"/>
            <p:cNvSpPr/>
            <p:nvPr/>
          </p:nvSpPr>
          <p:spPr>
            <a:xfrm>
              <a:off x="3621024" y="2932972"/>
              <a:ext cx="2286000" cy="475488"/>
            </a:xfrm>
            <a:prstGeom prst="rect">
              <a:avLst/>
            </a:prstGeom>
            <a:noFill/>
          </p:spPr>
          <p:txBody>
            <a:bodyPr wrap="square" lIns="0" tIns="0" rIns="0" bIns="0" rtlCol="0" anchor="ctr"/>
            <a:lstStyle/>
            <a:p>
              <a:pPr marL="0" indent="0">
                <a:buNone/>
              </a:pPr>
              <a:r>
                <a:rPr lang="en-US" sz="980" dirty="0">
                  <a:solidFill>
                    <a:srgbClr val="E2E8F0"/>
                  </a:solidFill>
                </a:rPr>
                <a:t>Select feasible subset {Bcˡ} ⊂ {Bˡ} that can be physically flipped</a:t>
              </a:r>
              <a:endParaRPr lang="en-US" sz="980" dirty="0"/>
            </a:p>
          </p:txBody>
        </p:sp>
        <p:sp>
          <p:nvSpPr>
            <p:cNvPr id="34" name="Shape 32"/>
            <p:cNvSpPr/>
            <p:nvPr/>
          </p:nvSpPr>
          <p:spPr>
            <a:xfrm>
              <a:off x="3364992" y="3602736"/>
              <a:ext cx="182880" cy="182880"/>
            </a:xfrm>
            <a:prstGeom prst="rect">
              <a:avLst/>
            </a:prstGeom>
            <a:solidFill>
              <a:srgbClr val="F59E0B"/>
            </a:solidFill>
            <a:ln w="12700">
              <a:solidFill>
                <a:srgbClr val="F59E0B"/>
              </a:solidFill>
              <a:prstDash val="solid"/>
            </a:ln>
          </p:spPr>
          <p:txBody>
            <a:bodyPr/>
            <a:lstStyle/>
            <a:p>
              <a:endParaRPr lang="en-US"/>
            </a:p>
          </p:txBody>
        </p:sp>
        <p:sp>
          <p:nvSpPr>
            <p:cNvPr id="35" name="Text 33"/>
            <p:cNvSpPr/>
            <p:nvPr/>
          </p:nvSpPr>
          <p:spPr>
            <a:xfrm>
              <a:off x="3621024" y="3474719"/>
              <a:ext cx="2286000" cy="475488"/>
            </a:xfrm>
            <a:prstGeom prst="rect">
              <a:avLst/>
            </a:prstGeom>
            <a:noFill/>
          </p:spPr>
          <p:txBody>
            <a:bodyPr wrap="square" lIns="0" tIns="0" rIns="0" bIns="0" rtlCol="0" anchor="ctr"/>
            <a:lstStyle/>
            <a:p>
              <a:pPr marL="0" indent="0">
                <a:buNone/>
              </a:pPr>
              <a:r>
                <a:rPr lang="en-US" sz="980" dirty="0">
                  <a:solidFill>
                    <a:srgbClr val="E2E8F0"/>
                  </a:solidFill>
                </a:rPr>
                <a:t>Constraint enforces attack physical realizability</a:t>
              </a:r>
              <a:endParaRPr lang="en-US" sz="980" dirty="0"/>
            </a:p>
          </p:txBody>
        </p:sp>
        <p:sp>
          <p:nvSpPr>
            <p:cNvPr id="36" name="Shape 34"/>
            <p:cNvSpPr/>
            <p:nvPr/>
          </p:nvSpPr>
          <p:spPr>
            <a:xfrm>
              <a:off x="3364992" y="4151376"/>
              <a:ext cx="182880" cy="182880"/>
            </a:xfrm>
            <a:prstGeom prst="rect">
              <a:avLst/>
            </a:prstGeom>
            <a:solidFill>
              <a:srgbClr val="F59E0B"/>
            </a:solidFill>
            <a:ln w="12700">
              <a:solidFill>
                <a:srgbClr val="F59E0B"/>
              </a:solidFill>
              <a:prstDash val="solid"/>
            </a:ln>
          </p:spPr>
          <p:txBody>
            <a:bodyPr/>
            <a:lstStyle/>
            <a:p>
              <a:endParaRPr lang="en-US"/>
            </a:p>
          </p:txBody>
        </p:sp>
        <p:sp>
          <p:nvSpPr>
            <p:cNvPr id="37" name="Text 35"/>
            <p:cNvSpPr/>
            <p:nvPr/>
          </p:nvSpPr>
          <p:spPr>
            <a:xfrm>
              <a:off x="3621024" y="3968231"/>
              <a:ext cx="2286000" cy="475488"/>
            </a:xfrm>
            <a:prstGeom prst="rect">
              <a:avLst/>
            </a:prstGeom>
            <a:noFill/>
          </p:spPr>
          <p:txBody>
            <a:bodyPr wrap="square" lIns="0" tIns="0" rIns="0" bIns="0" rtlCol="0" anchor="ctr"/>
            <a:lstStyle/>
            <a:p>
              <a:pPr marL="0" indent="0">
                <a:buNone/>
              </a:pPr>
              <a:r>
                <a:rPr lang="en-US" sz="980" dirty="0">
                  <a:solidFill>
                    <a:srgbClr val="E2E8F0"/>
                  </a:solidFill>
                </a:rPr>
                <a:t>Reformulated objective: max L(f(x; {B̂cˡ}), y)</a:t>
              </a:r>
              <a:endParaRPr lang="en-US" sz="980" dirty="0"/>
            </a:p>
          </p:txBody>
        </p:sp>
        <p:sp>
          <p:nvSpPr>
            <p:cNvPr id="38" name="Shape 36"/>
            <p:cNvSpPr/>
            <p:nvPr/>
          </p:nvSpPr>
          <p:spPr>
            <a:xfrm>
              <a:off x="6016752" y="3419856"/>
              <a:ext cx="164592" cy="0"/>
            </a:xfrm>
            <a:prstGeom prst="line">
              <a:avLst/>
            </a:prstGeom>
            <a:noFill/>
            <a:ln w="19050">
              <a:solidFill>
                <a:srgbClr val="94A3B8"/>
              </a:solidFill>
              <a:prstDash val="solid"/>
            </a:ln>
          </p:spPr>
          <p:txBody>
            <a:bodyPr/>
            <a:lstStyle/>
            <a:p>
              <a:endParaRPr lang="en-US"/>
            </a:p>
          </p:txBody>
        </p:sp>
        <p:sp>
          <p:nvSpPr>
            <p:cNvPr id="39" name="Shape 37"/>
            <p:cNvSpPr/>
            <p:nvPr/>
          </p:nvSpPr>
          <p:spPr>
            <a:xfrm>
              <a:off x="6181344" y="1993392"/>
              <a:ext cx="2743200" cy="2852928"/>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40" name="Shape 38"/>
            <p:cNvSpPr/>
            <p:nvPr/>
          </p:nvSpPr>
          <p:spPr>
            <a:xfrm>
              <a:off x="6181344" y="1993392"/>
              <a:ext cx="2743200" cy="347472"/>
            </a:xfrm>
            <a:prstGeom prst="rect">
              <a:avLst/>
            </a:prstGeom>
            <a:solidFill>
              <a:srgbClr val="8B5CF6"/>
            </a:solidFill>
            <a:ln w="12700">
              <a:solidFill>
                <a:srgbClr val="8B5CF6"/>
              </a:solidFill>
              <a:prstDash val="solid"/>
            </a:ln>
          </p:spPr>
          <p:txBody>
            <a:bodyPr/>
            <a:lstStyle/>
            <a:p>
              <a:endParaRPr lang="en-US"/>
            </a:p>
          </p:txBody>
        </p:sp>
        <p:sp>
          <p:nvSpPr>
            <p:cNvPr id="41" name="Shape 39"/>
            <p:cNvSpPr/>
            <p:nvPr/>
          </p:nvSpPr>
          <p:spPr>
            <a:xfrm>
              <a:off x="6254496" y="2029968"/>
              <a:ext cx="274320" cy="274320"/>
            </a:xfrm>
            <a:prstGeom prst="ellipse">
              <a:avLst/>
            </a:prstGeom>
            <a:solidFill>
              <a:srgbClr val="FFFFFF"/>
            </a:solidFill>
            <a:ln w="12700">
              <a:solidFill>
                <a:srgbClr val="FFFFFF"/>
              </a:solidFill>
              <a:prstDash val="solid"/>
            </a:ln>
          </p:spPr>
          <p:txBody>
            <a:bodyPr/>
            <a:lstStyle/>
            <a:p>
              <a:endParaRPr lang="en-US"/>
            </a:p>
          </p:txBody>
        </p:sp>
        <p:sp>
          <p:nvSpPr>
            <p:cNvPr id="42" name="Text 40"/>
            <p:cNvSpPr/>
            <p:nvPr/>
          </p:nvSpPr>
          <p:spPr>
            <a:xfrm>
              <a:off x="6254496" y="2029968"/>
              <a:ext cx="274320" cy="274320"/>
            </a:xfrm>
            <a:prstGeom prst="rect">
              <a:avLst/>
            </a:prstGeom>
            <a:noFill/>
          </p:spPr>
          <p:txBody>
            <a:bodyPr wrap="square" lIns="0" tIns="0" rIns="0" bIns="0" rtlCol="0" anchor="ctr"/>
            <a:lstStyle/>
            <a:p>
              <a:pPr marL="0" indent="0" algn="ctr">
                <a:buNone/>
              </a:pPr>
              <a:r>
                <a:rPr lang="en-US" sz="1300" b="1" dirty="0">
                  <a:solidFill>
                    <a:srgbClr val="8B5CF6"/>
                  </a:solidFill>
                </a:rPr>
                <a:t>3</a:t>
              </a:r>
              <a:endParaRPr lang="en-US" sz="1300" dirty="0"/>
            </a:p>
          </p:txBody>
        </p:sp>
        <p:sp>
          <p:nvSpPr>
            <p:cNvPr id="43" name="Text 41"/>
            <p:cNvSpPr/>
            <p:nvPr/>
          </p:nvSpPr>
          <p:spPr>
            <a:xfrm>
              <a:off x="6592824" y="2029968"/>
              <a:ext cx="2240280" cy="182880"/>
            </a:xfrm>
            <a:prstGeom prst="rect">
              <a:avLst/>
            </a:prstGeom>
            <a:noFill/>
          </p:spPr>
          <p:txBody>
            <a:bodyPr wrap="square" lIns="0" tIns="0" rIns="0" bIns="0" rtlCol="0" anchor="ctr"/>
            <a:lstStyle/>
            <a:p>
              <a:pPr marL="0" indent="0">
                <a:buNone/>
              </a:pPr>
              <a:r>
                <a:rPr lang="en-US" sz="900" b="1" dirty="0">
                  <a:solidFill>
                    <a:srgbClr val="FFFFFF"/>
                  </a:solidFill>
                </a:rPr>
                <a:t>Phase 3</a:t>
              </a:r>
              <a:endParaRPr lang="en-US" sz="900" dirty="0"/>
            </a:p>
          </p:txBody>
        </p:sp>
        <p:sp>
          <p:nvSpPr>
            <p:cNvPr id="44" name="Text 42"/>
            <p:cNvSpPr/>
            <p:nvPr/>
          </p:nvSpPr>
          <p:spPr>
            <a:xfrm>
              <a:off x="6592824" y="2148575"/>
              <a:ext cx="2606040" cy="201168"/>
            </a:xfrm>
            <a:prstGeom prst="rect">
              <a:avLst/>
            </a:prstGeom>
            <a:noFill/>
          </p:spPr>
          <p:txBody>
            <a:bodyPr wrap="square" lIns="0" tIns="0" rIns="0" bIns="0" rtlCol="0" anchor="ctr"/>
            <a:lstStyle/>
            <a:p>
              <a:pPr marL="0" indent="0">
                <a:buNone/>
              </a:pPr>
              <a:r>
                <a:rPr lang="en-US" sz="1150" b="1" dirty="0">
                  <a:solidFill>
                    <a:srgbClr val="FFFFFF"/>
                  </a:solidFill>
                </a:rPr>
                <a:t>BFA Bit-Flip Execution</a:t>
              </a:r>
              <a:endParaRPr lang="en-US" sz="1150" dirty="0"/>
            </a:p>
          </p:txBody>
        </p:sp>
        <p:sp>
          <p:nvSpPr>
            <p:cNvPr id="45" name="Shape 43"/>
            <p:cNvSpPr/>
            <p:nvPr/>
          </p:nvSpPr>
          <p:spPr>
            <a:xfrm>
              <a:off x="6272784" y="2505456"/>
              <a:ext cx="182880" cy="182880"/>
            </a:xfrm>
            <a:prstGeom prst="rect">
              <a:avLst/>
            </a:prstGeom>
            <a:solidFill>
              <a:srgbClr val="8B5CF6"/>
            </a:solidFill>
            <a:ln w="12700">
              <a:solidFill>
                <a:srgbClr val="8B5CF6"/>
              </a:solidFill>
              <a:prstDash val="solid"/>
            </a:ln>
          </p:spPr>
          <p:txBody>
            <a:bodyPr/>
            <a:lstStyle/>
            <a:p>
              <a:endParaRPr lang="en-US"/>
            </a:p>
          </p:txBody>
        </p:sp>
        <p:sp>
          <p:nvSpPr>
            <p:cNvPr id="46" name="Text 44"/>
            <p:cNvSpPr/>
            <p:nvPr/>
          </p:nvSpPr>
          <p:spPr>
            <a:xfrm>
              <a:off x="6528816" y="2368031"/>
              <a:ext cx="2286000" cy="475488"/>
            </a:xfrm>
            <a:prstGeom prst="rect">
              <a:avLst/>
            </a:prstGeom>
            <a:noFill/>
          </p:spPr>
          <p:txBody>
            <a:bodyPr wrap="square" lIns="0" tIns="0" rIns="0" bIns="0" rtlCol="0" anchor="ctr"/>
            <a:lstStyle/>
            <a:p>
              <a:pPr marL="0" indent="0">
                <a:buNone/>
              </a:pPr>
              <a:r>
                <a:rPr lang="en-US" sz="980" dirty="0">
                  <a:solidFill>
                    <a:srgbClr val="E2E8F0"/>
                  </a:solidFill>
                </a:rPr>
                <a:t>Intra-layer search: find bit with highest |∇BcˡL| gradient</a:t>
              </a:r>
              <a:endParaRPr lang="en-US" sz="980" dirty="0"/>
            </a:p>
          </p:txBody>
        </p:sp>
        <p:sp>
          <p:nvSpPr>
            <p:cNvPr id="47" name="Shape 45"/>
            <p:cNvSpPr/>
            <p:nvPr/>
          </p:nvSpPr>
          <p:spPr>
            <a:xfrm>
              <a:off x="6272784" y="3054096"/>
              <a:ext cx="182880" cy="182880"/>
            </a:xfrm>
            <a:prstGeom prst="rect">
              <a:avLst/>
            </a:prstGeom>
            <a:solidFill>
              <a:srgbClr val="8B5CF6"/>
            </a:solidFill>
            <a:ln w="12700">
              <a:solidFill>
                <a:srgbClr val="8B5CF6"/>
              </a:solidFill>
              <a:prstDash val="solid"/>
            </a:ln>
          </p:spPr>
          <p:txBody>
            <a:bodyPr/>
            <a:lstStyle/>
            <a:p>
              <a:endParaRPr lang="en-US"/>
            </a:p>
          </p:txBody>
        </p:sp>
        <p:sp>
          <p:nvSpPr>
            <p:cNvPr id="48" name="Text 46"/>
            <p:cNvSpPr/>
            <p:nvPr/>
          </p:nvSpPr>
          <p:spPr>
            <a:xfrm>
              <a:off x="6528816" y="2916671"/>
              <a:ext cx="2286000" cy="475488"/>
            </a:xfrm>
            <a:prstGeom prst="rect">
              <a:avLst/>
            </a:prstGeom>
            <a:noFill/>
          </p:spPr>
          <p:txBody>
            <a:bodyPr wrap="square" lIns="0" tIns="0" rIns="0" bIns="0" rtlCol="0" anchor="ctr"/>
            <a:lstStyle/>
            <a:p>
              <a:pPr marL="0" indent="0">
                <a:buNone/>
              </a:pPr>
              <a:r>
                <a:rPr lang="en-US" sz="980" dirty="0">
                  <a:solidFill>
                    <a:srgbClr val="E2E8F0"/>
                  </a:solidFill>
                </a:rPr>
                <a:t>Inter-layer search: compare candidates; pick max loss layer</a:t>
              </a:r>
              <a:endParaRPr lang="en-US" sz="980" dirty="0"/>
            </a:p>
          </p:txBody>
        </p:sp>
        <p:sp>
          <p:nvSpPr>
            <p:cNvPr id="49" name="Shape 47"/>
            <p:cNvSpPr/>
            <p:nvPr/>
          </p:nvSpPr>
          <p:spPr>
            <a:xfrm>
              <a:off x="6272784" y="3602736"/>
              <a:ext cx="182880" cy="182880"/>
            </a:xfrm>
            <a:prstGeom prst="rect">
              <a:avLst/>
            </a:prstGeom>
            <a:solidFill>
              <a:srgbClr val="8B5CF6"/>
            </a:solidFill>
            <a:ln w="12700">
              <a:solidFill>
                <a:srgbClr val="8B5CF6"/>
              </a:solidFill>
              <a:prstDash val="solid"/>
            </a:ln>
          </p:spPr>
          <p:txBody>
            <a:bodyPr/>
            <a:lstStyle/>
            <a:p>
              <a:endParaRPr lang="en-US"/>
            </a:p>
          </p:txBody>
        </p:sp>
        <p:sp>
          <p:nvSpPr>
            <p:cNvPr id="50" name="Text 48"/>
            <p:cNvSpPr/>
            <p:nvPr/>
          </p:nvSpPr>
          <p:spPr>
            <a:xfrm>
              <a:off x="6528816" y="3485852"/>
              <a:ext cx="2286000" cy="475488"/>
            </a:xfrm>
            <a:prstGeom prst="rect">
              <a:avLst/>
            </a:prstGeom>
            <a:noFill/>
          </p:spPr>
          <p:txBody>
            <a:bodyPr wrap="square" lIns="0" tIns="0" rIns="0" bIns="0" rtlCol="0" anchor="ctr"/>
            <a:lstStyle/>
            <a:p>
              <a:pPr marL="0" indent="0">
                <a:buNone/>
              </a:pPr>
              <a:r>
                <a:rPr lang="en-US" sz="980" dirty="0">
                  <a:solidFill>
                    <a:srgbClr val="E2E8F0"/>
                  </a:solidFill>
                </a:rPr>
                <a:t>Flip chosen bit; iterate until model drops to random-guess</a:t>
              </a:r>
              <a:endParaRPr lang="en-US" sz="980" dirty="0"/>
            </a:p>
          </p:txBody>
        </p:sp>
        <p:sp>
          <p:nvSpPr>
            <p:cNvPr id="51" name="Shape 49"/>
            <p:cNvSpPr/>
            <p:nvPr/>
          </p:nvSpPr>
          <p:spPr>
            <a:xfrm>
              <a:off x="6272784" y="4151376"/>
              <a:ext cx="182880" cy="182880"/>
            </a:xfrm>
            <a:prstGeom prst="rect">
              <a:avLst/>
            </a:prstGeom>
            <a:solidFill>
              <a:srgbClr val="8B5CF6"/>
            </a:solidFill>
            <a:ln w="12700">
              <a:solidFill>
                <a:srgbClr val="8B5CF6"/>
              </a:solidFill>
              <a:prstDash val="solid"/>
            </a:ln>
          </p:spPr>
          <p:txBody>
            <a:bodyPr/>
            <a:lstStyle/>
            <a:p>
              <a:endParaRPr lang="en-US"/>
            </a:p>
          </p:txBody>
        </p:sp>
        <p:sp>
          <p:nvSpPr>
            <p:cNvPr id="52" name="Text 50"/>
            <p:cNvSpPr/>
            <p:nvPr/>
          </p:nvSpPr>
          <p:spPr>
            <a:xfrm>
              <a:off x="6528816" y="4032504"/>
              <a:ext cx="2286000" cy="475488"/>
            </a:xfrm>
            <a:prstGeom prst="rect">
              <a:avLst/>
            </a:prstGeom>
            <a:noFill/>
          </p:spPr>
          <p:txBody>
            <a:bodyPr wrap="square" lIns="0" tIns="0" rIns="0" bIns="0" rtlCol="0" anchor="ctr"/>
            <a:lstStyle/>
            <a:p>
              <a:pPr marL="0" indent="0">
                <a:buNone/>
              </a:pPr>
              <a:r>
                <a:rPr lang="en-US" sz="980" dirty="0">
                  <a:solidFill>
                    <a:srgbClr val="E2E8F0"/>
                  </a:solidFill>
                </a:rPr>
                <a:t>RowPress: use prolonged ACT (T &lt; tREF) instead of hammering</a:t>
              </a:r>
              <a:endParaRPr lang="en-US" sz="980" dirty="0"/>
            </a:p>
          </p:txBody>
        </p:sp>
      </p:grpSp>
      <p:sp>
        <p:nvSpPr>
          <p:cNvPr id="53" name="Shape 51"/>
          <p:cNvSpPr/>
          <p:nvPr/>
        </p:nvSpPr>
        <p:spPr>
          <a:xfrm>
            <a:off x="365760" y="4919472"/>
            <a:ext cx="8412480" cy="219456"/>
          </a:xfrm>
          <a:prstGeom prst="rect">
            <a:avLst/>
          </a:prstGeom>
          <a:solidFill>
            <a:srgbClr val="1A2A45"/>
          </a:solidFill>
          <a:ln w="12700">
            <a:solidFill>
              <a:srgbClr val="1E3A5F"/>
            </a:solidFill>
            <a:prstDash val="solid"/>
          </a:ln>
        </p:spPr>
        <p:txBody>
          <a:bodyPr/>
          <a:lstStyle/>
          <a:p>
            <a:endParaRPr lang="en-US"/>
          </a:p>
        </p:txBody>
      </p:sp>
      <p:sp>
        <p:nvSpPr>
          <p:cNvPr id="54" name="Text 52"/>
          <p:cNvSpPr/>
          <p:nvPr/>
        </p:nvSpPr>
        <p:spPr>
          <a:xfrm>
            <a:off x="457200" y="4919472"/>
            <a:ext cx="8229600" cy="219456"/>
          </a:xfrm>
          <a:prstGeom prst="rect">
            <a:avLst/>
          </a:prstGeom>
          <a:noFill/>
        </p:spPr>
        <p:txBody>
          <a:bodyPr wrap="square" lIns="0" tIns="0" rIns="0" bIns="0" rtlCol="0" anchor="ctr"/>
          <a:lstStyle/>
          <a:p>
            <a:pPr marL="0" indent="0" algn="ctr">
              <a:buNone/>
            </a:pPr>
            <a:r>
              <a:rPr lang="en-US" sz="950" dirty="0">
                <a:solidFill>
                  <a:srgbClr val="94A3B8"/>
                </a:solidFill>
              </a:rPr>
              <a:t>Hardware: Xilinx Alveo U200 FPGA  ·  Samsung DDR4 16GB (2400MHz)  ·  DRAM-Bender framework  ·  T &lt; 30°C controlled</a:t>
            </a:r>
            <a:endParaRPr lang="en-US" sz="9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8B5CF6"/>
                </a:solidFill>
              </a:rPr>
              <a:t>ROWPRESS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Bit-Flip Volume: RowPress vs. RowHammer</a:t>
            </a:r>
            <a:endParaRPr lang="en-US" sz="2400" dirty="0"/>
          </a:p>
        </p:txBody>
      </p:sp>
      <p:sp>
        <p:nvSpPr>
          <p:cNvPr id="6" name="Text 4"/>
          <p:cNvSpPr/>
          <p:nvPr/>
        </p:nvSpPr>
        <p:spPr>
          <a:xfrm>
            <a:off x="365760" y="886968"/>
            <a:ext cx="8412480" cy="256032"/>
          </a:xfrm>
          <a:prstGeom prst="rect">
            <a:avLst/>
          </a:prstGeom>
          <a:noFill/>
        </p:spPr>
        <p:txBody>
          <a:bodyPr wrap="square" lIns="0" tIns="0" rIns="0" bIns="0" rtlCol="0" anchor="ctr"/>
          <a:lstStyle/>
          <a:p>
            <a:pPr marL="0" indent="0">
              <a:buNone/>
            </a:pPr>
            <a:r>
              <a:rPr lang="en-US" sz="1200" b="1" dirty="0">
                <a:solidFill>
                  <a:srgbClr val="E2E8F0"/>
                </a:solidFill>
              </a:rPr>
              <a:t>Empirical Bit-Flip Count vs. Time Budget (Samsung DDR4)</a:t>
            </a:r>
            <a:endParaRPr lang="en-US" sz="1200" dirty="0"/>
          </a:p>
        </p:txBody>
      </p:sp>
      <p:graphicFrame>
        <p:nvGraphicFramePr>
          <p:cNvPr id="7" name="Chart 0"/>
          <p:cNvGraphicFramePr/>
          <p:nvPr/>
        </p:nvGraphicFramePr>
        <p:xfrm>
          <a:off x="365760" y="1188720"/>
          <a:ext cx="54864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4114800" y="2560320"/>
            <a:ext cx="1828800" cy="384048"/>
          </a:xfrm>
          <a:prstGeom prst="rect">
            <a:avLst/>
          </a:prstGeom>
          <a:solidFill>
            <a:srgbClr val="8B5CF6"/>
          </a:solidFill>
          <a:ln w="12700">
            <a:solidFill>
              <a:srgbClr val="8B5CF6"/>
            </a:solidFill>
            <a:prstDash val="solid"/>
          </a:ln>
        </p:spPr>
        <p:txBody>
          <a:bodyPr/>
          <a:lstStyle/>
          <a:p>
            <a:endParaRPr lang="en-US"/>
          </a:p>
        </p:txBody>
      </p:sp>
      <p:sp>
        <p:nvSpPr>
          <p:cNvPr id="9" name="Text 6"/>
          <p:cNvSpPr/>
          <p:nvPr/>
        </p:nvSpPr>
        <p:spPr>
          <a:xfrm>
            <a:off x="4114800" y="2560320"/>
            <a:ext cx="1828800" cy="384048"/>
          </a:xfrm>
          <a:prstGeom prst="rect">
            <a:avLst/>
          </a:prstGeom>
          <a:noFill/>
        </p:spPr>
        <p:txBody>
          <a:bodyPr wrap="square" lIns="0" tIns="0" rIns="0" bIns="0" rtlCol="0" anchor="ctr"/>
          <a:lstStyle/>
          <a:p>
            <a:pPr marL="0" indent="0" algn="ctr">
              <a:buNone/>
            </a:pPr>
            <a:r>
              <a:rPr lang="en-US" sz="1200" b="1" dirty="0">
                <a:solidFill>
                  <a:srgbClr val="FFFFFF"/>
                </a:solidFill>
              </a:rPr>
              <a:t>20× more</a:t>
            </a:r>
            <a:endParaRPr lang="en-US" sz="1200" dirty="0"/>
          </a:p>
          <a:p>
            <a:pPr marL="0" indent="0" algn="ctr">
              <a:buNone/>
            </a:pPr>
            <a:r>
              <a:rPr lang="en-US" sz="1200" b="1" dirty="0">
                <a:solidFill>
                  <a:srgbClr val="FFFFFF"/>
                </a:solidFill>
              </a:rPr>
              <a:t>bit-flips!</a:t>
            </a:r>
            <a:endParaRPr lang="en-US" sz="1200" dirty="0"/>
          </a:p>
        </p:txBody>
      </p:sp>
      <p:sp>
        <p:nvSpPr>
          <p:cNvPr id="10" name="Shape 7"/>
          <p:cNvSpPr/>
          <p:nvPr/>
        </p:nvSpPr>
        <p:spPr>
          <a:xfrm>
            <a:off x="6126480" y="1188720"/>
            <a:ext cx="2743200" cy="1280160"/>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8"/>
          <p:cNvSpPr/>
          <p:nvPr/>
        </p:nvSpPr>
        <p:spPr>
          <a:xfrm>
            <a:off x="6126480" y="1188720"/>
            <a:ext cx="2743200" cy="54864"/>
          </a:xfrm>
          <a:prstGeom prst="rect">
            <a:avLst/>
          </a:prstGeom>
          <a:solidFill>
            <a:srgbClr val="8B5CF6"/>
          </a:solidFill>
          <a:ln w="12700">
            <a:solidFill>
              <a:srgbClr val="8B5CF6"/>
            </a:solidFill>
            <a:prstDash val="solid"/>
          </a:ln>
        </p:spPr>
        <p:txBody>
          <a:bodyPr/>
          <a:lstStyle/>
          <a:p>
            <a:endParaRPr lang="en-US"/>
          </a:p>
        </p:txBody>
      </p:sp>
      <p:sp>
        <p:nvSpPr>
          <p:cNvPr id="12" name="Text 9"/>
          <p:cNvSpPr/>
          <p:nvPr/>
        </p:nvSpPr>
        <p:spPr>
          <a:xfrm>
            <a:off x="6126480" y="1261872"/>
            <a:ext cx="2743200" cy="566928"/>
          </a:xfrm>
          <a:prstGeom prst="rect">
            <a:avLst/>
          </a:prstGeom>
          <a:noFill/>
        </p:spPr>
        <p:txBody>
          <a:bodyPr wrap="square" lIns="0" tIns="0" rIns="0" bIns="0" rtlCol="0" anchor="ctr"/>
          <a:lstStyle/>
          <a:p>
            <a:pPr marL="0" indent="0" algn="ctr">
              <a:buNone/>
            </a:pPr>
            <a:r>
              <a:rPr lang="en-US" sz="4000" b="1" dirty="0">
                <a:solidFill>
                  <a:srgbClr val="8B5CF6"/>
                </a:solidFill>
              </a:rPr>
              <a:t>20×</a:t>
            </a:r>
            <a:endParaRPr lang="en-US" sz="4000" dirty="0"/>
          </a:p>
        </p:txBody>
      </p:sp>
      <p:sp>
        <p:nvSpPr>
          <p:cNvPr id="13" name="Text 10"/>
          <p:cNvSpPr/>
          <p:nvPr/>
        </p:nvSpPr>
        <p:spPr>
          <a:xfrm>
            <a:off x="6126480" y="1828800"/>
            <a:ext cx="2743200" cy="256032"/>
          </a:xfrm>
          <a:prstGeom prst="rect">
            <a:avLst/>
          </a:prstGeom>
          <a:noFill/>
        </p:spPr>
        <p:txBody>
          <a:bodyPr wrap="square" lIns="0" tIns="0" rIns="0" bIns="0" rtlCol="0" anchor="ctr"/>
          <a:lstStyle/>
          <a:p>
            <a:pPr marL="0" indent="0" algn="ctr">
              <a:buNone/>
            </a:pPr>
            <a:r>
              <a:rPr lang="en-US" sz="1150" dirty="0">
                <a:solidFill>
                  <a:srgbClr val="E2E8F0"/>
                </a:solidFill>
              </a:rPr>
              <a:t>more bit-flips per unit time</a:t>
            </a:r>
            <a:endParaRPr lang="en-US" sz="1150" dirty="0"/>
          </a:p>
        </p:txBody>
      </p:sp>
      <p:sp>
        <p:nvSpPr>
          <p:cNvPr id="14" name="Text 11"/>
          <p:cNvSpPr/>
          <p:nvPr/>
        </p:nvSpPr>
        <p:spPr>
          <a:xfrm>
            <a:off x="6126480" y="2103120"/>
            <a:ext cx="2743200" cy="201168"/>
          </a:xfrm>
          <a:prstGeom prst="rect">
            <a:avLst/>
          </a:prstGeom>
          <a:noFill/>
        </p:spPr>
        <p:txBody>
          <a:bodyPr wrap="square" lIns="0" tIns="0" rIns="0" bIns="0" rtlCol="0" anchor="ctr"/>
          <a:lstStyle/>
          <a:p>
            <a:pPr marL="0" indent="0" algn="ctr">
              <a:buNone/>
            </a:pPr>
            <a:r>
              <a:rPr lang="en-US" sz="900" i="1" dirty="0">
                <a:solidFill>
                  <a:srgbClr val="94A3B8"/>
                </a:solidFill>
              </a:rPr>
              <a:t>RowPress vs. RowHammer</a:t>
            </a:r>
            <a:endParaRPr lang="en-US" sz="900" dirty="0"/>
          </a:p>
        </p:txBody>
      </p:sp>
      <p:sp>
        <p:nvSpPr>
          <p:cNvPr id="15" name="Shape 12"/>
          <p:cNvSpPr/>
          <p:nvPr/>
        </p:nvSpPr>
        <p:spPr>
          <a:xfrm>
            <a:off x="6126480" y="2606040"/>
            <a:ext cx="2743200" cy="1554480"/>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16" name="Shape 13"/>
          <p:cNvSpPr/>
          <p:nvPr/>
        </p:nvSpPr>
        <p:spPr>
          <a:xfrm>
            <a:off x="6126480" y="2606040"/>
            <a:ext cx="2743200" cy="54864"/>
          </a:xfrm>
          <a:prstGeom prst="rect">
            <a:avLst/>
          </a:prstGeom>
          <a:solidFill>
            <a:srgbClr val="F59E0B"/>
          </a:solidFill>
          <a:ln w="12700">
            <a:solidFill>
              <a:srgbClr val="F59E0B"/>
            </a:solidFill>
            <a:prstDash val="solid"/>
          </a:ln>
        </p:spPr>
        <p:txBody>
          <a:bodyPr/>
          <a:lstStyle/>
          <a:p>
            <a:endParaRPr lang="en-US"/>
          </a:p>
        </p:txBody>
      </p:sp>
      <p:sp>
        <p:nvSpPr>
          <p:cNvPr id="17" name="Text 14"/>
          <p:cNvSpPr/>
          <p:nvPr/>
        </p:nvSpPr>
        <p:spPr>
          <a:xfrm>
            <a:off x="6172200" y="2679192"/>
            <a:ext cx="2651760" cy="256032"/>
          </a:xfrm>
          <a:prstGeom prst="rect">
            <a:avLst/>
          </a:prstGeom>
          <a:noFill/>
        </p:spPr>
        <p:txBody>
          <a:bodyPr wrap="square" lIns="0" tIns="0" rIns="0" bIns="0" rtlCol="0" anchor="ctr"/>
          <a:lstStyle/>
          <a:p>
            <a:pPr marL="0" indent="0">
              <a:buNone/>
            </a:pPr>
            <a:r>
              <a:rPr lang="en-US" sz="1100" b="1" dirty="0">
                <a:solidFill>
                  <a:srgbClr val="F59E0B"/>
                </a:solidFill>
              </a:rPr>
              <a:t>Equivalence Calculation</a:t>
            </a:r>
            <a:endParaRPr lang="en-US" sz="1100" dirty="0"/>
          </a:p>
        </p:txBody>
      </p:sp>
      <p:sp>
        <p:nvSpPr>
          <p:cNvPr id="18" name="Text 15"/>
          <p:cNvSpPr/>
          <p:nvPr/>
        </p:nvSpPr>
        <p:spPr>
          <a:xfrm>
            <a:off x="6172200" y="2953512"/>
            <a:ext cx="2651760" cy="1097280"/>
          </a:xfrm>
          <a:prstGeom prst="rect">
            <a:avLst/>
          </a:prstGeom>
          <a:noFill/>
        </p:spPr>
        <p:txBody>
          <a:bodyPr wrap="square" rtlCol="0" anchor="ctr"/>
          <a:lstStyle/>
          <a:p>
            <a:pPr marL="0" indent="0">
              <a:buNone/>
            </a:pPr>
            <a:r>
              <a:rPr lang="en-US" sz="1100" b="1" dirty="0">
                <a:solidFill>
                  <a:srgbClr val="8B5CF6"/>
                </a:solidFill>
                <a:latin typeface="Calibri" panose="020F0502020204030204" pitchFamily="34" charset="0"/>
                <a:ea typeface="Calibri" panose="020F0502020204030204" pitchFamily="34" charset="-122"/>
                <a:cs typeface="Calibri" panose="020F0502020204030204" pitchFamily="34" charset="-120"/>
              </a:rPr>
              <a:t>100M RP cycles </a:t>
            </a:r>
            <a:r>
              <a:rPr lang="en-US" sz="1100" dirty="0">
                <a:solidFill>
                  <a:srgbClr val="E2E8F0"/>
                </a:solidFill>
                <a:latin typeface="Calibri" panose="020F0502020204030204" pitchFamily="34" charset="0"/>
                <a:ea typeface="Calibri" panose="020F0502020204030204" pitchFamily="34" charset="-122"/>
                <a:cs typeface="Calibri" panose="020F0502020204030204" pitchFamily="34" charset="-120"/>
              </a:rPr>
              <a:t>@2400MHz</a:t>
            </a:r>
            <a:endParaRPr lang="en-US" sz="1100" dirty="0"/>
          </a:p>
          <a:p>
            <a:pPr marL="0" indent="0">
              <a:buNone/>
            </a:pPr>
            <a:r>
              <a:rPr lang="en-US" sz="1100" dirty="0">
                <a:solidFill>
                  <a:srgbClr val="E2E8F0"/>
                </a:solidFill>
                <a:latin typeface="Calibri" panose="020F0502020204030204" pitchFamily="34" charset="0"/>
                <a:ea typeface="Calibri" panose="020F0502020204030204" pitchFamily="34" charset="-122"/>
                <a:cs typeface="Calibri" panose="020F0502020204030204" pitchFamily="34" charset="-120"/>
              </a:rPr>
              <a:t>= 41.67ms</a:t>
            </a:r>
            <a:endParaRPr lang="en-US" sz="1100" dirty="0"/>
          </a:p>
          <a:p>
            <a:pPr marL="0" indent="0">
              <a:buNone/>
            </a:pPr>
            <a:r>
              <a:rPr lang="en-US" sz="1100" dirty="0">
                <a:solidFill>
                  <a:srgbClr val="E2E8F0"/>
                </a:solidFill>
                <a:latin typeface="Calibri" panose="020F0502020204030204" pitchFamily="34" charset="0"/>
                <a:ea typeface="Calibri" panose="020F0502020204030204" pitchFamily="34" charset="-122"/>
                <a:cs typeface="Calibri" panose="020F0502020204030204" pitchFamily="34" charset="-120"/>
              </a:rPr>
              <a:t>≈ </a:t>
            </a:r>
            <a:endParaRPr lang="en-US" sz="1100" dirty="0"/>
          </a:p>
          <a:p>
            <a:pPr marL="0" indent="0">
              <a:buNone/>
            </a:pPr>
            <a:r>
              <a:rPr lang="en-US" sz="1100" b="1" dirty="0">
                <a:solidFill>
                  <a:srgbClr val="F59E0B"/>
                </a:solidFill>
                <a:latin typeface="Calibri" panose="020F0502020204030204" pitchFamily="34" charset="0"/>
                <a:ea typeface="Calibri" panose="020F0502020204030204" pitchFamily="34" charset="-122"/>
                <a:cs typeface="Calibri" panose="020F0502020204030204" pitchFamily="34" charset="-120"/>
              </a:rPr>
              <a:t>885.5K RH hammer counts</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(tREF=64ms baseline)</a:t>
            </a:r>
            <a:endParaRPr lang="en-US" sz="1100" dirty="0"/>
          </a:p>
        </p:txBody>
      </p:sp>
      <p:sp>
        <p:nvSpPr>
          <p:cNvPr id="19" name="Shape 16"/>
          <p:cNvSpPr/>
          <p:nvPr/>
        </p:nvSpPr>
        <p:spPr>
          <a:xfrm>
            <a:off x="365760" y="4251960"/>
            <a:ext cx="8412480" cy="640080"/>
          </a:xfrm>
          <a:prstGeom prst="rect">
            <a:avLst/>
          </a:prstGeom>
          <a:solidFill>
            <a:srgbClr val="1A2A45"/>
          </a:solidFill>
          <a:ln w="19050">
            <a:solidFill>
              <a:srgbClr val="8B5CF6"/>
            </a:solidFill>
            <a:prstDash val="solid"/>
          </a:ln>
        </p:spPr>
        <p:txBody>
          <a:bodyPr/>
          <a:lstStyle/>
          <a:p>
            <a:endParaRPr lang="en-US"/>
          </a:p>
        </p:txBody>
      </p:sp>
      <p:sp>
        <p:nvSpPr>
          <p:cNvPr id="20" name="Shape 17"/>
          <p:cNvSpPr/>
          <p:nvPr/>
        </p:nvSpPr>
        <p:spPr>
          <a:xfrm>
            <a:off x="365760" y="4251960"/>
            <a:ext cx="73152" cy="640080"/>
          </a:xfrm>
          <a:prstGeom prst="rect">
            <a:avLst/>
          </a:prstGeom>
          <a:solidFill>
            <a:srgbClr val="8B5CF6"/>
          </a:solidFill>
          <a:ln w="12700">
            <a:solidFill>
              <a:srgbClr val="8B5CF6"/>
            </a:solidFill>
            <a:prstDash val="solid"/>
          </a:ln>
        </p:spPr>
        <p:txBody>
          <a:bodyPr/>
          <a:lstStyle/>
          <a:p>
            <a:endParaRPr lang="en-US"/>
          </a:p>
        </p:txBody>
      </p:sp>
      <p:sp>
        <p:nvSpPr>
          <p:cNvPr id="21" name="Text 18"/>
          <p:cNvSpPr/>
          <p:nvPr/>
        </p:nvSpPr>
        <p:spPr>
          <a:xfrm>
            <a:off x="548640" y="4315968"/>
            <a:ext cx="1371600" cy="256032"/>
          </a:xfrm>
          <a:prstGeom prst="rect">
            <a:avLst/>
          </a:prstGeom>
          <a:noFill/>
        </p:spPr>
        <p:txBody>
          <a:bodyPr wrap="square" lIns="0" tIns="0" rIns="0" bIns="0" rtlCol="0" anchor="ctr"/>
          <a:lstStyle/>
          <a:p>
            <a:pPr marL="0" indent="0">
              <a:buNone/>
            </a:pPr>
            <a:r>
              <a:rPr lang="en-US" sz="1200" b="1" dirty="0">
                <a:solidFill>
                  <a:srgbClr val="8B5CF6"/>
                </a:solidFill>
              </a:rPr>
              <a:t>Takeaway 1:</a:t>
            </a:r>
            <a:endParaRPr lang="en-US" sz="1200" dirty="0"/>
          </a:p>
        </p:txBody>
      </p:sp>
      <p:sp>
        <p:nvSpPr>
          <p:cNvPr id="22" name="Text 19"/>
          <p:cNvSpPr/>
          <p:nvPr/>
        </p:nvSpPr>
        <p:spPr>
          <a:xfrm>
            <a:off x="1535264" y="4224528"/>
            <a:ext cx="6675120" cy="566928"/>
          </a:xfrm>
          <a:prstGeom prst="rect">
            <a:avLst/>
          </a:prstGeom>
          <a:noFill/>
        </p:spPr>
        <p:txBody>
          <a:bodyPr wrap="square" lIns="0" tIns="0" rIns="0" bIns="0" rtlCol="0" anchor="ctr"/>
          <a:lstStyle/>
          <a:p>
            <a:pPr marL="0" indent="0">
              <a:buNone/>
            </a:pPr>
            <a:r>
              <a:rPr lang="en-US" sz="1100" dirty="0">
                <a:solidFill>
                  <a:srgbClr val="E2E8F0"/>
                </a:solidFill>
              </a:rPr>
              <a:t>Given the same attack time budget, RowPress produces 20× more bit-flips than RowHammer — enabling far more extensive DRAM disruption and making it a substantially stealthier and more potent attack vector.</a:t>
            </a:r>
            <a:endParaRPr lang="en-US" sz="11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8B5CF6"/>
                </a:solidFill>
              </a:rPr>
              <a:t>ROWPRESS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RowPress vs. RowHammer: DNN Results</a:t>
            </a:r>
            <a:endParaRPr lang="en-US" sz="2400" dirty="0"/>
          </a:p>
        </p:txBody>
      </p:sp>
      <p:sp>
        <p:nvSpPr>
          <p:cNvPr id="6" name="Text 4"/>
          <p:cNvSpPr/>
          <p:nvPr/>
        </p:nvSpPr>
        <p:spPr>
          <a:xfrm>
            <a:off x="365760" y="886968"/>
            <a:ext cx="8412480" cy="256032"/>
          </a:xfrm>
          <a:prstGeom prst="rect">
            <a:avLst/>
          </a:prstGeom>
          <a:noFill/>
        </p:spPr>
        <p:txBody>
          <a:bodyPr wrap="square" lIns="0" tIns="0" rIns="0" bIns="0" rtlCol="0" anchor="ctr"/>
          <a:lstStyle/>
          <a:p>
            <a:pPr marL="0" indent="0">
              <a:buNone/>
            </a:pPr>
            <a:r>
              <a:rPr lang="en-US" sz="1200" b="1" dirty="0">
                <a:solidFill>
                  <a:srgbClr val="E2E8F0"/>
                </a:solidFill>
              </a:rPr>
              <a:t>Bit-Flips Required to Reduce DNN to Random-Guess Level</a:t>
            </a:r>
            <a:endParaRPr lang="en-US" sz="1200" dirty="0"/>
          </a:p>
        </p:txBody>
      </p:sp>
      <p:graphicFrame>
        <p:nvGraphicFramePr>
          <p:cNvPr id="18" name="Table 0"/>
          <p:cNvGraphicFramePr>
            <a:graphicFrameLocks noGrp="1"/>
          </p:cNvGraphicFramePr>
          <p:nvPr/>
        </p:nvGraphicFramePr>
        <p:xfrm>
          <a:off x="365760" y="1188720"/>
          <a:ext cx="6675120" cy="3621024"/>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301752">
                <a:tc>
                  <a:txBody>
                    <a:bodyPr/>
                    <a:lstStyle/>
                    <a:p>
                      <a:pPr marL="0" indent="0">
                        <a:buNone/>
                      </a:pPr>
                      <a:r>
                        <a:rPr lang="en-US" sz="1000" b="1" dirty="0">
                          <a:solidFill>
                            <a:srgbClr val="FFFFFF"/>
                          </a:solidFill>
                        </a:rPr>
                        <a:t>Architecture</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FFFFFF"/>
                          </a:solidFill>
                        </a:rPr>
                        <a:t>Dataset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FFFFFF"/>
                          </a:solidFill>
                        </a:rPr>
                        <a:t>#Params</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FFFFFF"/>
                          </a:solidFill>
                        </a:rPr>
                        <a:t>Acc. Before</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F59E0B"/>
                          </a:solidFill>
                        </a:rPr>
                        <a:t>RH Flips</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8B5CF6"/>
                          </a:solidFill>
                        </a:rPr>
                        <a:t>RP Flips</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tc>
                  <a:txBody>
                    <a:bodyPr/>
                    <a:lstStyle/>
                    <a:p>
                      <a:pPr marL="0" indent="0">
                        <a:buNone/>
                      </a:pPr>
                      <a:r>
                        <a:rPr lang="en-US" sz="1000" b="1" dirty="0">
                          <a:solidFill>
                            <a:srgbClr val="22C55E"/>
                          </a:solidFill>
                        </a:rPr>
                        <a:t>Speedup</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E2E8F0"/>
                          </a:solidFill>
                        </a:rPr>
                        <a:t>ResNet-20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CIFAR-10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0.27M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92.42%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36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8</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4.5×</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000" dirty="0">
                          <a:solidFill>
                            <a:srgbClr val="E2E8F0"/>
                          </a:solidFill>
                        </a:rPr>
                        <a:t>ResNet-32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CIFAR-10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0.47M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93.44%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60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11</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5.5×</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1000" dirty="0">
                          <a:solidFill>
                            <a:srgbClr val="E2E8F0"/>
                          </a:solidFill>
                        </a:rPr>
                        <a:t>ResNet-44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CIFAR-10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0.66M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93.90%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53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3.8×</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000" dirty="0">
                          <a:solidFill>
                            <a:srgbClr val="E2E8F0"/>
                          </a:solidFill>
                        </a:rPr>
                        <a:t>ResNet-34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21.8M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73.12%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35</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11</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buNone/>
                      </a:pPr>
                      <a:r>
                        <a:rPr lang="en-US" sz="1000" dirty="0">
                          <a:solidFill>
                            <a:srgbClr val="E2E8F0"/>
                          </a:solidFill>
                        </a:rPr>
                        <a:t>ResNet-50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25.6M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75.84%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26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1000" dirty="0">
                          <a:solidFill>
                            <a:srgbClr val="E2E8F0"/>
                          </a:solidFill>
                        </a:rPr>
                        <a:t>ResNet-101</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44.6M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77.20%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30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11</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2.7×</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buNone/>
                      </a:pPr>
                      <a:r>
                        <a:rPr lang="en-US" sz="1000" dirty="0">
                          <a:solidFill>
                            <a:srgbClr val="E2E8F0"/>
                          </a:solidFill>
                        </a:rPr>
                        <a:t>DeiT-T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5.7M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71.95%</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143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45</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buNone/>
                      </a:pPr>
                      <a:r>
                        <a:rPr lang="en-US" sz="1000" dirty="0">
                          <a:solidFill>
                            <a:srgbClr val="E2E8F0"/>
                          </a:solidFill>
                        </a:rPr>
                        <a:t>DeiT-S</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22M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79.63%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56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24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buNone/>
                      </a:pPr>
                      <a:r>
                        <a:rPr lang="en-US" sz="1000" dirty="0">
                          <a:solidFill>
                            <a:srgbClr val="E2E8F0"/>
                          </a:solidFill>
                        </a:rPr>
                        <a:t>DeiT-B</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86.6M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81.70%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47</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09"/>
                  </a:ext>
                </a:extLst>
              </a:tr>
              <a:tr h="301752">
                <a:tc>
                  <a:txBody>
                    <a:bodyPr/>
                    <a:lstStyle/>
                    <a:p>
                      <a:pPr marL="0" indent="0">
                        <a:buNone/>
                      </a:pPr>
                      <a:r>
                        <a:rPr lang="en-US" sz="1000" dirty="0">
                          <a:solidFill>
                            <a:srgbClr val="E2E8F0"/>
                          </a:solidFill>
                        </a:rPr>
                        <a:t>VMamba-T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ImageNet</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23M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81.82%</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79</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24</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3.3×</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10"/>
                  </a:ext>
                </a:extLst>
              </a:tr>
              <a:tr h="301752">
                <a:tc>
                  <a:txBody>
                    <a:bodyPr/>
                    <a:lstStyle/>
                    <a:p>
                      <a:pPr marL="0" indent="0">
                        <a:buNone/>
                      </a:pPr>
                      <a:r>
                        <a:rPr lang="en-US" sz="1000" dirty="0">
                          <a:solidFill>
                            <a:srgbClr val="E2E8F0"/>
                          </a:solidFill>
                        </a:rPr>
                        <a:t>M11 (Speech)</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Google SC</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1.8M</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93.20%</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F59E0B"/>
                          </a:solidFill>
                        </a:rPr>
                        <a:t>68</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b="1" dirty="0">
                          <a:solidFill>
                            <a:srgbClr val="8B5CF6"/>
                          </a:solidFill>
                        </a:rPr>
                        <a:t>19</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marL="0" indent="0">
                        <a:buNone/>
                      </a:pPr>
                      <a:r>
                        <a:rPr lang="en-US" sz="1000" dirty="0">
                          <a:solidFill>
                            <a:srgbClr val="E2E8F0"/>
                          </a:solidFill>
                        </a:rPr>
                        <a:t>3.6×</a:t>
                      </a:r>
                      <a:endParaRPr lang="en-US" sz="10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8" name="Shape 5"/>
          <p:cNvSpPr/>
          <p:nvPr/>
        </p:nvSpPr>
        <p:spPr>
          <a:xfrm>
            <a:off x="0" y="4919472"/>
            <a:ext cx="9144000" cy="219456"/>
          </a:xfrm>
          <a:prstGeom prst="rect">
            <a:avLst/>
          </a:prstGeom>
          <a:solidFill>
            <a:srgbClr val="1A2A45"/>
          </a:solidFill>
          <a:ln w="12700">
            <a:solidFill>
              <a:srgbClr val="1E3A5F"/>
            </a:solidFill>
            <a:prstDash val="solid"/>
          </a:ln>
        </p:spPr>
        <p:txBody>
          <a:bodyPr/>
          <a:lstStyle/>
          <a:p>
            <a:endParaRPr lang="en-US"/>
          </a:p>
        </p:txBody>
      </p:sp>
      <p:sp>
        <p:nvSpPr>
          <p:cNvPr id="9" name="Text 6"/>
          <p:cNvSpPr/>
          <p:nvPr/>
        </p:nvSpPr>
        <p:spPr>
          <a:xfrm>
            <a:off x="274320" y="4919472"/>
            <a:ext cx="8595360" cy="219456"/>
          </a:xfrm>
          <a:prstGeom prst="rect">
            <a:avLst/>
          </a:prstGeom>
          <a:noFill/>
        </p:spPr>
        <p:txBody>
          <a:bodyPr wrap="square" lIns="0" tIns="0" rIns="0" bIns="0" rtlCol="0" anchor="ctr"/>
          <a:lstStyle/>
          <a:p>
            <a:pPr marL="0" indent="0" algn="ctr">
              <a:buNone/>
            </a:pPr>
            <a:r>
              <a:rPr lang="en-US" sz="1050" b="1" dirty="0">
                <a:solidFill>
                  <a:srgbClr val="8B5CF6"/>
                </a:solidFill>
              </a:rPr>
              <a:t>Average 3.6× fewer bit-flips with RowPress  ·  Max 45 bit-flips to deplete any tested model</a:t>
            </a:r>
            <a:endParaRPr lang="en-US" sz="10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5CF6"/>
          </a:solidFill>
          <a:ln w="12700">
            <a:solidFill>
              <a:srgbClr val="8B5CF6"/>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640080" y="182880"/>
            <a:ext cx="3200400" cy="182880"/>
          </a:xfrm>
          <a:prstGeom prst="rect">
            <a:avLst/>
          </a:prstGeom>
          <a:noFill/>
        </p:spPr>
        <p:txBody>
          <a:bodyPr wrap="square" lIns="0" tIns="0" rIns="0" bIns="0" rtlCol="0" anchor="ctr"/>
          <a:lstStyle/>
          <a:p>
            <a:pPr marL="0" indent="0">
              <a:buNone/>
            </a:pPr>
            <a:r>
              <a:rPr lang="en-US" sz="900" b="1" kern="0" spc="200" dirty="0">
                <a:solidFill>
                  <a:srgbClr val="8B5CF6"/>
                </a:solidFill>
              </a:rPr>
              <a:t>ROWPRESS  </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400" b="1" dirty="0">
                <a:solidFill>
                  <a:srgbClr val="FFFFFF"/>
                </a:solidFill>
              </a:rPr>
              <a:t>DNN Accuracy Degradation: RP vs. RH</a:t>
            </a:r>
            <a:endParaRPr lang="en-US" sz="2400" dirty="0"/>
          </a:p>
        </p:txBody>
      </p:sp>
      <p:sp>
        <p:nvSpPr>
          <p:cNvPr id="6" name="Text 4"/>
          <p:cNvSpPr/>
          <p:nvPr/>
        </p:nvSpPr>
        <p:spPr>
          <a:xfrm>
            <a:off x="365760" y="751918"/>
            <a:ext cx="4114800" cy="228600"/>
          </a:xfrm>
          <a:prstGeom prst="rect">
            <a:avLst/>
          </a:prstGeom>
          <a:noFill/>
        </p:spPr>
        <p:txBody>
          <a:bodyPr wrap="square" lIns="0" tIns="0" rIns="0" bIns="0" rtlCol="0" anchor="ctr"/>
          <a:lstStyle/>
          <a:p>
            <a:pPr marL="0" indent="0">
              <a:buNone/>
            </a:pPr>
            <a:r>
              <a:rPr lang="en-US" sz="1200" b="1" dirty="0">
                <a:solidFill>
                  <a:srgbClr val="E2E8F0"/>
                </a:solidFill>
              </a:rPr>
              <a:t>ResNet-50 / ImageNet</a:t>
            </a:r>
            <a:endParaRPr lang="en-US" sz="1200" dirty="0"/>
          </a:p>
        </p:txBody>
      </p:sp>
      <p:graphicFrame>
        <p:nvGraphicFramePr>
          <p:cNvPr id="7" name="Chart 0"/>
          <p:cNvGraphicFramePr/>
          <p:nvPr>
            <p:extLst>
              <p:ext uri="{D42A27DB-BD31-4B8C-83A1-F6EECF244321}">
                <p14:modId xmlns:p14="http://schemas.microsoft.com/office/powerpoint/2010/main" val="2751650274"/>
              </p:ext>
            </p:extLst>
          </p:nvPr>
        </p:nvGraphicFramePr>
        <p:xfrm>
          <a:off x="365760" y="999990"/>
          <a:ext cx="4114800" cy="1898658"/>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937760" y="745236"/>
            <a:ext cx="4114800" cy="228600"/>
          </a:xfrm>
          <a:prstGeom prst="rect">
            <a:avLst/>
          </a:prstGeom>
          <a:noFill/>
        </p:spPr>
        <p:txBody>
          <a:bodyPr wrap="square" lIns="0" tIns="0" rIns="0" bIns="0" rtlCol="0" anchor="ctr"/>
          <a:lstStyle/>
          <a:p>
            <a:pPr marL="0" indent="0">
              <a:buNone/>
            </a:pPr>
            <a:r>
              <a:rPr lang="en-US" sz="1200" b="1" dirty="0">
                <a:solidFill>
                  <a:srgbClr val="E2E8F0"/>
                </a:solidFill>
              </a:rPr>
              <a:t>DeiT-B / ImageNet</a:t>
            </a:r>
            <a:endParaRPr lang="en-US" sz="1200" dirty="0"/>
          </a:p>
        </p:txBody>
      </p:sp>
      <p:graphicFrame>
        <p:nvGraphicFramePr>
          <p:cNvPr id="9" name="Chart 1"/>
          <p:cNvGraphicFramePr/>
          <p:nvPr>
            <p:extLst>
              <p:ext uri="{D42A27DB-BD31-4B8C-83A1-F6EECF244321}">
                <p14:modId xmlns:p14="http://schemas.microsoft.com/office/powerpoint/2010/main" val="2897528339"/>
              </p:ext>
            </p:extLst>
          </p:nvPr>
        </p:nvGraphicFramePr>
        <p:xfrm>
          <a:off x="4937760" y="973836"/>
          <a:ext cx="4114800" cy="189434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365760" y="2868180"/>
            <a:ext cx="4114800" cy="228600"/>
          </a:xfrm>
          <a:prstGeom prst="rect">
            <a:avLst/>
          </a:prstGeom>
          <a:noFill/>
        </p:spPr>
        <p:txBody>
          <a:bodyPr wrap="square" lIns="0" tIns="0" rIns="0" bIns="0" rtlCol="0" anchor="ctr"/>
          <a:lstStyle/>
          <a:p>
            <a:pPr marL="0" indent="0">
              <a:buNone/>
            </a:pPr>
            <a:r>
              <a:rPr lang="en-US" sz="1200" b="1" dirty="0">
                <a:solidFill>
                  <a:srgbClr val="E2E8F0"/>
                </a:solidFill>
              </a:rPr>
              <a:t>VMamba-T / ImageNet</a:t>
            </a:r>
            <a:endParaRPr lang="en-US" sz="1200" dirty="0"/>
          </a:p>
        </p:txBody>
      </p:sp>
      <p:graphicFrame>
        <p:nvGraphicFramePr>
          <p:cNvPr id="11" name="Chart 2"/>
          <p:cNvGraphicFramePr/>
          <p:nvPr>
            <p:extLst>
              <p:ext uri="{D42A27DB-BD31-4B8C-83A1-F6EECF244321}">
                <p14:modId xmlns:p14="http://schemas.microsoft.com/office/powerpoint/2010/main" val="1260248716"/>
              </p:ext>
            </p:extLst>
          </p:nvPr>
        </p:nvGraphicFramePr>
        <p:xfrm>
          <a:off x="365760" y="3096780"/>
          <a:ext cx="4114800" cy="1882128"/>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7"/>
          <p:cNvSpPr/>
          <p:nvPr/>
        </p:nvSpPr>
        <p:spPr>
          <a:xfrm>
            <a:off x="4937760" y="2873502"/>
            <a:ext cx="4114800" cy="228600"/>
          </a:xfrm>
          <a:prstGeom prst="rect">
            <a:avLst/>
          </a:prstGeom>
          <a:noFill/>
        </p:spPr>
        <p:txBody>
          <a:bodyPr wrap="square" lIns="0" tIns="0" rIns="0" bIns="0" rtlCol="0" anchor="ctr"/>
          <a:lstStyle/>
          <a:p>
            <a:pPr marL="0" indent="0">
              <a:buNone/>
            </a:pPr>
            <a:r>
              <a:rPr lang="en-US" sz="1200" b="1" dirty="0">
                <a:solidFill>
                  <a:srgbClr val="E2E8F0"/>
                </a:solidFill>
              </a:rPr>
              <a:t>M11 / Google Speech</a:t>
            </a:r>
            <a:endParaRPr lang="en-US" sz="1200" dirty="0"/>
          </a:p>
        </p:txBody>
      </p:sp>
      <p:graphicFrame>
        <p:nvGraphicFramePr>
          <p:cNvPr id="13" name="Chart 3"/>
          <p:cNvGraphicFramePr/>
          <p:nvPr>
            <p:extLst>
              <p:ext uri="{D42A27DB-BD31-4B8C-83A1-F6EECF244321}">
                <p14:modId xmlns:p14="http://schemas.microsoft.com/office/powerpoint/2010/main" val="638608396"/>
              </p:ext>
            </p:extLst>
          </p:nvPr>
        </p:nvGraphicFramePr>
        <p:xfrm>
          <a:off x="4937760" y="3108320"/>
          <a:ext cx="4114800" cy="1882128"/>
        </p:xfrm>
        <a:graphic>
          <a:graphicData uri="http://schemas.openxmlformats.org/drawingml/2006/chart">
            <c:chart xmlns:c="http://schemas.openxmlformats.org/drawingml/2006/chart" xmlns:r="http://schemas.openxmlformats.org/officeDocument/2006/relationships" r:id="rId6"/>
          </a:graphicData>
        </a:graphic>
      </p:graphicFrame>
      <p:sp>
        <p:nvSpPr>
          <p:cNvPr id="14" name="Shape 8"/>
          <p:cNvSpPr/>
          <p:nvPr/>
        </p:nvSpPr>
        <p:spPr>
          <a:xfrm>
            <a:off x="0" y="4919472"/>
            <a:ext cx="9144000" cy="219456"/>
          </a:xfrm>
          <a:prstGeom prst="rect">
            <a:avLst/>
          </a:prstGeom>
          <a:solidFill>
            <a:srgbClr val="1A2A45"/>
          </a:solidFill>
          <a:ln w="12700">
            <a:solidFill>
              <a:srgbClr val="1E3A5F"/>
            </a:solidFill>
            <a:prstDash val="solid"/>
          </a:ln>
        </p:spPr>
        <p:txBody>
          <a:bodyPr/>
          <a:lstStyle/>
          <a:p>
            <a:endParaRPr lang="en-US"/>
          </a:p>
        </p:txBody>
      </p:sp>
      <p:sp>
        <p:nvSpPr>
          <p:cNvPr id="15" name="Text 9"/>
          <p:cNvSpPr/>
          <p:nvPr/>
        </p:nvSpPr>
        <p:spPr>
          <a:xfrm>
            <a:off x="274320" y="4919472"/>
            <a:ext cx="8595360" cy="219456"/>
          </a:xfrm>
          <a:prstGeom prst="rect">
            <a:avLst/>
          </a:prstGeom>
          <a:noFill/>
        </p:spPr>
        <p:txBody>
          <a:bodyPr wrap="square" lIns="0" tIns="0" rIns="0" bIns="0" rtlCol="0" anchor="ctr"/>
          <a:lstStyle/>
          <a:p>
            <a:pPr marL="0" indent="0" algn="ctr">
              <a:buNone/>
            </a:pPr>
            <a:r>
              <a:rPr lang="en-US" sz="1050" dirty="0">
                <a:solidFill>
                  <a:srgbClr val="E2E8F0"/>
                </a:solidFill>
              </a:rPr>
              <a:t>RP curves (purple) drop far steeper than RH (orange) — confirming higher attack efficiency across all architectures</a:t>
            </a:r>
            <a:endParaRPr lang="en-US" sz="10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2C55E"/>
          </a:solidFill>
          <a:ln w="12700">
            <a:solidFill>
              <a:srgbClr val="22C55E"/>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22C55E"/>
          </a:solidFill>
          <a:ln w="12700">
            <a:solidFill>
              <a:srgbClr val="22C55E"/>
            </a:solidFill>
            <a:prstDash val="solid"/>
          </a:ln>
        </p:spPr>
        <p:txBody>
          <a:bodyPr/>
          <a:lstStyle/>
          <a:p>
            <a:endParaRPr lang="en-US"/>
          </a:p>
        </p:txBody>
      </p:sp>
      <p:sp>
        <p:nvSpPr>
          <p:cNvPr id="4" name="Text 2"/>
          <p:cNvSpPr/>
          <p:nvPr/>
        </p:nvSpPr>
        <p:spPr>
          <a:xfrm>
            <a:off x="640080" y="182880"/>
            <a:ext cx="1828800" cy="182880"/>
          </a:xfrm>
          <a:prstGeom prst="rect">
            <a:avLst/>
          </a:prstGeom>
          <a:noFill/>
        </p:spPr>
        <p:txBody>
          <a:bodyPr wrap="square" lIns="0" tIns="0" rIns="0" bIns="0" rtlCol="0" anchor="ctr"/>
          <a:lstStyle/>
          <a:p>
            <a:pPr marL="0" indent="0">
              <a:buNone/>
            </a:pPr>
            <a:r>
              <a:rPr lang="en-US" sz="900" b="1" kern="0" spc="200" dirty="0">
                <a:solidFill>
                  <a:srgbClr val="22C55E"/>
                </a:solidFill>
              </a:rPr>
              <a:t>DEFENSES</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Existing Defenses: Evaluation &amp; Gaps</a:t>
            </a:r>
            <a:endParaRPr lang="en-US" sz="2600" dirty="0"/>
          </a:p>
        </p:txBody>
      </p:sp>
      <p:sp>
        <p:nvSpPr>
          <p:cNvPr id="6" name="Shape 4"/>
          <p:cNvSpPr/>
          <p:nvPr/>
        </p:nvSpPr>
        <p:spPr>
          <a:xfrm>
            <a:off x="365760" y="886968"/>
            <a:ext cx="5029200" cy="3977640"/>
          </a:xfrm>
          <a:prstGeom prst="rect">
            <a:avLst/>
          </a:prstGeom>
          <a:solidFill>
            <a:srgbClr val="162035"/>
          </a:solidFill>
          <a:ln w="1270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02920" y="941832"/>
            <a:ext cx="4754880" cy="274320"/>
          </a:xfrm>
          <a:prstGeom prst="rect">
            <a:avLst/>
          </a:prstGeom>
          <a:noFill/>
        </p:spPr>
        <p:txBody>
          <a:bodyPr wrap="square" lIns="0" tIns="0" rIns="0" bIns="0" rtlCol="0" anchor="ctr"/>
          <a:lstStyle/>
          <a:p>
            <a:pPr marL="0" indent="0">
              <a:buNone/>
            </a:pPr>
            <a:r>
              <a:rPr lang="en-US" sz="1300" b="1" dirty="0">
                <a:solidFill>
                  <a:srgbClr val="E2E8F0"/>
                </a:solidFill>
              </a:rPr>
              <a:t>Defense Methods &amp; Their Applicability</a:t>
            </a:r>
            <a:endParaRPr lang="en-US" sz="1300" dirty="0"/>
          </a:p>
        </p:txBody>
      </p:sp>
      <p:sp>
        <p:nvSpPr>
          <p:cNvPr id="8" name="Shape 6"/>
          <p:cNvSpPr/>
          <p:nvPr/>
        </p:nvSpPr>
        <p:spPr>
          <a:xfrm>
            <a:off x="502920" y="1307592"/>
            <a:ext cx="4754880" cy="530352"/>
          </a:xfrm>
          <a:prstGeom prst="rect">
            <a:avLst/>
          </a:prstGeom>
          <a:solidFill>
            <a:srgbClr val="1A2A45"/>
          </a:solidFill>
          <a:ln w="6350">
            <a:solidFill>
              <a:srgbClr val="1E3A5F"/>
            </a:solidFill>
            <a:prstDash val="solid"/>
          </a:ln>
        </p:spPr>
        <p:txBody>
          <a:bodyPr/>
          <a:lstStyle/>
          <a:p>
            <a:endParaRPr lang="en-US"/>
          </a:p>
        </p:txBody>
      </p:sp>
      <p:sp>
        <p:nvSpPr>
          <p:cNvPr id="9" name="Shape 7"/>
          <p:cNvSpPr/>
          <p:nvPr/>
        </p:nvSpPr>
        <p:spPr>
          <a:xfrm>
            <a:off x="502920" y="1344168"/>
            <a:ext cx="594360" cy="256032"/>
          </a:xfrm>
          <a:prstGeom prst="rect">
            <a:avLst/>
          </a:prstGeom>
          <a:solidFill>
            <a:srgbClr val="94A3B8"/>
          </a:solidFill>
          <a:ln w="12700">
            <a:solidFill>
              <a:srgbClr val="94A3B8"/>
            </a:solidFill>
            <a:prstDash val="solid"/>
          </a:ln>
        </p:spPr>
        <p:txBody>
          <a:bodyPr/>
          <a:lstStyle/>
          <a:p>
            <a:endParaRPr lang="en-US"/>
          </a:p>
        </p:txBody>
      </p:sp>
      <p:sp>
        <p:nvSpPr>
          <p:cNvPr id="10" name="Text 8"/>
          <p:cNvSpPr/>
          <p:nvPr/>
        </p:nvSpPr>
        <p:spPr>
          <a:xfrm>
            <a:off x="502920" y="1344168"/>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N/A</a:t>
            </a:r>
            <a:endParaRPr lang="en-US" sz="900" dirty="0"/>
          </a:p>
        </p:txBody>
      </p:sp>
      <p:sp>
        <p:nvSpPr>
          <p:cNvPr id="11" name="Text 9"/>
          <p:cNvSpPr/>
          <p:nvPr/>
        </p:nvSpPr>
        <p:spPr>
          <a:xfrm>
            <a:off x="1170432" y="1344168"/>
            <a:ext cx="2286000" cy="237744"/>
          </a:xfrm>
          <a:prstGeom prst="rect">
            <a:avLst/>
          </a:prstGeom>
          <a:noFill/>
        </p:spPr>
        <p:txBody>
          <a:bodyPr wrap="square" lIns="0" tIns="0" rIns="0" bIns="0" rtlCol="0" anchor="ctr"/>
          <a:lstStyle/>
          <a:p>
            <a:pPr marL="0" indent="0">
              <a:buNone/>
            </a:pPr>
            <a:r>
              <a:rPr lang="en-US" sz="1100" b="1" dirty="0">
                <a:solidFill>
                  <a:srgbClr val="EF4444"/>
                </a:solidFill>
              </a:rPr>
              <a:t>SSDA (Training-based)</a:t>
            </a:r>
            <a:endParaRPr lang="en-US" sz="1100" dirty="0"/>
          </a:p>
        </p:txBody>
      </p:sp>
      <p:sp>
        <p:nvSpPr>
          <p:cNvPr id="12" name="Text 10"/>
          <p:cNvSpPr/>
          <p:nvPr/>
        </p:nvSpPr>
        <p:spPr>
          <a:xfrm>
            <a:off x="3493008" y="1344168"/>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[Deep-TROJ]</a:t>
            </a:r>
            <a:endParaRPr lang="en-US" sz="1000" dirty="0"/>
          </a:p>
        </p:txBody>
      </p:sp>
      <p:sp>
        <p:nvSpPr>
          <p:cNvPr id="13" name="Text 11"/>
          <p:cNvSpPr/>
          <p:nvPr/>
        </p:nvSpPr>
        <p:spPr>
          <a:xfrm>
            <a:off x="1170432" y="1581912"/>
            <a:ext cx="3977640" cy="219456"/>
          </a:xfrm>
          <a:prstGeom prst="rect">
            <a:avLst/>
          </a:prstGeom>
          <a:noFill/>
        </p:spPr>
        <p:txBody>
          <a:bodyPr wrap="square" lIns="0" tIns="0" rIns="0" bIns="0" rtlCol="0" anchor="ctr"/>
          <a:lstStyle/>
          <a:p>
            <a:pPr marL="0" indent="0">
              <a:buNone/>
            </a:pPr>
            <a:r>
              <a:rPr lang="en-US" sz="950" dirty="0">
                <a:solidFill>
                  <a:srgbClr val="94A3B8"/>
                </a:solidFill>
              </a:rPr>
              <a:t>Attack at inference — training defenses inapplicable</a:t>
            </a:r>
            <a:endParaRPr lang="en-US" sz="950" dirty="0"/>
          </a:p>
        </p:txBody>
      </p:sp>
      <p:sp>
        <p:nvSpPr>
          <p:cNvPr id="14" name="Shape 12"/>
          <p:cNvSpPr/>
          <p:nvPr/>
        </p:nvSpPr>
        <p:spPr>
          <a:xfrm>
            <a:off x="502920" y="1892808"/>
            <a:ext cx="4754880" cy="530352"/>
          </a:xfrm>
          <a:prstGeom prst="rect">
            <a:avLst/>
          </a:prstGeom>
          <a:solidFill>
            <a:srgbClr val="1A2A45"/>
          </a:solidFill>
          <a:ln w="6350">
            <a:solidFill>
              <a:srgbClr val="1E3A5F"/>
            </a:solidFill>
            <a:prstDash val="solid"/>
          </a:ln>
        </p:spPr>
        <p:txBody>
          <a:bodyPr/>
          <a:lstStyle/>
          <a:p>
            <a:endParaRPr lang="en-US"/>
          </a:p>
        </p:txBody>
      </p:sp>
      <p:sp>
        <p:nvSpPr>
          <p:cNvPr id="15" name="Shape 13"/>
          <p:cNvSpPr/>
          <p:nvPr/>
        </p:nvSpPr>
        <p:spPr>
          <a:xfrm>
            <a:off x="502920" y="1929384"/>
            <a:ext cx="594360" cy="256032"/>
          </a:xfrm>
          <a:prstGeom prst="rect">
            <a:avLst/>
          </a:prstGeom>
          <a:solidFill>
            <a:srgbClr val="94A3B8"/>
          </a:solidFill>
          <a:ln w="12700">
            <a:solidFill>
              <a:srgbClr val="94A3B8"/>
            </a:solidFill>
            <a:prstDash val="solid"/>
          </a:ln>
        </p:spPr>
        <p:txBody>
          <a:bodyPr/>
          <a:lstStyle/>
          <a:p>
            <a:endParaRPr lang="en-US"/>
          </a:p>
        </p:txBody>
      </p:sp>
      <p:sp>
        <p:nvSpPr>
          <p:cNvPr id="16" name="Text 14"/>
          <p:cNvSpPr/>
          <p:nvPr/>
        </p:nvSpPr>
        <p:spPr>
          <a:xfrm>
            <a:off x="502920" y="1929384"/>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N/A</a:t>
            </a:r>
            <a:endParaRPr lang="en-US" sz="900" dirty="0"/>
          </a:p>
        </p:txBody>
      </p:sp>
      <p:sp>
        <p:nvSpPr>
          <p:cNvPr id="17" name="Text 15"/>
          <p:cNvSpPr/>
          <p:nvPr/>
        </p:nvSpPr>
        <p:spPr>
          <a:xfrm>
            <a:off x="1170432" y="1929384"/>
            <a:ext cx="2286000" cy="237744"/>
          </a:xfrm>
          <a:prstGeom prst="rect">
            <a:avLst/>
          </a:prstGeom>
          <a:noFill/>
        </p:spPr>
        <p:txBody>
          <a:bodyPr wrap="square" lIns="0" tIns="0" rIns="0" bIns="0" rtlCol="0" anchor="ctr"/>
          <a:lstStyle/>
          <a:p>
            <a:pPr marL="0" indent="0">
              <a:buNone/>
            </a:pPr>
            <a:r>
              <a:rPr lang="en-US" sz="1100" b="1" dirty="0">
                <a:solidFill>
                  <a:srgbClr val="EF4444"/>
                </a:solidFill>
              </a:rPr>
              <a:t>SPECTRE (Training-based)</a:t>
            </a:r>
            <a:endParaRPr lang="en-US" sz="1100" dirty="0"/>
          </a:p>
        </p:txBody>
      </p:sp>
      <p:sp>
        <p:nvSpPr>
          <p:cNvPr id="18" name="Text 16"/>
          <p:cNvSpPr/>
          <p:nvPr/>
        </p:nvSpPr>
        <p:spPr>
          <a:xfrm>
            <a:off x="3493008" y="1929384"/>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[Deep-TROJ]</a:t>
            </a:r>
            <a:endParaRPr lang="en-US" sz="1000" dirty="0"/>
          </a:p>
        </p:txBody>
      </p:sp>
      <p:sp>
        <p:nvSpPr>
          <p:cNvPr id="19" name="Text 17"/>
          <p:cNvSpPr/>
          <p:nvPr/>
        </p:nvSpPr>
        <p:spPr>
          <a:xfrm>
            <a:off x="1170432" y="2167128"/>
            <a:ext cx="3977640" cy="219456"/>
          </a:xfrm>
          <a:prstGeom prst="rect">
            <a:avLst/>
          </a:prstGeom>
          <a:noFill/>
        </p:spPr>
        <p:txBody>
          <a:bodyPr wrap="square" lIns="0" tIns="0" rIns="0" bIns="0" rtlCol="0" anchor="ctr"/>
          <a:lstStyle/>
          <a:p>
            <a:pPr marL="0" indent="0">
              <a:buNone/>
            </a:pPr>
            <a:r>
              <a:rPr lang="en-US" sz="950" dirty="0">
                <a:solidFill>
                  <a:srgbClr val="94A3B8"/>
                </a:solidFill>
              </a:rPr>
              <a:t>Cannot detect inference-stage weight changes</a:t>
            </a:r>
            <a:endParaRPr lang="en-US" sz="950" dirty="0"/>
          </a:p>
        </p:txBody>
      </p:sp>
      <p:sp>
        <p:nvSpPr>
          <p:cNvPr id="20" name="Shape 18"/>
          <p:cNvSpPr/>
          <p:nvPr/>
        </p:nvSpPr>
        <p:spPr>
          <a:xfrm>
            <a:off x="502920" y="2478024"/>
            <a:ext cx="4754880" cy="530352"/>
          </a:xfrm>
          <a:prstGeom prst="rect">
            <a:avLst/>
          </a:prstGeom>
          <a:solidFill>
            <a:srgbClr val="1A2A45"/>
          </a:solidFill>
          <a:ln w="6350">
            <a:solidFill>
              <a:srgbClr val="1E3A5F"/>
            </a:solidFill>
            <a:prstDash val="solid"/>
          </a:ln>
        </p:spPr>
        <p:txBody>
          <a:bodyPr/>
          <a:lstStyle/>
          <a:p>
            <a:endParaRPr lang="en-US"/>
          </a:p>
        </p:txBody>
      </p:sp>
      <p:sp>
        <p:nvSpPr>
          <p:cNvPr id="21" name="Shape 19"/>
          <p:cNvSpPr/>
          <p:nvPr/>
        </p:nvSpPr>
        <p:spPr>
          <a:xfrm>
            <a:off x="502920" y="2514600"/>
            <a:ext cx="594360" cy="256032"/>
          </a:xfrm>
          <a:prstGeom prst="rect">
            <a:avLst/>
          </a:prstGeom>
          <a:solidFill>
            <a:srgbClr val="94A3B8"/>
          </a:solidFill>
          <a:ln w="12700">
            <a:solidFill>
              <a:srgbClr val="94A3B8"/>
            </a:solidFill>
            <a:prstDash val="solid"/>
          </a:ln>
        </p:spPr>
        <p:txBody>
          <a:bodyPr/>
          <a:lstStyle/>
          <a:p>
            <a:endParaRPr lang="en-US"/>
          </a:p>
        </p:txBody>
      </p:sp>
      <p:sp>
        <p:nvSpPr>
          <p:cNvPr id="22" name="Text 20"/>
          <p:cNvSpPr/>
          <p:nvPr/>
        </p:nvSpPr>
        <p:spPr>
          <a:xfrm>
            <a:off x="502920" y="2514600"/>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N/A</a:t>
            </a:r>
            <a:endParaRPr lang="en-US" sz="900" dirty="0"/>
          </a:p>
        </p:txBody>
      </p:sp>
      <p:sp>
        <p:nvSpPr>
          <p:cNvPr id="23" name="Text 21"/>
          <p:cNvSpPr/>
          <p:nvPr/>
        </p:nvSpPr>
        <p:spPr>
          <a:xfrm>
            <a:off x="1170432" y="2514600"/>
            <a:ext cx="2286000" cy="237744"/>
          </a:xfrm>
          <a:prstGeom prst="rect">
            <a:avLst/>
          </a:prstGeom>
          <a:noFill/>
        </p:spPr>
        <p:txBody>
          <a:bodyPr wrap="square" lIns="0" tIns="0" rIns="0" bIns="0" rtlCol="0" anchor="ctr"/>
          <a:lstStyle/>
          <a:p>
            <a:pPr marL="0" indent="0">
              <a:buNone/>
            </a:pPr>
            <a:r>
              <a:rPr lang="en-US" sz="1100" b="1" dirty="0">
                <a:solidFill>
                  <a:srgbClr val="EF4444"/>
                </a:solidFill>
              </a:rPr>
              <a:t>NAD (Training-based)</a:t>
            </a:r>
            <a:endParaRPr lang="en-US" sz="1100" dirty="0"/>
          </a:p>
        </p:txBody>
      </p:sp>
      <p:sp>
        <p:nvSpPr>
          <p:cNvPr id="24" name="Text 22"/>
          <p:cNvSpPr/>
          <p:nvPr/>
        </p:nvSpPr>
        <p:spPr>
          <a:xfrm>
            <a:off x="3493008" y="2514600"/>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[Deep-TROJ]</a:t>
            </a:r>
            <a:endParaRPr lang="en-US" sz="1000" dirty="0"/>
          </a:p>
        </p:txBody>
      </p:sp>
      <p:sp>
        <p:nvSpPr>
          <p:cNvPr id="25" name="Text 23"/>
          <p:cNvSpPr/>
          <p:nvPr/>
        </p:nvSpPr>
        <p:spPr>
          <a:xfrm>
            <a:off x="1170432" y="2752344"/>
            <a:ext cx="3977640" cy="219456"/>
          </a:xfrm>
          <a:prstGeom prst="rect">
            <a:avLst/>
          </a:prstGeom>
          <a:noFill/>
        </p:spPr>
        <p:txBody>
          <a:bodyPr wrap="square" lIns="0" tIns="0" rIns="0" bIns="0" rtlCol="0" anchor="ctr"/>
          <a:lstStyle/>
          <a:p>
            <a:pPr marL="0" indent="0">
              <a:buNone/>
            </a:pPr>
            <a:r>
              <a:rPr lang="en-US" sz="950" dirty="0">
                <a:solidFill>
                  <a:srgbClr val="94A3B8"/>
                </a:solidFill>
              </a:rPr>
              <a:t>Neural attention distillation only effective at training</a:t>
            </a:r>
            <a:endParaRPr lang="en-US" sz="950" dirty="0"/>
          </a:p>
        </p:txBody>
      </p:sp>
      <p:sp>
        <p:nvSpPr>
          <p:cNvPr id="26" name="Shape 24"/>
          <p:cNvSpPr/>
          <p:nvPr/>
        </p:nvSpPr>
        <p:spPr>
          <a:xfrm>
            <a:off x="502920" y="3063240"/>
            <a:ext cx="4754880" cy="530352"/>
          </a:xfrm>
          <a:prstGeom prst="rect">
            <a:avLst/>
          </a:prstGeom>
          <a:solidFill>
            <a:srgbClr val="1A2A45"/>
          </a:solidFill>
          <a:ln w="6350">
            <a:solidFill>
              <a:srgbClr val="1E3A5F"/>
            </a:solidFill>
            <a:prstDash val="solid"/>
          </a:ln>
        </p:spPr>
        <p:txBody>
          <a:bodyPr/>
          <a:lstStyle/>
          <a:p>
            <a:endParaRPr lang="en-US"/>
          </a:p>
        </p:txBody>
      </p:sp>
      <p:sp>
        <p:nvSpPr>
          <p:cNvPr id="27" name="Shape 25"/>
          <p:cNvSpPr/>
          <p:nvPr/>
        </p:nvSpPr>
        <p:spPr>
          <a:xfrm>
            <a:off x="502920" y="3099816"/>
            <a:ext cx="594360" cy="256032"/>
          </a:xfrm>
          <a:prstGeom prst="rect">
            <a:avLst/>
          </a:prstGeom>
          <a:solidFill>
            <a:srgbClr val="EF4444"/>
          </a:solidFill>
          <a:ln w="12700">
            <a:solidFill>
              <a:srgbClr val="EF4444"/>
            </a:solidFill>
            <a:prstDash val="solid"/>
          </a:ln>
        </p:spPr>
        <p:txBody>
          <a:bodyPr/>
          <a:lstStyle/>
          <a:p>
            <a:endParaRPr lang="en-US"/>
          </a:p>
        </p:txBody>
      </p:sp>
      <p:sp>
        <p:nvSpPr>
          <p:cNvPr id="28" name="Text 26"/>
          <p:cNvSpPr/>
          <p:nvPr/>
        </p:nvSpPr>
        <p:spPr>
          <a:xfrm>
            <a:off x="502920" y="3099816"/>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FAILS</a:t>
            </a:r>
            <a:endParaRPr lang="en-US" sz="900" dirty="0"/>
          </a:p>
        </p:txBody>
      </p:sp>
      <p:sp>
        <p:nvSpPr>
          <p:cNvPr id="29" name="Text 27"/>
          <p:cNvSpPr/>
          <p:nvPr/>
        </p:nvSpPr>
        <p:spPr>
          <a:xfrm>
            <a:off x="1170432" y="3099816"/>
            <a:ext cx="2286000" cy="237744"/>
          </a:xfrm>
          <a:prstGeom prst="rect">
            <a:avLst/>
          </a:prstGeom>
          <a:noFill/>
        </p:spPr>
        <p:txBody>
          <a:bodyPr wrap="square" lIns="0" tIns="0" rIns="0" bIns="0" rtlCol="0" anchor="ctr"/>
          <a:lstStyle/>
          <a:p>
            <a:pPr marL="0" indent="0">
              <a:buNone/>
            </a:pPr>
            <a:r>
              <a:rPr lang="en-US" sz="1100" b="1" dirty="0">
                <a:solidFill>
                  <a:srgbClr val="F59E0B"/>
                </a:solidFill>
              </a:rPr>
              <a:t>CLP (Detection-based)</a:t>
            </a:r>
            <a:endParaRPr lang="en-US" sz="1100" dirty="0"/>
          </a:p>
        </p:txBody>
      </p:sp>
      <p:sp>
        <p:nvSpPr>
          <p:cNvPr id="30" name="Text 28"/>
          <p:cNvSpPr/>
          <p:nvPr/>
        </p:nvSpPr>
        <p:spPr>
          <a:xfrm>
            <a:off x="3493008" y="3099816"/>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[Deep-TROJ]</a:t>
            </a:r>
            <a:endParaRPr lang="en-US" sz="1000" dirty="0"/>
          </a:p>
        </p:txBody>
      </p:sp>
      <p:sp>
        <p:nvSpPr>
          <p:cNvPr id="31" name="Text 29"/>
          <p:cNvSpPr/>
          <p:nvPr/>
        </p:nvSpPr>
        <p:spPr>
          <a:xfrm>
            <a:off x="1170432" y="3337560"/>
            <a:ext cx="3977640" cy="219456"/>
          </a:xfrm>
          <a:prstGeom prst="rect">
            <a:avLst/>
          </a:prstGeom>
          <a:noFill/>
        </p:spPr>
        <p:txBody>
          <a:bodyPr wrap="square" lIns="0" tIns="0" rIns="0" bIns="0" rtlCol="0" anchor="ctr"/>
          <a:lstStyle/>
          <a:p>
            <a:pPr marL="0" indent="0">
              <a:buNone/>
            </a:pPr>
            <a:r>
              <a:rPr lang="en-US" sz="950" dirty="0">
                <a:solidFill>
                  <a:srgbClr val="94A3B8"/>
                </a:solidFill>
              </a:rPr>
              <a:t>ACC drops to 30.08% while ASR only reduced to 4.62%</a:t>
            </a:r>
            <a:endParaRPr lang="en-US" sz="950" dirty="0"/>
          </a:p>
        </p:txBody>
      </p:sp>
      <p:sp>
        <p:nvSpPr>
          <p:cNvPr id="32" name="Shape 30"/>
          <p:cNvSpPr/>
          <p:nvPr/>
        </p:nvSpPr>
        <p:spPr>
          <a:xfrm>
            <a:off x="502920" y="3648456"/>
            <a:ext cx="4754880" cy="530352"/>
          </a:xfrm>
          <a:prstGeom prst="rect">
            <a:avLst/>
          </a:prstGeom>
          <a:solidFill>
            <a:srgbClr val="1A2A45"/>
          </a:solidFill>
          <a:ln w="6350">
            <a:solidFill>
              <a:srgbClr val="1E3A5F"/>
            </a:solidFill>
            <a:prstDash val="solid"/>
          </a:ln>
        </p:spPr>
        <p:txBody>
          <a:bodyPr/>
          <a:lstStyle/>
          <a:p>
            <a:endParaRPr lang="en-US"/>
          </a:p>
        </p:txBody>
      </p:sp>
      <p:sp>
        <p:nvSpPr>
          <p:cNvPr id="33" name="Shape 31"/>
          <p:cNvSpPr/>
          <p:nvPr/>
        </p:nvSpPr>
        <p:spPr>
          <a:xfrm>
            <a:off x="502920" y="3685032"/>
            <a:ext cx="594360" cy="256032"/>
          </a:xfrm>
          <a:prstGeom prst="rect">
            <a:avLst/>
          </a:prstGeom>
          <a:solidFill>
            <a:srgbClr val="EF4444"/>
          </a:solidFill>
          <a:ln w="12700">
            <a:solidFill>
              <a:srgbClr val="EF4444"/>
            </a:solidFill>
            <a:prstDash val="solid"/>
          </a:ln>
        </p:spPr>
        <p:txBody>
          <a:bodyPr/>
          <a:lstStyle/>
          <a:p>
            <a:endParaRPr lang="en-US"/>
          </a:p>
        </p:txBody>
      </p:sp>
      <p:sp>
        <p:nvSpPr>
          <p:cNvPr id="34" name="Text 32"/>
          <p:cNvSpPr/>
          <p:nvPr/>
        </p:nvSpPr>
        <p:spPr>
          <a:xfrm>
            <a:off x="502920" y="3685032"/>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FAILS</a:t>
            </a:r>
            <a:endParaRPr lang="en-US" sz="900" dirty="0"/>
          </a:p>
        </p:txBody>
      </p:sp>
      <p:sp>
        <p:nvSpPr>
          <p:cNvPr id="35" name="Text 33"/>
          <p:cNvSpPr/>
          <p:nvPr/>
        </p:nvSpPr>
        <p:spPr>
          <a:xfrm>
            <a:off x="1170432" y="3685032"/>
            <a:ext cx="2286000" cy="237744"/>
          </a:xfrm>
          <a:prstGeom prst="rect">
            <a:avLst/>
          </a:prstGeom>
          <a:noFill/>
        </p:spPr>
        <p:txBody>
          <a:bodyPr wrap="square" lIns="0" tIns="0" rIns="0" bIns="0" rtlCol="0" anchor="ctr"/>
          <a:lstStyle/>
          <a:p>
            <a:pPr marL="0" indent="0">
              <a:buNone/>
            </a:pPr>
            <a:r>
              <a:rPr lang="en-US" sz="1100" b="1" dirty="0">
                <a:solidFill>
                  <a:srgbClr val="EF4444"/>
                </a:solidFill>
              </a:rPr>
              <a:t>TRR / MAC Counter</a:t>
            </a:r>
            <a:endParaRPr lang="en-US" sz="1100" dirty="0"/>
          </a:p>
        </p:txBody>
      </p:sp>
      <p:sp>
        <p:nvSpPr>
          <p:cNvPr id="36" name="Text 34"/>
          <p:cNvSpPr/>
          <p:nvPr/>
        </p:nvSpPr>
        <p:spPr>
          <a:xfrm>
            <a:off x="3493008" y="3685032"/>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[RowPress]</a:t>
            </a:r>
            <a:endParaRPr lang="en-US" sz="1000" dirty="0"/>
          </a:p>
        </p:txBody>
      </p:sp>
      <p:sp>
        <p:nvSpPr>
          <p:cNvPr id="37" name="Text 35"/>
          <p:cNvSpPr/>
          <p:nvPr/>
        </p:nvSpPr>
        <p:spPr>
          <a:xfrm>
            <a:off x="1170432" y="3922776"/>
            <a:ext cx="3977640" cy="219456"/>
          </a:xfrm>
          <a:prstGeom prst="rect">
            <a:avLst/>
          </a:prstGeom>
          <a:noFill/>
        </p:spPr>
        <p:txBody>
          <a:bodyPr wrap="square" lIns="0" tIns="0" rIns="0" bIns="0" rtlCol="0" anchor="ctr"/>
          <a:lstStyle/>
          <a:p>
            <a:pPr marL="0" indent="0">
              <a:buNone/>
            </a:pPr>
            <a:r>
              <a:rPr lang="en-US" sz="950" dirty="0">
                <a:solidFill>
                  <a:srgbClr val="94A3B8"/>
                </a:solidFill>
              </a:rPr>
              <a:t>Only 1 ACT issued → counter never triggered, bypassed</a:t>
            </a:r>
            <a:endParaRPr lang="en-US" sz="950" dirty="0"/>
          </a:p>
        </p:txBody>
      </p:sp>
      <p:sp>
        <p:nvSpPr>
          <p:cNvPr id="38" name="Shape 36"/>
          <p:cNvSpPr/>
          <p:nvPr/>
        </p:nvSpPr>
        <p:spPr>
          <a:xfrm>
            <a:off x="502920" y="4233672"/>
            <a:ext cx="4754880" cy="530352"/>
          </a:xfrm>
          <a:prstGeom prst="rect">
            <a:avLst/>
          </a:prstGeom>
          <a:solidFill>
            <a:srgbClr val="1A2A45"/>
          </a:solidFill>
          <a:ln w="6350">
            <a:solidFill>
              <a:srgbClr val="1E3A5F"/>
            </a:solidFill>
            <a:prstDash val="solid"/>
          </a:ln>
        </p:spPr>
        <p:txBody>
          <a:bodyPr/>
          <a:lstStyle/>
          <a:p>
            <a:endParaRPr lang="en-US"/>
          </a:p>
        </p:txBody>
      </p:sp>
      <p:sp>
        <p:nvSpPr>
          <p:cNvPr id="39" name="Shape 37"/>
          <p:cNvSpPr/>
          <p:nvPr/>
        </p:nvSpPr>
        <p:spPr>
          <a:xfrm>
            <a:off x="502920" y="4270248"/>
            <a:ext cx="594360" cy="256032"/>
          </a:xfrm>
          <a:prstGeom prst="rect">
            <a:avLst/>
          </a:prstGeom>
          <a:solidFill>
            <a:srgbClr val="EF4444"/>
          </a:solidFill>
          <a:ln w="12700">
            <a:solidFill>
              <a:srgbClr val="EF4444"/>
            </a:solidFill>
            <a:prstDash val="solid"/>
          </a:ln>
        </p:spPr>
        <p:txBody>
          <a:bodyPr/>
          <a:lstStyle/>
          <a:p>
            <a:endParaRPr lang="en-US"/>
          </a:p>
        </p:txBody>
      </p:sp>
      <p:sp>
        <p:nvSpPr>
          <p:cNvPr id="40" name="Text 38"/>
          <p:cNvSpPr/>
          <p:nvPr/>
        </p:nvSpPr>
        <p:spPr>
          <a:xfrm>
            <a:off x="502920" y="4270248"/>
            <a:ext cx="594360" cy="256032"/>
          </a:xfrm>
          <a:prstGeom prst="rect">
            <a:avLst/>
          </a:prstGeom>
          <a:noFill/>
        </p:spPr>
        <p:txBody>
          <a:bodyPr wrap="square" lIns="0" tIns="0" rIns="0" bIns="0" rtlCol="0" anchor="ctr"/>
          <a:lstStyle/>
          <a:p>
            <a:pPr marL="0" indent="0" algn="ctr">
              <a:buNone/>
            </a:pPr>
            <a:r>
              <a:rPr lang="en-US" sz="900" b="1" dirty="0">
                <a:solidFill>
                  <a:srgbClr val="FFFFFF"/>
                </a:solidFill>
              </a:rPr>
              <a:t>FAILS</a:t>
            </a:r>
            <a:endParaRPr lang="en-US" sz="900" dirty="0"/>
          </a:p>
        </p:txBody>
      </p:sp>
      <p:sp>
        <p:nvSpPr>
          <p:cNvPr id="41" name="Text 39"/>
          <p:cNvSpPr/>
          <p:nvPr/>
        </p:nvSpPr>
        <p:spPr>
          <a:xfrm>
            <a:off x="1170432" y="4270248"/>
            <a:ext cx="2286000" cy="237744"/>
          </a:xfrm>
          <a:prstGeom prst="rect">
            <a:avLst/>
          </a:prstGeom>
          <a:noFill/>
        </p:spPr>
        <p:txBody>
          <a:bodyPr wrap="square" lIns="0" tIns="0" rIns="0" bIns="0" rtlCol="0" anchor="ctr"/>
          <a:lstStyle/>
          <a:p>
            <a:pPr marL="0" indent="0">
              <a:buNone/>
            </a:pPr>
            <a:r>
              <a:rPr lang="en-US" sz="1100" b="1" dirty="0">
                <a:solidFill>
                  <a:srgbClr val="EF4444"/>
                </a:solidFill>
              </a:rPr>
              <a:t>ECC Memory</a:t>
            </a:r>
            <a:endParaRPr lang="en-US" sz="1100" dirty="0"/>
          </a:p>
        </p:txBody>
      </p:sp>
      <p:sp>
        <p:nvSpPr>
          <p:cNvPr id="42" name="Text 40"/>
          <p:cNvSpPr/>
          <p:nvPr/>
        </p:nvSpPr>
        <p:spPr>
          <a:xfrm>
            <a:off x="3493008" y="4270248"/>
            <a:ext cx="1645920" cy="237744"/>
          </a:xfrm>
          <a:prstGeom prst="rect">
            <a:avLst/>
          </a:prstGeom>
          <a:noFill/>
        </p:spPr>
        <p:txBody>
          <a:bodyPr wrap="square" lIns="0" tIns="0" rIns="0" bIns="0" rtlCol="0" anchor="ctr"/>
          <a:lstStyle/>
          <a:p>
            <a:pPr marL="0" indent="0" algn="r">
              <a:buNone/>
            </a:pPr>
            <a:r>
              <a:rPr lang="en-US" sz="1000" dirty="0">
                <a:solidFill>
                  <a:srgbClr val="94A3B8"/>
                </a:solidFill>
              </a:rPr>
              <a:t>[Both]</a:t>
            </a:r>
            <a:endParaRPr lang="en-US" sz="1000" dirty="0"/>
          </a:p>
        </p:txBody>
      </p:sp>
      <p:sp>
        <p:nvSpPr>
          <p:cNvPr id="43" name="Text 41"/>
          <p:cNvSpPr/>
          <p:nvPr/>
        </p:nvSpPr>
        <p:spPr>
          <a:xfrm>
            <a:off x="1170432" y="4507992"/>
            <a:ext cx="3977640" cy="219456"/>
          </a:xfrm>
          <a:prstGeom prst="rect">
            <a:avLst/>
          </a:prstGeom>
          <a:noFill/>
        </p:spPr>
        <p:txBody>
          <a:bodyPr wrap="square" lIns="0" tIns="0" rIns="0" bIns="0" rtlCol="0" anchor="ctr"/>
          <a:lstStyle/>
          <a:p>
            <a:pPr marL="0" indent="0">
              <a:buNone/>
            </a:pPr>
            <a:r>
              <a:rPr lang="en-US" sz="950" dirty="0">
                <a:solidFill>
                  <a:srgbClr val="94A3B8"/>
                </a:solidFill>
              </a:rPr>
              <a:t>Sufficient bit-flips accumulate to overwhelm ECC correction</a:t>
            </a:r>
            <a:endParaRPr lang="en-US" sz="950" dirty="0"/>
          </a:p>
        </p:txBody>
      </p:sp>
      <p:sp>
        <p:nvSpPr>
          <p:cNvPr id="44" name="Shape 42"/>
          <p:cNvSpPr/>
          <p:nvPr/>
        </p:nvSpPr>
        <p:spPr>
          <a:xfrm>
            <a:off x="5623560" y="886968"/>
            <a:ext cx="3200400" cy="1920240"/>
          </a:xfrm>
          <a:prstGeom prst="rect">
            <a:avLst/>
          </a:prstGeom>
          <a:solidFill>
            <a:srgbClr val="162035"/>
          </a:solidFill>
          <a:ln w="19050">
            <a:solidFill>
              <a:srgbClr val="EF4444"/>
            </a:solidFill>
            <a:prstDash val="solid"/>
          </a:ln>
          <a:effectLst>
            <a:outerShdw blurRad="101600" dist="38100" dir="8100000" algn="bl" rotWithShape="0">
              <a:srgbClr val="000000">
                <a:alpha val="25000"/>
              </a:srgbClr>
            </a:outerShdw>
          </a:effectLst>
        </p:spPr>
        <p:txBody>
          <a:bodyPr/>
          <a:lstStyle/>
          <a:p>
            <a:endParaRPr lang="en-US"/>
          </a:p>
        </p:txBody>
      </p:sp>
      <p:sp>
        <p:nvSpPr>
          <p:cNvPr id="45" name="Shape 43"/>
          <p:cNvSpPr/>
          <p:nvPr/>
        </p:nvSpPr>
        <p:spPr>
          <a:xfrm>
            <a:off x="5623560" y="886968"/>
            <a:ext cx="3200400" cy="329184"/>
          </a:xfrm>
          <a:prstGeom prst="rect">
            <a:avLst/>
          </a:prstGeom>
          <a:solidFill>
            <a:srgbClr val="EF4444"/>
          </a:solidFill>
          <a:ln w="12700">
            <a:solidFill>
              <a:srgbClr val="EF4444"/>
            </a:solidFill>
            <a:prstDash val="solid"/>
          </a:ln>
        </p:spPr>
        <p:txBody>
          <a:bodyPr/>
          <a:lstStyle/>
          <a:p>
            <a:endParaRPr lang="en-US"/>
          </a:p>
        </p:txBody>
      </p:sp>
      <p:sp>
        <p:nvSpPr>
          <p:cNvPr id="46" name="Text 44"/>
          <p:cNvSpPr/>
          <p:nvPr/>
        </p:nvSpPr>
        <p:spPr>
          <a:xfrm>
            <a:off x="5715000" y="905256"/>
            <a:ext cx="3017520" cy="292608"/>
          </a:xfrm>
          <a:prstGeom prst="rect">
            <a:avLst/>
          </a:prstGeom>
          <a:noFill/>
        </p:spPr>
        <p:txBody>
          <a:bodyPr wrap="square" lIns="0" tIns="0" rIns="0" bIns="0" rtlCol="0" anchor="ctr"/>
          <a:lstStyle/>
          <a:p>
            <a:pPr marL="0" indent="0">
              <a:buNone/>
            </a:pPr>
            <a:r>
              <a:rPr lang="en-US" sz="1200" b="1" dirty="0">
                <a:solidFill>
                  <a:srgbClr val="FFFFFF"/>
                </a:solidFill>
              </a:rPr>
              <a:t>Why All Defenses Fail</a:t>
            </a:r>
            <a:endParaRPr lang="en-US" sz="1200" dirty="0"/>
          </a:p>
        </p:txBody>
      </p:sp>
      <p:sp>
        <p:nvSpPr>
          <p:cNvPr id="47" name="Shape 45"/>
          <p:cNvSpPr/>
          <p:nvPr/>
        </p:nvSpPr>
        <p:spPr>
          <a:xfrm>
            <a:off x="5715000" y="1298448"/>
            <a:ext cx="164592" cy="164592"/>
          </a:xfrm>
          <a:prstGeom prst="ellipse">
            <a:avLst/>
          </a:prstGeom>
          <a:solidFill>
            <a:srgbClr val="EF4444"/>
          </a:solidFill>
          <a:ln w="12700">
            <a:solidFill>
              <a:srgbClr val="EF4444"/>
            </a:solidFill>
            <a:prstDash val="solid"/>
          </a:ln>
        </p:spPr>
        <p:txBody>
          <a:bodyPr/>
          <a:lstStyle/>
          <a:p>
            <a:endParaRPr lang="en-US"/>
          </a:p>
        </p:txBody>
      </p:sp>
      <p:sp>
        <p:nvSpPr>
          <p:cNvPr id="48" name="Text 46"/>
          <p:cNvSpPr/>
          <p:nvPr/>
        </p:nvSpPr>
        <p:spPr>
          <a:xfrm>
            <a:off x="5943600" y="1261872"/>
            <a:ext cx="2788920" cy="320040"/>
          </a:xfrm>
          <a:prstGeom prst="rect">
            <a:avLst/>
          </a:prstGeom>
          <a:noFill/>
        </p:spPr>
        <p:txBody>
          <a:bodyPr wrap="square" lIns="0" tIns="0" rIns="0" bIns="0" rtlCol="0" anchor="ctr"/>
          <a:lstStyle/>
          <a:p>
            <a:pPr marL="0" indent="0">
              <a:buNone/>
            </a:pPr>
            <a:r>
              <a:rPr lang="en-US" sz="1000" dirty="0">
                <a:solidFill>
                  <a:srgbClr val="E2E8F0"/>
                </a:solidFill>
              </a:rPr>
              <a:t>Training-based: attack happens AFTER training</a:t>
            </a:r>
            <a:endParaRPr lang="en-US" sz="1000" dirty="0"/>
          </a:p>
        </p:txBody>
      </p:sp>
      <p:sp>
        <p:nvSpPr>
          <p:cNvPr id="49" name="Shape 47"/>
          <p:cNvSpPr/>
          <p:nvPr/>
        </p:nvSpPr>
        <p:spPr>
          <a:xfrm>
            <a:off x="5715000" y="1645920"/>
            <a:ext cx="164592" cy="164592"/>
          </a:xfrm>
          <a:prstGeom prst="ellipse">
            <a:avLst/>
          </a:prstGeom>
          <a:solidFill>
            <a:srgbClr val="EF4444"/>
          </a:solidFill>
          <a:ln w="12700">
            <a:solidFill>
              <a:srgbClr val="EF4444"/>
            </a:solidFill>
            <a:prstDash val="solid"/>
          </a:ln>
        </p:spPr>
        <p:txBody>
          <a:bodyPr/>
          <a:lstStyle/>
          <a:p>
            <a:endParaRPr lang="en-US"/>
          </a:p>
        </p:txBody>
      </p:sp>
      <p:sp>
        <p:nvSpPr>
          <p:cNvPr id="50" name="Text 48"/>
          <p:cNvSpPr/>
          <p:nvPr/>
        </p:nvSpPr>
        <p:spPr>
          <a:xfrm>
            <a:off x="5943600" y="1609344"/>
            <a:ext cx="2788920" cy="320040"/>
          </a:xfrm>
          <a:prstGeom prst="rect">
            <a:avLst/>
          </a:prstGeom>
          <a:noFill/>
        </p:spPr>
        <p:txBody>
          <a:bodyPr wrap="square" lIns="0" tIns="0" rIns="0" bIns="0" rtlCol="0" anchor="ctr"/>
          <a:lstStyle/>
          <a:p>
            <a:pPr marL="0" indent="0">
              <a:buNone/>
            </a:pPr>
            <a:r>
              <a:rPr lang="en-US" sz="1000" dirty="0">
                <a:solidFill>
                  <a:srgbClr val="E2E8F0"/>
                </a:solidFill>
              </a:rPr>
              <a:t>Detection-based: continuous runtime = exponential overhead</a:t>
            </a:r>
            <a:endParaRPr lang="en-US" sz="1000" dirty="0"/>
          </a:p>
        </p:txBody>
      </p:sp>
      <p:sp>
        <p:nvSpPr>
          <p:cNvPr id="51" name="Shape 49"/>
          <p:cNvSpPr/>
          <p:nvPr/>
        </p:nvSpPr>
        <p:spPr>
          <a:xfrm>
            <a:off x="5715000" y="1993392"/>
            <a:ext cx="164592" cy="164592"/>
          </a:xfrm>
          <a:prstGeom prst="ellipse">
            <a:avLst/>
          </a:prstGeom>
          <a:solidFill>
            <a:srgbClr val="EF4444"/>
          </a:solidFill>
          <a:ln w="12700">
            <a:solidFill>
              <a:srgbClr val="EF4444"/>
            </a:solidFill>
            <a:prstDash val="solid"/>
          </a:ln>
        </p:spPr>
        <p:txBody>
          <a:bodyPr/>
          <a:lstStyle/>
          <a:p>
            <a:endParaRPr lang="en-US"/>
          </a:p>
        </p:txBody>
      </p:sp>
      <p:sp>
        <p:nvSpPr>
          <p:cNvPr id="52" name="Text 50"/>
          <p:cNvSpPr/>
          <p:nvPr/>
        </p:nvSpPr>
        <p:spPr>
          <a:xfrm>
            <a:off x="5943600" y="1956816"/>
            <a:ext cx="2788920" cy="320040"/>
          </a:xfrm>
          <a:prstGeom prst="rect">
            <a:avLst/>
          </a:prstGeom>
          <a:noFill/>
        </p:spPr>
        <p:txBody>
          <a:bodyPr wrap="square" lIns="0" tIns="0" rIns="0" bIns="0" rtlCol="0" anchor="ctr"/>
          <a:lstStyle/>
          <a:p>
            <a:pPr marL="0" indent="0">
              <a:buNone/>
            </a:pPr>
            <a:r>
              <a:rPr lang="en-US" sz="1000" dirty="0">
                <a:solidFill>
                  <a:srgbClr val="E2E8F0"/>
                </a:solidFill>
              </a:rPr>
              <a:t>CLP destroys clean accuracy (30%) to cut ASR to 5%</a:t>
            </a:r>
            <a:endParaRPr lang="en-US" sz="1000" dirty="0"/>
          </a:p>
        </p:txBody>
      </p:sp>
      <p:sp>
        <p:nvSpPr>
          <p:cNvPr id="53" name="Shape 51"/>
          <p:cNvSpPr/>
          <p:nvPr/>
        </p:nvSpPr>
        <p:spPr>
          <a:xfrm>
            <a:off x="5715000" y="2340864"/>
            <a:ext cx="164592" cy="164592"/>
          </a:xfrm>
          <a:prstGeom prst="ellipse">
            <a:avLst/>
          </a:prstGeom>
          <a:solidFill>
            <a:srgbClr val="EF4444"/>
          </a:solidFill>
          <a:ln w="12700">
            <a:solidFill>
              <a:srgbClr val="EF4444"/>
            </a:solidFill>
            <a:prstDash val="solid"/>
          </a:ln>
        </p:spPr>
        <p:txBody>
          <a:bodyPr/>
          <a:lstStyle/>
          <a:p>
            <a:endParaRPr lang="en-US"/>
          </a:p>
        </p:txBody>
      </p:sp>
      <p:sp>
        <p:nvSpPr>
          <p:cNvPr id="54" name="Text 52"/>
          <p:cNvSpPr/>
          <p:nvPr/>
        </p:nvSpPr>
        <p:spPr>
          <a:xfrm>
            <a:off x="5943600" y="2304288"/>
            <a:ext cx="2788920" cy="320040"/>
          </a:xfrm>
          <a:prstGeom prst="rect">
            <a:avLst/>
          </a:prstGeom>
          <a:noFill/>
        </p:spPr>
        <p:txBody>
          <a:bodyPr wrap="square" lIns="0" tIns="0" rIns="0" bIns="0" rtlCol="0" anchor="ctr"/>
          <a:lstStyle/>
          <a:p>
            <a:pPr marL="0" indent="0">
              <a:buNone/>
            </a:pPr>
            <a:r>
              <a:rPr lang="en-US" sz="1000" dirty="0">
                <a:solidFill>
                  <a:srgbClr val="E2E8F0"/>
                </a:solidFill>
              </a:rPr>
              <a:t>RowHammer counters: blind to RowPress (1 ACT only)</a:t>
            </a:r>
            <a:endParaRPr lang="en-US" sz="1000" dirty="0"/>
          </a:p>
        </p:txBody>
      </p:sp>
      <p:sp>
        <p:nvSpPr>
          <p:cNvPr id="55" name="Shape 53"/>
          <p:cNvSpPr/>
          <p:nvPr/>
        </p:nvSpPr>
        <p:spPr>
          <a:xfrm>
            <a:off x="5623560" y="2971800"/>
            <a:ext cx="3200400" cy="1892808"/>
          </a:xfrm>
          <a:prstGeom prst="rect">
            <a:avLst/>
          </a:prstGeom>
          <a:solidFill>
            <a:srgbClr val="162035"/>
          </a:solidFill>
          <a:ln w="1905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56" name="Shape 54"/>
          <p:cNvSpPr/>
          <p:nvPr/>
        </p:nvSpPr>
        <p:spPr>
          <a:xfrm>
            <a:off x="5623560" y="2971800"/>
            <a:ext cx="3200400" cy="329184"/>
          </a:xfrm>
          <a:prstGeom prst="rect">
            <a:avLst/>
          </a:prstGeom>
          <a:solidFill>
            <a:srgbClr val="22C55E"/>
          </a:solidFill>
          <a:ln w="12700">
            <a:solidFill>
              <a:srgbClr val="22C55E"/>
            </a:solidFill>
            <a:prstDash val="solid"/>
          </a:ln>
        </p:spPr>
        <p:txBody>
          <a:bodyPr/>
          <a:lstStyle/>
          <a:p>
            <a:endParaRPr lang="en-US"/>
          </a:p>
        </p:txBody>
      </p:sp>
      <p:sp>
        <p:nvSpPr>
          <p:cNvPr id="57" name="Text 55"/>
          <p:cNvSpPr/>
          <p:nvPr/>
        </p:nvSpPr>
        <p:spPr>
          <a:xfrm>
            <a:off x="5715000" y="2990088"/>
            <a:ext cx="3017520" cy="292608"/>
          </a:xfrm>
          <a:prstGeom prst="rect">
            <a:avLst/>
          </a:prstGeom>
          <a:noFill/>
        </p:spPr>
        <p:txBody>
          <a:bodyPr wrap="square" lIns="0" tIns="0" rIns="0" bIns="0" rtlCol="0" anchor="ctr"/>
          <a:lstStyle/>
          <a:p>
            <a:pPr marL="0" indent="0">
              <a:buNone/>
            </a:pPr>
            <a:r>
              <a:rPr lang="en-US" sz="1200" b="1" dirty="0">
                <a:solidFill>
                  <a:srgbClr val="FFFFFF"/>
                </a:solidFill>
              </a:rPr>
              <a:t>What Is Needed</a:t>
            </a:r>
            <a:endParaRPr lang="en-US" sz="1200" dirty="0"/>
          </a:p>
        </p:txBody>
      </p:sp>
      <p:sp>
        <p:nvSpPr>
          <p:cNvPr id="58" name="Shape 56"/>
          <p:cNvSpPr/>
          <p:nvPr/>
        </p:nvSpPr>
        <p:spPr>
          <a:xfrm>
            <a:off x="5715000" y="3383280"/>
            <a:ext cx="164592" cy="164592"/>
          </a:xfrm>
          <a:prstGeom prst="ellipse">
            <a:avLst/>
          </a:prstGeom>
          <a:solidFill>
            <a:srgbClr val="22C55E"/>
          </a:solidFill>
          <a:ln w="12700">
            <a:solidFill>
              <a:srgbClr val="22C55E"/>
            </a:solidFill>
            <a:prstDash val="solid"/>
          </a:ln>
        </p:spPr>
        <p:txBody>
          <a:bodyPr/>
          <a:lstStyle/>
          <a:p>
            <a:endParaRPr lang="en-US"/>
          </a:p>
        </p:txBody>
      </p:sp>
      <p:sp>
        <p:nvSpPr>
          <p:cNvPr id="59" name="Text 57"/>
          <p:cNvSpPr/>
          <p:nvPr/>
        </p:nvSpPr>
        <p:spPr>
          <a:xfrm>
            <a:off x="5943600" y="3346704"/>
            <a:ext cx="2788920" cy="347472"/>
          </a:xfrm>
          <a:prstGeom prst="rect">
            <a:avLst/>
          </a:prstGeom>
          <a:noFill/>
        </p:spPr>
        <p:txBody>
          <a:bodyPr wrap="square" lIns="0" tIns="0" rIns="0" bIns="0" rtlCol="0" anchor="ctr"/>
          <a:lstStyle/>
          <a:p>
            <a:pPr marL="0" indent="0">
              <a:buNone/>
            </a:pPr>
            <a:r>
              <a:rPr lang="en-US" sz="1000" dirty="0">
                <a:solidFill>
                  <a:srgbClr val="E2E8F0"/>
                </a:solidFill>
              </a:rPr>
              <a:t>Runtime weight integrity verification</a:t>
            </a:r>
            <a:endParaRPr lang="en-US" sz="1000" dirty="0"/>
          </a:p>
        </p:txBody>
      </p:sp>
      <p:sp>
        <p:nvSpPr>
          <p:cNvPr id="60" name="Shape 58"/>
          <p:cNvSpPr/>
          <p:nvPr/>
        </p:nvSpPr>
        <p:spPr>
          <a:xfrm>
            <a:off x="5715000" y="3767328"/>
            <a:ext cx="164592" cy="164592"/>
          </a:xfrm>
          <a:prstGeom prst="ellipse">
            <a:avLst/>
          </a:prstGeom>
          <a:solidFill>
            <a:srgbClr val="22C55E"/>
          </a:solidFill>
          <a:ln w="12700">
            <a:solidFill>
              <a:srgbClr val="22C55E"/>
            </a:solidFill>
            <a:prstDash val="solid"/>
          </a:ln>
        </p:spPr>
        <p:txBody>
          <a:bodyPr/>
          <a:lstStyle/>
          <a:p>
            <a:endParaRPr lang="en-US"/>
          </a:p>
        </p:txBody>
      </p:sp>
      <p:sp>
        <p:nvSpPr>
          <p:cNvPr id="61" name="Text 59"/>
          <p:cNvSpPr/>
          <p:nvPr/>
        </p:nvSpPr>
        <p:spPr>
          <a:xfrm>
            <a:off x="5943600" y="3730752"/>
            <a:ext cx="2788920" cy="347472"/>
          </a:xfrm>
          <a:prstGeom prst="rect">
            <a:avLst/>
          </a:prstGeom>
          <a:noFill/>
        </p:spPr>
        <p:txBody>
          <a:bodyPr wrap="square" lIns="0" tIns="0" rIns="0" bIns="0" rtlCol="0" anchor="ctr"/>
          <a:lstStyle/>
          <a:p>
            <a:pPr marL="0" indent="0">
              <a:buNone/>
            </a:pPr>
            <a:r>
              <a:rPr lang="en-US" sz="1000" dirty="0">
                <a:solidFill>
                  <a:srgbClr val="E2E8F0"/>
                </a:solidFill>
              </a:rPr>
              <a:t>RowPress-specific DRAM protections (monitor activation duration, not frequency)</a:t>
            </a:r>
            <a:endParaRPr lang="en-US" sz="1000" dirty="0"/>
          </a:p>
        </p:txBody>
      </p:sp>
      <p:sp>
        <p:nvSpPr>
          <p:cNvPr id="62" name="Shape 60"/>
          <p:cNvSpPr/>
          <p:nvPr/>
        </p:nvSpPr>
        <p:spPr>
          <a:xfrm>
            <a:off x="5715000" y="4151376"/>
            <a:ext cx="164592" cy="164592"/>
          </a:xfrm>
          <a:prstGeom prst="ellipse">
            <a:avLst/>
          </a:prstGeom>
          <a:solidFill>
            <a:srgbClr val="22C55E"/>
          </a:solidFill>
          <a:ln w="12700">
            <a:solidFill>
              <a:srgbClr val="22C55E"/>
            </a:solidFill>
            <a:prstDash val="solid"/>
          </a:ln>
        </p:spPr>
        <p:txBody>
          <a:bodyPr/>
          <a:lstStyle/>
          <a:p>
            <a:endParaRPr lang="en-US"/>
          </a:p>
        </p:txBody>
      </p:sp>
      <p:sp>
        <p:nvSpPr>
          <p:cNvPr id="63" name="Text 61"/>
          <p:cNvSpPr/>
          <p:nvPr/>
        </p:nvSpPr>
        <p:spPr>
          <a:xfrm>
            <a:off x="5943600" y="4114800"/>
            <a:ext cx="2788920" cy="347472"/>
          </a:xfrm>
          <a:prstGeom prst="rect">
            <a:avLst/>
          </a:prstGeom>
          <a:noFill/>
        </p:spPr>
        <p:txBody>
          <a:bodyPr wrap="square" lIns="0" tIns="0" rIns="0" bIns="0" rtlCol="0" anchor="ctr"/>
          <a:lstStyle/>
          <a:p>
            <a:pPr marL="0" indent="0">
              <a:buNone/>
            </a:pPr>
            <a:r>
              <a:rPr lang="en-US" sz="1000" dirty="0">
                <a:solidFill>
                  <a:srgbClr val="E2E8F0"/>
                </a:solidFill>
              </a:rPr>
              <a:t>Lightweight online anomaly detection for inference-stage attacks</a:t>
            </a:r>
            <a:endParaRPr lang="en-US" sz="1000" dirty="0"/>
          </a:p>
        </p:txBody>
      </p:sp>
      <p:sp>
        <p:nvSpPr>
          <p:cNvPr id="64" name="Shape 62"/>
          <p:cNvSpPr/>
          <p:nvPr/>
        </p:nvSpPr>
        <p:spPr>
          <a:xfrm>
            <a:off x="5715000" y="4535424"/>
            <a:ext cx="164592" cy="164592"/>
          </a:xfrm>
          <a:prstGeom prst="ellipse">
            <a:avLst/>
          </a:prstGeom>
          <a:solidFill>
            <a:srgbClr val="22C55E"/>
          </a:solidFill>
          <a:ln w="12700">
            <a:solidFill>
              <a:srgbClr val="22C55E"/>
            </a:solidFill>
            <a:prstDash val="solid"/>
          </a:ln>
        </p:spPr>
        <p:txBody>
          <a:bodyPr/>
          <a:lstStyle/>
          <a:p>
            <a:endParaRPr lang="en-US"/>
          </a:p>
        </p:txBody>
      </p:sp>
      <p:sp>
        <p:nvSpPr>
          <p:cNvPr id="65" name="Text 63"/>
          <p:cNvSpPr/>
          <p:nvPr/>
        </p:nvSpPr>
        <p:spPr>
          <a:xfrm>
            <a:off x="5943600" y="4498848"/>
            <a:ext cx="2788920" cy="347472"/>
          </a:xfrm>
          <a:prstGeom prst="rect">
            <a:avLst/>
          </a:prstGeom>
          <a:noFill/>
        </p:spPr>
        <p:txBody>
          <a:bodyPr wrap="square" lIns="0" tIns="0" rIns="0" bIns="0" rtlCol="0" anchor="ctr"/>
          <a:lstStyle/>
          <a:p>
            <a:pPr marL="0" indent="0">
              <a:buNone/>
            </a:pPr>
            <a:r>
              <a:rPr lang="en-US" sz="1000" dirty="0">
                <a:solidFill>
                  <a:srgbClr val="E2E8F0"/>
                </a:solidFill>
              </a:rPr>
              <a:t>Hardware-software co-design for memory security</a:t>
            </a:r>
            <a:endParaRPr lang="en-US" sz="10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640080" y="182880"/>
            <a:ext cx="1828800" cy="182880"/>
          </a:xfrm>
          <a:prstGeom prst="rect">
            <a:avLst/>
          </a:prstGeom>
          <a:noFill/>
        </p:spPr>
        <p:txBody>
          <a:bodyPr wrap="square" lIns="0" tIns="0" rIns="0" bIns="0" rtlCol="0" anchor="ctr"/>
          <a:lstStyle/>
          <a:p>
            <a:pPr marL="0" indent="0">
              <a:buNone/>
            </a:pPr>
            <a:r>
              <a:rPr lang="en-US" sz="900" b="1" kern="0" spc="200" dirty="0">
                <a:solidFill>
                  <a:srgbClr val="0D9488"/>
                </a:solidFill>
              </a:rPr>
              <a:t>SYNTHESIS</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200" b="1" dirty="0">
                <a:solidFill>
                  <a:srgbClr val="FFFFFF"/>
                </a:solidFill>
              </a:rPr>
              <a:t>Cross-Paper Synthesis: Combined Attack Threat Landscape</a:t>
            </a:r>
            <a:endParaRPr lang="en-US" sz="2200" dirty="0"/>
          </a:p>
        </p:txBody>
      </p:sp>
      <p:sp>
        <p:nvSpPr>
          <p:cNvPr id="6" name="Shape 4"/>
          <p:cNvSpPr/>
          <p:nvPr/>
        </p:nvSpPr>
        <p:spPr>
          <a:xfrm>
            <a:off x="548640" y="960120"/>
            <a:ext cx="3657600" cy="3200400"/>
          </a:xfrm>
          <a:prstGeom prst="ellipse">
            <a:avLst/>
          </a:prstGeom>
          <a:solidFill>
            <a:srgbClr val="F59E0B"/>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2286000" y="960120"/>
            <a:ext cx="3657600" cy="3200400"/>
          </a:xfrm>
          <a:prstGeom prst="ellipse">
            <a:avLst/>
          </a:prstGeom>
          <a:solidFill>
            <a:srgbClr val="8B5CF6"/>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8" name="Shape 6"/>
          <p:cNvSpPr/>
          <p:nvPr/>
        </p:nvSpPr>
        <p:spPr>
          <a:xfrm>
            <a:off x="1828800" y="1280160"/>
            <a:ext cx="2377440" cy="2560320"/>
          </a:xfrm>
          <a:prstGeom prst="ellipse">
            <a:avLst/>
          </a:prstGeom>
          <a:solidFill>
            <a:srgbClr val="2563EB"/>
          </a:solidFill>
          <a:ln w="25400">
            <a:solidFill>
              <a:srgbClr val="06B6D4"/>
            </a:solidFill>
            <a:prstDash val="solid"/>
          </a:ln>
        </p:spPr>
        <p:txBody>
          <a:bodyPr/>
          <a:lstStyle/>
          <a:p>
            <a:endParaRPr lang="en-US"/>
          </a:p>
        </p:txBody>
      </p:sp>
      <p:sp>
        <p:nvSpPr>
          <p:cNvPr id="9" name="Text 7"/>
          <p:cNvSpPr/>
          <p:nvPr/>
        </p:nvSpPr>
        <p:spPr>
          <a:xfrm>
            <a:off x="594360" y="1371600"/>
            <a:ext cx="1463040" cy="640080"/>
          </a:xfrm>
          <a:prstGeom prst="rect">
            <a:avLst/>
          </a:prstGeom>
          <a:noFill/>
        </p:spPr>
        <p:txBody>
          <a:bodyPr wrap="square" lIns="0" tIns="0" rIns="0" bIns="0" rtlCol="0" anchor="ctr"/>
          <a:lstStyle/>
          <a:p>
            <a:pPr marL="0" indent="0" algn="ctr">
              <a:buNone/>
            </a:pPr>
            <a:r>
              <a:rPr lang="en-US" sz="1200" b="1" dirty="0">
                <a:solidFill>
                  <a:srgbClr val="FFFFFF"/>
                </a:solidFill>
              </a:rPr>
              <a:t>Deep-TROJ</a:t>
            </a:r>
            <a:endParaRPr lang="en-US" sz="1200" dirty="0"/>
          </a:p>
          <a:p>
            <a:pPr marL="0" indent="0" algn="ctr">
              <a:buNone/>
            </a:pPr>
            <a:r>
              <a:rPr lang="en-US" sz="1200" b="1" dirty="0">
                <a:solidFill>
                  <a:srgbClr val="FFFFFF"/>
                </a:solidFill>
              </a:rPr>
              <a:t>(PFN bit-flip)</a:t>
            </a:r>
            <a:endParaRPr lang="en-US" sz="1200" dirty="0"/>
          </a:p>
        </p:txBody>
      </p:sp>
      <p:sp>
        <p:nvSpPr>
          <p:cNvPr id="10" name="Text 8"/>
          <p:cNvSpPr/>
          <p:nvPr/>
        </p:nvSpPr>
        <p:spPr>
          <a:xfrm>
            <a:off x="4297680" y="1371600"/>
            <a:ext cx="1463040" cy="640080"/>
          </a:xfrm>
          <a:prstGeom prst="rect">
            <a:avLst/>
          </a:prstGeom>
          <a:noFill/>
        </p:spPr>
        <p:txBody>
          <a:bodyPr wrap="square" lIns="0" tIns="0" rIns="0" bIns="0" rtlCol="0" anchor="ctr"/>
          <a:lstStyle/>
          <a:p>
            <a:pPr marL="0" indent="0" algn="ctr">
              <a:buNone/>
            </a:pPr>
            <a:r>
              <a:rPr lang="en-US" sz="1200" b="1" dirty="0">
                <a:solidFill>
                  <a:srgbClr val="FFFFFF"/>
                </a:solidFill>
              </a:rPr>
              <a:t>RowPress</a:t>
            </a:r>
            <a:endParaRPr lang="en-US" sz="1200" dirty="0"/>
          </a:p>
          <a:p>
            <a:pPr marL="0" indent="0" algn="ctr">
              <a:buNone/>
            </a:pPr>
            <a:r>
              <a:rPr lang="en-US" sz="1200" b="1" dirty="0">
                <a:solidFill>
                  <a:srgbClr val="FFFFFF"/>
                </a:solidFill>
              </a:rPr>
              <a:t>(prolonged ACT)</a:t>
            </a:r>
            <a:endParaRPr lang="en-US" sz="1200" dirty="0"/>
          </a:p>
        </p:txBody>
      </p:sp>
      <p:sp>
        <p:nvSpPr>
          <p:cNvPr id="11" name="Text 9"/>
          <p:cNvSpPr/>
          <p:nvPr/>
        </p:nvSpPr>
        <p:spPr>
          <a:xfrm>
            <a:off x="1874520" y="1828800"/>
            <a:ext cx="2286000" cy="914400"/>
          </a:xfrm>
          <a:prstGeom prst="rect">
            <a:avLst/>
          </a:prstGeom>
          <a:noFill/>
        </p:spPr>
        <p:txBody>
          <a:bodyPr wrap="square" lIns="0" tIns="0" rIns="0" bIns="0" rtlCol="0" anchor="ctr"/>
          <a:lstStyle/>
          <a:p>
            <a:pPr marL="0" indent="0" algn="ctr">
              <a:buNone/>
            </a:pPr>
            <a:r>
              <a:rPr lang="en-US" sz="1200" b="1" dirty="0">
                <a:solidFill>
                  <a:srgbClr val="FFFFFF"/>
                </a:solidFill>
              </a:rPr>
              <a:t>DRAM</a:t>
            </a:r>
            <a:endParaRPr lang="en-US" sz="1200" dirty="0"/>
          </a:p>
          <a:p>
            <a:pPr marL="0" indent="0" algn="ctr">
              <a:buNone/>
            </a:pPr>
            <a:r>
              <a:rPr lang="en-US" sz="1200" b="1" dirty="0">
                <a:solidFill>
                  <a:srgbClr val="FFFFFF"/>
                </a:solidFill>
              </a:rPr>
              <a:t>Hardware</a:t>
            </a:r>
            <a:endParaRPr lang="en-US" sz="1200" dirty="0"/>
          </a:p>
          <a:p>
            <a:pPr marL="0" indent="0" algn="ctr">
              <a:buNone/>
            </a:pPr>
            <a:r>
              <a:rPr lang="en-US" sz="1200" b="1" dirty="0">
                <a:solidFill>
                  <a:srgbClr val="FFFFFF"/>
                </a:solidFill>
              </a:rPr>
              <a:t>Fault</a:t>
            </a:r>
            <a:endParaRPr lang="en-US" sz="1200" dirty="0"/>
          </a:p>
          <a:p>
            <a:pPr marL="0" indent="0" algn="ctr">
              <a:buNone/>
            </a:pPr>
            <a:r>
              <a:rPr lang="en-US" sz="1200" b="1" dirty="0">
                <a:solidFill>
                  <a:srgbClr val="FFFFFF"/>
                </a:solidFill>
              </a:rPr>
              <a:t>Injection</a:t>
            </a:r>
            <a:endParaRPr lang="en-US" sz="1200" dirty="0"/>
          </a:p>
        </p:txBody>
      </p:sp>
      <p:sp>
        <p:nvSpPr>
          <p:cNvPr id="12" name="Text 10"/>
          <p:cNvSpPr/>
          <p:nvPr/>
        </p:nvSpPr>
        <p:spPr>
          <a:xfrm>
            <a:off x="685800" y="2560320"/>
            <a:ext cx="1463040" cy="502920"/>
          </a:xfrm>
          <a:prstGeom prst="rect">
            <a:avLst/>
          </a:prstGeom>
          <a:noFill/>
        </p:spPr>
        <p:txBody>
          <a:bodyPr wrap="square" lIns="0" tIns="0" rIns="0" bIns="0" rtlCol="0" anchor="ctr"/>
          <a:lstStyle/>
          <a:p>
            <a:pPr marL="0" indent="0" algn="ctr">
              <a:buNone/>
            </a:pPr>
            <a:r>
              <a:rPr lang="en-US" sz="1100" i="1" dirty="0">
                <a:solidFill>
                  <a:srgbClr val="FFFFFF"/>
                </a:solidFill>
              </a:rPr>
              <a:t>Trojan</a:t>
            </a:r>
            <a:endParaRPr lang="en-US" sz="1100" dirty="0"/>
          </a:p>
          <a:p>
            <a:pPr marL="0" indent="0" algn="ctr">
              <a:buNone/>
            </a:pPr>
            <a:r>
              <a:rPr lang="en-US" sz="1100" i="1" dirty="0">
                <a:solidFill>
                  <a:srgbClr val="FFFFFF"/>
                </a:solidFill>
              </a:rPr>
              <a:t>Insertion</a:t>
            </a:r>
            <a:endParaRPr lang="en-US" sz="1100" dirty="0"/>
          </a:p>
        </p:txBody>
      </p:sp>
      <p:sp>
        <p:nvSpPr>
          <p:cNvPr id="13" name="Text 11"/>
          <p:cNvSpPr/>
          <p:nvPr/>
        </p:nvSpPr>
        <p:spPr>
          <a:xfrm>
            <a:off x="4343400" y="2560320"/>
            <a:ext cx="1463040" cy="502920"/>
          </a:xfrm>
          <a:prstGeom prst="rect">
            <a:avLst/>
          </a:prstGeom>
          <a:noFill/>
        </p:spPr>
        <p:txBody>
          <a:bodyPr wrap="square" lIns="0" tIns="0" rIns="0" bIns="0" rtlCol="0" anchor="ctr"/>
          <a:lstStyle/>
          <a:p>
            <a:pPr marL="0" indent="0" algn="ctr">
              <a:buNone/>
            </a:pPr>
            <a:r>
              <a:rPr lang="en-US" sz="1100" i="1" dirty="0">
                <a:solidFill>
                  <a:srgbClr val="FFFFFF"/>
                </a:solidFill>
              </a:rPr>
              <a:t>Bit-Flip</a:t>
            </a:r>
            <a:endParaRPr lang="en-US" sz="1100" dirty="0"/>
          </a:p>
          <a:p>
            <a:pPr marL="0" indent="0" algn="ctr">
              <a:buNone/>
            </a:pPr>
            <a:r>
              <a:rPr lang="en-US" sz="1100" i="1" dirty="0">
                <a:solidFill>
                  <a:srgbClr val="FFFFFF"/>
                </a:solidFill>
              </a:rPr>
              <a:t>Attack</a:t>
            </a:r>
            <a:endParaRPr lang="en-US" sz="1100" dirty="0"/>
          </a:p>
        </p:txBody>
      </p:sp>
      <p:sp>
        <p:nvSpPr>
          <p:cNvPr id="14" name="Shape 12"/>
          <p:cNvSpPr/>
          <p:nvPr/>
        </p:nvSpPr>
        <p:spPr>
          <a:xfrm>
            <a:off x="2103120" y="3200400"/>
            <a:ext cx="0" cy="640080"/>
          </a:xfrm>
          <a:prstGeom prst="line">
            <a:avLst/>
          </a:prstGeom>
          <a:noFill/>
          <a:ln w="19050">
            <a:solidFill>
              <a:srgbClr val="EAB308"/>
            </a:solidFill>
            <a:prstDash val="dash"/>
          </a:ln>
        </p:spPr>
        <p:txBody>
          <a:bodyPr/>
          <a:lstStyle/>
          <a:p>
            <a:endParaRPr lang="en-US"/>
          </a:p>
        </p:txBody>
      </p:sp>
      <p:sp>
        <p:nvSpPr>
          <p:cNvPr id="15" name="Shape 13"/>
          <p:cNvSpPr/>
          <p:nvPr/>
        </p:nvSpPr>
        <p:spPr>
          <a:xfrm>
            <a:off x="548640" y="3886200"/>
            <a:ext cx="5303520" cy="868680"/>
          </a:xfrm>
          <a:prstGeom prst="rect">
            <a:avLst/>
          </a:prstGeom>
          <a:solidFill>
            <a:srgbClr val="1A2A45"/>
          </a:solidFill>
          <a:ln w="19050">
            <a:solidFill>
              <a:srgbClr val="EAB308"/>
            </a:solidFill>
            <a:prstDash val="solid"/>
          </a:ln>
        </p:spPr>
        <p:txBody>
          <a:bodyPr/>
          <a:lstStyle/>
          <a:p>
            <a:endParaRPr lang="en-US"/>
          </a:p>
        </p:txBody>
      </p:sp>
      <p:sp>
        <p:nvSpPr>
          <p:cNvPr id="16" name="Text 14"/>
          <p:cNvSpPr/>
          <p:nvPr/>
        </p:nvSpPr>
        <p:spPr>
          <a:xfrm>
            <a:off x="685800" y="3931920"/>
            <a:ext cx="2286000" cy="256032"/>
          </a:xfrm>
          <a:prstGeom prst="rect">
            <a:avLst/>
          </a:prstGeom>
          <a:noFill/>
        </p:spPr>
        <p:txBody>
          <a:bodyPr wrap="square" lIns="0" tIns="0" rIns="0" bIns="0" rtlCol="0" anchor="ctr"/>
          <a:lstStyle/>
          <a:p>
            <a:pPr marL="0" indent="0">
              <a:buNone/>
            </a:pPr>
            <a:r>
              <a:rPr lang="en-US" sz="1200" b="1" dirty="0">
                <a:solidFill>
                  <a:srgbClr val="EAB308"/>
                </a:solidFill>
              </a:rPr>
              <a:t>Synergy Opportunity:</a:t>
            </a:r>
            <a:endParaRPr lang="en-US" sz="1200" dirty="0"/>
          </a:p>
        </p:txBody>
      </p:sp>
      <p:sp>
        <p:nvSpPr>
          <p:cNvPr id="17" name="Text 15"/>
          <p:cNvSpPr/>
          <p:nvPr/>
        </p:nvSpPr>
        <p:spPr>
          <a:xfrm>
            <a:off x="685800" y="4206240"/>
            <a:ext cx="5029200" cy="502920"/>
          </a:xfrm>
          <a:prstGeom prst="rect">
            <a:avLst/>
          </a:prstGeom>
          <a:noFill/>
        </p:spPr>
        <p:txBody>
          <a:bodyPr wrap="square" lIns="0" tIns="0" rIns="0" bIns="0" rtlCol="0" anchor="ctr"/>
          <a:lstStyle/>
          <a:p>
            <a:pPr marL="0" indent="0">
              <a:buNone/>
            </a:pPr>
            <a:r>
              <a:rPr lang="en-US" sz="1100" dirty="0">
                <a:solidFill>
                  <a:srgbClr val="E2E8F0"/>
                </a:solidFill>
              </a:rPr>
              <a:t>RowPress's 20× higher bit-flip volume could dramatically accelerate Deep-TROJ's PFN bit-flip,</a:t>
            </a:r>
            <a:endParaRPr lang="en-US" sz="1100" dirty="0"/>
          </a:p>
          <a:p>
            <a:pPr marL="0" indent="0">
              <a:buNone/>
            </a:pPr>
            <a:r>
              <a:rPr lang="en-US" sz="1100" dirty="0">
                <a:solidFill>
                  <a:srgbClr val="E2E8F0"/>
                </a:solidFill>
              </a:rPr>
              <a:t>reducing attack overhead below 5 iterations while maintaining 100% ASR.</a:t>
            </a:r>
            <a:endParaRPr lang="en-US" sz="1100" dirty="0"/>
          </a:p>
        </p:txBody>
      </p:sp>
      <p:sp>
        <p:nvSpPr>
          <p:cNvPr id="18" name="Shape 16"/>
          <p:cNvSpPr/>
          <p:nvPr/>
        </p:nvSpPr>
        <p:spPr>
          <a:xfrm>
            <a:off x="6126480" y="886968"/>
            <a:ext cx="2743200" cy="3977640"/>
          </a:xfrm>
          <a:prstGeom prst="rect">
            <a:avLst/>
          </a:prstGeom>
          <a:solidFill>
            <a:srgbClr val="162035"/>
          </a:solidFill>
          <a:ln w="12700">
            <a:solidFill>
              <a:srgbClr val="1E3A5F"/>
            </a:solidFill>
            <a:prstDash val="solid"/>
          </a:ln>
          <a:effectLst>
            <a:outerShdw blurRad="101600" dist="38100" dir="8100000" algn="bl" rotWithShape="0">
              <a:srgbClr val="000000">
                <a:alpha val="25000"/>
              </a:srgbClr>
            </a:outerShdw>
          </a:effectLst>
        </p:spPr>
        <p:txBody>
          <a:bodyPr/>
          <a:lstStyle/>
          <a:p>
            <a:endParaRPr lang="en-US"/>
          </a:p>
        </p:txBody>
      </p:sp>
      <p:sp>
        <p:nvSpPr>
          <p:cNvPr id="19" name="Text 17"/>
          <p:cNvSpPr/>
          <p:nvPr/>
        </p:nvSpPr>
        <p:spPr>
          <a:xfrm>
            <a:off x="6217920" y="941832"/>
            <a:ext cx="2560320" cy="256032"/>
          </a:xfrm>
          <a:prstGeom prst="rect">
            <a:avLst/>
          </a:prstGeom>
          <a:noFill/>
        </p:spPr>
        <p:txBody>
          <a:bodyPr wrap="square" lIns="0" tIns="0" rIns="0" bIns="0" rtlCol="0" anchor="ctr"/>
          <a:lstStyle/>
          <a:p>
            <a:pPr marL="0" indent="0">
              <a:buNone/>
            </a:pPr>
            <a:r>
              <a:rPr lang="en-US" sz="1200" b="1" dirty="0">
                <a:solidFill>
                  <a:srgbClr val="E2E8F0"/>
                </a:solidFill>
              </a:rPr>
              <a:t>Attack Comparison</a:t>
            </a:r>
            <a:endParaRPr lang="en-US" sz="1200" dirty="0"/>
          </a:p>
        </p:txBody>
      </p:sp>
      <p:sp>
        <p:nvSpPr>
          <p:cNvPr id="20" name="Shape 18"/>
          <p:cNvSpPr/>
          <p:nvPr/>
        </p:nvSpPr>
        <p:spPr>
          <a:xfrm>
            <a:off x="6172200" y="1298448"/>
            <a:ext cx="2651760" cy="320040"/>
          </a:xfrm>
          <a:prstGeom prst="rect">
            <a:avLst/>
          </a:prstGeom>
          <a:solidFill>
            <a:srgbClr val="1A2A45"/>
          </a:solidFill>
          <a:ln w="6350">
            <a:solidFill>
              <a:srgbClr val="1E3A5F"/>
            </a:solidFill>
            <a:prstDash val="solid"/>
          </a:ln>
        </p:spPr>
        <p:txBody>
          <a:bodyPr/>
          <a:lstStyle/>
          <a:p>
            <a:endParaRPr lang="en-US"/>
          </a:p>
        </p:txBody>
      </p:sp>
      <p:sp>
        <p:nvSpPr>
          <p:cNvPr id="21" name="Text 19"/>
          <p:cNvSpPr/>
          <p:nvPr/>
        </p:nvSpPr>
        <p:spPr>
          <a:xfrm>
            <a:off x="6199632" y="1335024"/>
            <a:ext cx="868680" cy="246888"/>
          </a:xfrm>
          <a:prstGeom prst="rect">
            <a:avLst/>
          </a:prstGeom>
          <a:noFill/>
        </p:spPr>
        <p:txBody>
          <a:bodyPr wrap="square" lIns="0" tIns="0" rIns="0" bIns="0" rtlCol="0" anchor="ctr"/>
          <a:lstStyle/>
          <a:p>
            <a:pPr marL="0" indent="0">
              <a:buNone/>
            </a:pPr>
            <a:r>
              <a:rPr lang="en-US" sz="950" b="1" dirty="0">
                <a:solidFill>
                  <a:srgbClr val="94A3B8"/>
                </a:solidFill>
              </a:rPr>
              <a:t>Attack Type</a:t>
            </a:r>
            <a:endParaRPr lang="en-US" sz="950" dirty="0"/>
          </a:p>
        </p:txBody>
      </p:sp>
      <p:sp>
        <p:nvSpPr>
          <p:cNvPr id="22" name="Text 20"/>
          <p:cNvSpPr/>
          <p:nvPr/>
        </p:nvSpPr>
        <p:spPr>
          <a:xfrm>
            <a:off x="7077456" y="1335024"/>
            <a:ext cx="804672" cy="246888"/>
          </a:xfrm>
          <a:prstGeom prst="rect">
            <a:avLst/>
          </a:prstGeom>
          <a:noFill/>
        </p:spPr>
        <p:txBody>
          <a:bodyPr wrap="square" lIns="0" tIns="0" rIns="0" bIns="0" rtlCol="0" anchor="ctr"/>
          <a:lstStyle/>
          <a:p>
            <a:pPr marL="0" indent="0">
              <a:buNone/>
            </a:pPr>
            <a:r>
              <a:rPr lang="en-US" sz="900" dirty="0">
                <a:solidFill>
                  <a:srgbClr val="F59E0B"/>
                </a:solidFill>
              </a:rPr>
              <a:t>Trojan</a:t>
            </a:r>
            <a:endParaRPr lang="en-US" sz="900" dirty="0"/>
          </a:p>
        </p:txBody>
      </p:sp>
      <p:sp>
        <p:nvSpPr>
          <p:cNvPr id="23" name="Text 21"/>
          <p:cNvSpPr/>
          <p:nvPr/>
        </p:nvSpPr>
        <p:spPr>
          <a:xfrm>
            <a:off x="7891272" y="1335024"/>
            <a:ext cx="914400" cy="246888"/>
          </a:xfrm>
          <a:prstGeom prst="rect">
            <a:avLst/>
          </a:prstGeom>
          <a:noFill/>
        </p:spPr>
        <p:txBody>
          <a:bodyPr wrap="square" lIns="0" tIns="0" rIns="0" bIns="0" rtlCol="0" anchor="ctr"/>
          <a:lstStyle/>
          <a:p>
            <a:pPr marL="0" indent="0">
              <a:buNone/>
            </a:pPr>
            <a:r>
              <a:rPr lang="en-US" sz="900" dirty="0">
                <a:solidFill>
                  <a:srgbClr val="8B5CF6"/>
                </a:solidFill>
              </a:rPr>
              <a:t>Bit-Flip Degradation</a:t>
            </a:r>
            <a:endParaRPr lang="en-US" sz="900" dirty="0"/>
          </a:p>
        </p:txBody>
      </p:sp>
      <p:sp>
        <p:nvSpPr>
          <p:cNvPr id="24" name="Shape 22"/>
          <p:cNvSpPr/>
          <p:nvPr/>
        </p:nvSpPr>
        <p:spPr>
          <a:xfrm>
            <a:off x="6172200" y="1636776"/>
            <a:ext cx="2651760" cy="320040"/>
          </a:xfrm>
          <a:prstGeom prst="rect">
            <a:avLst/>
          </a:prstGeom>
          <a:solidFill>
            <a:srgbClr val="162035"/>
          </a:solidFill>
          <a:ln w="6350">
            <a:solidFill>
              <a:srgbClr val="1E3A5F"/>
            </a:solidFill>
            <a:prstDash val="solid"/>
          </a:ln>
        </p:spPr>
        <p:txBody>
          <a:bodyPr/>
          <a:lstStyle/>
          <a:p>
            <a:endParaRPr lang="en-US"/>
          </a:p>
        </p:txBody>
      </p:sp>
      <p:sp>
        <p:nvSpPr>
          <p:cNvPr id="25" name="Text 23"/>
          <p:cNvSpPr/>
          <p:nvPr/>
        </p:nvSpPr>
        <p:spPr>
          <a:xfrm>
            <a:off x="6199632" y="1673352"/>
            <a:ext cx="868680" cy="246888"/>
          </a:xfrm>
          <a:prstGeom prst="rect">
            <a:avLst/>
          </a:prstGeom>
          <a:noFill/>
        </p:spPr>
        <p:txBody>
          <a:bodyPr wrap="square" lIns="0" tIns="0" rIns="0" bIns="0" rtlCol="0" anchor="ctr"/>
          <a:lstStyle/>
          <a:p>
            <a:pPr marL="0" indent="0">
              <a:buNone/>
            </a:pPr>
            <a:r>
              <a:rPr lang="en-US" sz="950" b="1" dirty="0">
                <a:solidFill>
                  <a:srgbClr val="94A3B8"/>
                </a:solidFill>
              </a:rPr>
              <a:t>Memory Fault</a:t>
            </a:r>
            <a:endParaRPr lang="en-US" sz="950" dirty="0"/>
          </a:p>
        </p:txBody>
      </p:sp>
      <p:sp>
        <p:nvSpPr>
          <p:cNvPr id="26" name="Text 24"/>
          <p:cNvSpPr/>
          <p:nvPr/>
        </p:nvSpPr>
        <p:spPr>
          <a:xfrm>
            <a:off x="7077456" y="1673352"/>
            <a:ext cx="804672" cy="246888"/>
          </a:xfrm>
          <a:prstGeom prst="rect">
            <a:avLst/>
          </a:prstGeom>
          <a:noFill/>
        </p:spPr>
        <p:txBody>
          <a:bodyPr wrap="square" lIns="0" tIns="0" rIns="0" bIns="0" rtlCol="0" anchor="ctr"/>
          <a:lstStyle/>
          <a:p>
            <a:pPr marL="0" indent="0">
              <a:buNone/>
            </a:pPr>
            <a:r>
              <a:rPr lang="en-US" sz="900" dirty="0">
                <a:solidFill>
                  <a:srgbClr val="F59E0B"/>
                </a:solidFill>
              </a:rPr>
              <a:t>PFN bit-flip</a:t>
            </a:r>
            <a:endParaRPr lang="en-US" sz="900" dirty="0"/>
          </a:p>
        </p:txBody>
      </p:sp>
      <p:sp>
        <p:nvSpPr>
          <p:cNvPr id="27" name="Text 25"/>
          <p:cNvSpPr/>
          <p:nvPr/>
        </p:nvSpPr>
        <p:spPr>
          <a:xfrm>
            <a:off x="7891272" y="1673352"/>
            <a:ext cx="914400" cy="246888"/>
          </a:xfrm>
          <a:prstGeom prst="rect">
            <a:avLst/>
          </a:prstGeom>
          <a:noFill/>
        </p:spPr>
        <p:txBody>
          <a:bodyPr wrap="square" lIns="0" tIns="0" rIns="0" bIns="0" rtlCol="0" anchor="ctr"/>
          <a:lstStyle/>
          <a:p>
            <a:pPr marL="0" indent="0">
              <a:buNone/>
            </a:pPr>
            <a:r>
              <a:rPr lang="en-US" sz="900" dirty="0">
                <a:solidFill>
                  <a:srgbClr val="8B5CF6"/>
                </a:solidFill>
              </a:rPr>
              <a:t>Row bit-flip</a:t>
            </a:r>
            <a:endParaRPr lang="en-US" sz="900" dirty="0"/>
          </a:p>
        </p:txBody>
      </p:sp>
      <p:sp>
        <p:nvSpPr>
          <p:cNvPr id="28" name="Shape 26"/>
          <p:cNvSpPr/>
          <p:nvPr/>
        </p:nvSpPr>
        <p:spPr>
          <a:xfrm>
            <a:off x="6172200" y="1975104"/>
            <a:ext cx="2651760" cy="320040"/>
          </a:xfrm>
          <a:prstGeom prst="rect">
            <a:avLst/>
          </a:prstGeom>
          <a:solidFill>
            <a:srgbClr val="1A2A45"/>
          </a:solidFill>
          <a:ln w="6350">
            <a:solidFill>
              <a:srgbClr val="1E3A5F"/>
            </a:solidFill>
            <a:prstDash val="solid"/>
          </a:ln>
        </p:spPr>
        <p:txBody>
          <a:bodyPr/>
          <a:lstStyle/>
          <a:p>
            <a:endParaRPr lang="en-US"/>
          </a:p>
        </p:txBody>
      </p:sp>
      <p:sp>
        <p:nvSpPr>
          <p:cNvPr id="29" name="Text 27"/>
          <p:cNvSpPr/>
          <p:nvPr/>
        </p:nvSpPr>
        <p:spPr>
          <a:xfrm>
            <a:off x="6199632" y="2011680"/>
            <a:ext cx="868680" cy="246888"/>
          </a:xfrm>
          <a:prstGeom prst="rect">
            <a:avLst/>
          </a:prstGeom>
          <a:noFill/>
        </p:spPr>
        <p:txBody>
          <a:bodyPr wrap="square" lIns="0" tIns="0" rIns="0" bIns="0" rtlCol="0" anchor="ctr"/>
          <a:lstStyle/>
          <a:p>
            <a:pPr marL="0" indent="0">
              <a:buNone/>
            </a:pPr>
            <a:r>
              <a:rPr lang="en-US" sz="950" b="1" dirty="0">
                <a:solidFill>
                  <a:srgbClr val="94A3B8"/>
                </a:solidFill>
              </a:rPr>
              <a:t>Target</a:t>
            </a:r>
            <a:endParaRPr lang="en-US" sz="950" dirty="0"/>
          </a:p>
        </p:txBody>
      </p:sp>
      <p:sp>
        <p:nvSpPr>
          <p:cNvPr id="30" name="Text 28"/>
          <p:cNvSpPr/>
          <p:nvPr/>
        </p:nvSpPr>
        <p:spPr>
          <a:xfrm>
            <a:off x="7077456" y="2011680"/>
            <a:ext cx="804672" cy="246888"/>
          </a:xfrm>
          <a:prstGeom prst="rect">
            <a:avLst/>
          </a:prstGeom>
          <a:noFill/>
        </p:spPr>
        <p:txBody>
          <a:bodyPr wrap="square" lIns="0" tIns="0" rIns="0" bIns="0" rtlCol="0" anchor="ctr"/>
          <a:lstStyle/>
          <a:p>
            <a:pPr marL="0" indent="0">
              <a:buNone/>
            </a:pPr>
            <a:r>
              <a:rPr lang="en-US" sz="900" dirty="0">
                <a:solidFill>
                  <a:srgbClr val="F59E0B"/>
                </a:solidFill>
              </a:rPr>
              <a:t>Weight block</a:t>
            </a:r>
            <a:endParaRPr lang="en-US" sz="900" dirty="0"/>
          </a:p>
        </p:txBody>
      </p:sp>
      <p:sp>
        <p:nvSpPr>
          <p:cNvPr id="31" name="Text 29"/>
          <p:cNvSpPr/>
          <p:nvPr/>
        </p:nvSpPr>
        <p:spPr>
          <a:xfrm>
            <a:off x="7891272" y="2011680"/>
            <a:ext cx="914400" cy="246888"/>
          </a:xfrm>
          <a:prstGeom prst="rect">
            <a:avLst/>
          </a:prstGeom>
          <a:noFill/>
        </p:spPr>
        <p:txBody>
          <a:bodyPr wrap="square" lIns="0" tIns="0" rIns="0" bIns="0" rtlCol="0" anchor="ctr"/>
          <a:lstStyle/>
          <a:p>
            <a:pPr marL="0" indent="0">
              <a:buNone/>
            </a:pPr>
            <a:r>
              <a:rPr lang="en-US" sz="900" dirty="0">
                <a:solidFill>
                  <a:srgbClr val="8B5CF6"/>
                </a:solidFill>
              </a:rPr>
              <a:t>Weight bits</a:t>
            </a:r>
            <a:endParaRPr lang="en-US" sz="900" dirty="0"/>
          </a:p>
        </p:txBody>
      </p:sp>
      <p:sp>
        <p:nvSpPr>
          <p:cNvPr id="32" name="Shape 30"/>
          <p:cNvSpPr/>
          <p:nvPr/>
        </p:nvSpPr>
        <p:spPr>
          <a:xfrm>
            <a:off x="6172200" y="2313432"/>
            <a:ext cx="2651760" cy="320040"/>
          </a:xfrm>
          <a:prstGeom prst="rect">
            <a:avLst/>
          </a:prstGeom>
          <a:solidFill>
            <a:srgbClr val="162035"/>
          </a:solidFill>
          <a:ln w="6350">
            <a:solidFill>
              <a:srgbClr val="1E3A5F"/>
            </a:solidFill>
            <a:prstDash val="solid"/>
          </a:ln>
        </p:spPr>
        <p:txBody>
          <a:bodyPr/>
          <a:lstStyle/>
          <a:p>
            <a:endParaRPr lang="en-US"/>
          </a:p>
        </p:txBody>
      </p:sp>
      <p:sp>
        <p:nvSpPr>
          <p:cNvPr id="33" name="Text 31"/>
          <p:cNvSpPr/>
          <p:nvPr/>
        </p:nvSpPr>
        <p:spPr>
          <a:xfrm>
            <a:off x="6199632" y="2350008"/>
            <a:ext cx="868680" cy="246888"/>
          </a:xfrm>
          <a:prstGeom prst="rect">
            <a:avLst/>
          </a:prstGeom>
          <a:noFill/>
        </p:spPr>
        <p:txBody>
          <a:bodyPr wrap="square" lIns="0" tIns="0" rIns="0" bIns="0" rtlCol="0" anchor="ctr"/>
          <a:lstStyle/>
          <a:p>
            <a:pPr marL="0" indent="0">
              <a:buNone/>
            </a:pPr>
            <a:r>
              <a:rPr lang="en-US" sz="950" b="1" dirty="0">
                <a:solidFill>
                  <a:srgbClr val="94A3B8"/>
                </a:solidFill>
              </a:rPr>
              <a:t>DRAM method</a:t>
            </a:r>
            <a:endParaRPr lang="en-US" sz="950" dirty="0"/>
          </a:p>
        </p:txBody>
      </p:sp>
      <p:sp>
        <p:nvSpPr>
          <p:cNvPr id="34" name="Text 32"/>
          <p:cNvSpPr/>
          <p:nvPr/>
        </p:nvSpPr>
        <p:spPr>
          <a:xfrm>
            <a:off x="7077456" y="2350008"/>
            <a:ext cx="804672" cy="246888"/>
          </a:xfrm>
          <a:prstGeom prst="rect">
            <a:avLst/>
          </a:prstGeom>
          <a:noFill/>
        </p:spPr>
        <p:txBody>
          <a:bodyPr wrap="square" lIns="0" tIns="0" rIns="0" bIns="0" rtlCol="0" anchor="ctr"/>
          <a:lstStyle/>
          <a:p>
            <a:pPr marL="0" indent="0">
              <a:buNone/>
            </a:pPr>
            <a:r>
              <a:rPr lang="en-US" sz="900" dirty="0">
                <a:solidFill>
                  <a:srgbClr val="F59E0B"/>
                </a:solidFill>
              </a:rPr>
              <a:t>RowHammer</a:t>
            </a:r>
            <a:endParaRPr lang="en-US" sz="900" dirty="0"/>
          </a:p>
        </p:txBody>
      </p:sp>
      <p:sp>
        <p:nvSpPr>
          <p:cNvPr id="35" name="Text 33"/>
          <p:cNvSpPr/>
          <p:nvPr/>
        </p:nvSpPr>
        <p:spPr>
          <a:xfrm>
            <a:off x="7891272" y="2350008"/>
            <a:ext cx="914400" cy="246888"/>
          </a:xfrm>
          <a:prstGeom prst="rect">
            <a:avLst/>
          </a:prstGeom>
          <a:noFill/>
        </p:spPr>
        <p:txBody>
          <a:bodyPr wrap="square" lIns="0" tIns="0" rIns="0" bIns="0" rtlCol="0" anchor="ctr"/>
          <a:lstStyle/>
          <a:p>
            <a:pPr marL="0" indent="0">
              <a:buNone/>
            </a:pPr>
            <a:r>
              <a:rPr lang="en-US" sz="900" dirty="0">
                <a:solidFill>
                  <a:srgbClr val="8B5CF6"/>
                </a:solidFill>
              </a:rPr>
              <a:t>RH or RowPress</a:t>
            </a:r>
            <a:endParaRPr lang="en-US" sz="900" dirty="0"/>
          </a:p>
        </p:txBody>
      </p:sp>
      <p:sp>
        <p:nvSpPr>
          <p:cNvPr id="36" name="Shape 34"/>
          <p:cNvSpPr/>
          <p:nvPr/>
        </p:nvSpPr>
        <p:spPr>
          <a:xfrm>
            <a:off x="6172200" y="2651760"/>
            <a:ext cx="2651760" cy="320040"/>
          </a:xfrm>
          <a:prstGeom prst="rect">
            <a:avLst/>
          </a:prstGeom>
          <a:solidFill>
            <a:srgbClr val="1A2A45"/>
          </a:solidFill>
          <a:ln w="6350">
            <a:solidFill>
              <a:srgbClr val="1E3A5F"/>
            </a:solidFill>
            <a:prstDash val="solid"/>
          </a:ln>
        </p:spPr>
        <p:txBody>
          <a:bodyPr/>
          <a:lstStyle/>
          <a:p>
            <a:endParaRPr lang="en-US"/>
          </a:p>
        </p:txBody>
      </p:sp>
      <p:sp>
        <p:nvSpPr>
          <p:cNvPr id="37" name="Text 35"/>
          <p:cNvSpPr/>
          <p:nvPr/>
        </p:nvSpPr>
        <p:spPr>
          <a:xfrm>
            <a:off x="6199632" y="2688336"/>
            <a:ext cx="868680" cy="246888"/>
          </a:xfrm>
          <a:prstGeom prst="rect">
            <a:avLst/>
          </a:prstGeom>
          <a:noFill/>
        </p:spPr>
        <p:txBody>
          <a:bodyPr wrap="square" lIns="0" tIns="0" rIns="0" bIns="0" rtlCol="0" anchor="ctr"/>
          <a:lstStyle/>
          <a:p>
            <a:pPr marL="0" indent="0">
              <a:buNone/>
            </a:pPr>
            <a:r>
              <a:rPr lang="en-US" sz="950" b="1" dirty="0">
                <a:solidFill>
                  <a:srgbClr val="94A3B8"/>
                </a:solidFill>
              </a:rPr>
              <a:t>Stealthiness</a:t>
            </a:r>
            <a:endParaRPr lang="en-US" sz="950" dirty="0"/>
          </a:p>
        </p:txBody>
      </p:sp>
      <p:sp>
        <p:nvSpPr>
          <p:cNvPr id="38" name="Text 36"/>
          <p:cNvSpPr/>
          <p:nvPr/>
        </p:nvSpPr>
        <p:spPr>
          <a:xfrm>
            <a:off x="7077456" y="2688336"/>
            <a:ext cx="804672" cy="246888"/>
          </a:xfrm>
          <a:prstGeom prst="rect">
            <a:avLst/>
          </a:prstGeom>
          <a:noFill/>
        </p:spPr>
        <p:txBody>
          <a:bodyPr wrap="square" lIns="0" tIns="0" rIns="0" bIns="0" rtlCol="0" anchor="ctr"/>
          <a:lstStyle/>
          <a:p>
            <a:pPr marL="0" indent="0">
              <a:buNone/>
            </a:pPr>
            <a:r>
              <a:rPr lang="en-US" sz="900" dirty="0">
                <a:solidFill>
                  <a:srgbClr val="F59E0B"/>
                </a:solidFill>
              </a:rPr>
              <a:t>High</a:t>
            </a:r>
            <a:endParaRPr lang="en-US" sz="900" dirty="0"/>
          </a:p>
        </p:txBody>
      </p:sp>
      <p:sp>
        <p:nvSpPr>
          <p:cNvPr id="39" name="Text 37"/>
          <p:cNvSpPr/>
          <p:nvPr/>
        </p:nvSpPr>
        <p:spPr>
          <a:xfrm>
            <a:off x="7891272" y="2688336"/>
            <a:ext cx="914400" cy="246888"/>
          </a:xfrm>
          <a:prstGeom prst="rect">
            <a:avLst/>
          </a:prstGeom>
          <a:noFill/>
        </p:spPr>
        <p:txBody>
          <a:bodyPr wrap="square" lIns="0" tIns="0" rIns="0" bIns="0" rtlCol="0" anchor="ctr"/>
          <a:lstStyle/>
          <a:p>
            <a:pPr marL="0" indent="0">
              <a:buNone/>
            </a:pPr>
            <a:r>
              <a:rPr lang="en-US" sz="900" dirty="0">
                <a:solidFill>
                  <a:srgbClr val="8B5CF6"/>
                </a:solidFill>
              </a:rPr>
              <a:t>Higher (RP)</a:t>
            </a:r>
            <a:endParaRPr lang="en-US" sz="900" dirty="0"/>
          </a:p>
        </p:txBody>
      </p:sp>
      <p:sp>
        <p:nvSpPr>
          <p:cNvPr id="40" name="Shape 38"/>
          <p:cNvSpPr/>
          <p:nvPr/>
        </p:nvSpPr>
        <p:spPr>
          <a:xfrm>
            <a:off x="6172200" y="2990088"/>
            <a:ext cx="2651760" cy="320040"/>
          </a:xfrm>
          <a:prstGeom prst="rect">
            <a:avLst/>
          </a:prstGeom>
          <a:solidFill>
            <a:srgbClr val="162035"/>
          </a:solidFill>
          <a:ln w="6350">
            <a:solidFill>
              <a:srgbClr val="1E3A5F"/>
            </a:solidFill>
            <a:prstDash val="solid"/>
          </a:ln>
        </p:spPr>
        <p:txBody>
          <a:bodyPr/>
          <a:lstStyle/>
          <a:p>
            <a:endParaRPr lang="en-US"/>
          </a:p>
        </p:txBody>
      </p:sp>
      <p:sp>
        <p:nvSpPr>
          <p:cNvPr id="41" name="Text 39"/>
          <p:cNvSpPr/>
          <p:nvPr/>
        </p:nvSpPr>
        <p:spPr>
          <a:xfrm>
            <a:off x="6199632" y="3026664"/>
            <a:ext cx="868680" cy="246888"/>
          </a:xfrm>
          <a:prstGeom prst="rect">
            <a:avLst/>
          </a:prstGeom>
          <a:noFill/>
        </p:spPr>
        <p:txBody>
          <a:bodyPr wrap="square" lIns="0" tIns="0" rIns="0" bIns="0" rtlCol="0" anchor="ctr"/>
          <a:lstStyle/>
          <a:p>
            <a:pPr marL="0" indent="0">
              <a:buNone/>
            </a:pPr>
            <a:r>
              <a:rPr lang="en-US" sz="950" b="1" dirty="0">
                <a:solidFill>
                  <a:srgbClr val="94A3B8"/>
                </a:solidFill>
              </a:rPr>
              <a:t>Training req.</a:t>
            </a:r>
            <a:endParaRPr lang="en-US" sz="950" dirty="0"/>
          </a:p>
        </p:txBody>
      </p:sp>
      <p:sp>
        <p:nvSpPr>
          <p:cNvPr id="42" name="Text 40"/>
          <p:cNvSpPr/>
          <p:nvPr/>
        </p:nvSpPr>
        <p:spPr>
          <a:xfrm>
            <a:off x="7077456" y="3026664"/>
            <a:ext cx="804672" cy="246888"/>
          </a:xfrm>
          <a:prstGeom prst="rect">
            <a:avLst/>
          </a:prstGeom>
          <a:noFill/>
        </p:spPr>
        <p:txBody>
          <a:bodyPr wrap="square" lIns="0" tIns="0" rIns="0" bIns="0" rtlCol="0" anchor="ctr"/>
          <a:lstStyle/>
          <a:p>
            <a:pPr marL="0" indent="0">
              <a:buNone/>
            </a:pPr>
            <a:r>
              <a:rPr lang="en-US" sz="900" dirty="0">
                <a:solidFill>
                  <a:srgbClr val="F59E0B"/>
                </a:solidFill>
              </a:rPr>
              <a:t>None</a:t>
            </a:r>
            <a:endParaRPr lang="en-US" sz="900" dirty="0"/>
          </a:p>
        </p:txBody>
      </p:sp>
      <p:sp>
        <p:nvSpPr>
          <p:cNvPr id="43" name="Text 41"/>
          <p:cNvSpPr/>
          <p:nvPr/>
        </p:nvSpPr>
        <p:spPr>
          <a:xfrm>
            <a:off x="7891272" y="3026664"/>
            <a:ext cx="914400" cy="246888"/>
          </a:xfrm>
          <a:prstGeom prst="rect">
            <a:avLst/>
          </a:prstGeom>
          <a:noFill/>
        </p:spPr>
        <p:txBody>
          <a:bodyPr wrap="square" lIns="0" tIns="0" rIns="0" bIns="0" rtlCol="0" anchor="ctr"/>
          <a:lstStyle/>
          <a:p>
            <a:pPr marL="0" indent="0">
              <a:buNone/>
            </a:pPr>
            <a:r>
              <a:rPr lang="en-US" sz="900" dirty="0">
                <a:solidFill>
                  <a:srgbClr val="8B5CF6"/>
                </a:solidFill>
              </a:rPr>
              <a:t>None</a:t>
            </a:r>
            <a:endParaRPr lang="en-US" sz="900" dirty="0"/>
          </a:p>
        </p:txBody>
      </p:sp>
      <p:sp>
        <p:nvSpPr>
          <p:cNvPr id="44" name="Shape 42"/>
          <p:cNvSpPr/>
          <p:nvPr/>
        </p:nvSpPr>
        <p:spPr>
          <a:xfrm>
            <a:off x="6172200" y="3328416"/>
            <a:ext cx="2651760" cy="320040"/>
          </a:xfrm>
          <a:prstGeom prst="rect">
            <a:avLst/>
          </a:prstGeom>
          <a:solidFill>
            <a:srgbClr val="1A2A45"/>
          </a:solidFill>
          <a:ln w="6350">
            <a:solidFill>
              <a:srgbClr val="1E3A5F"/>
            </a:solidFill>
            <a:prstDash val="solid"/>
          </a:ln>
        </p:spPr>
        <p:txBody>
          <a:bodyPr/>
          <a:lstStyle/>
          <a:p>
            <a:endParaRPr lang="en-US"/>
          </a:p>
        </p:txBody>
      </p:sp>
      <p:sp>
        <p:nvSpPr>
          <p:cNvPr id="45" name="Text 43"/>
          <p:cNvSpPr/>
          <p:nvPr/>
        </p:nvSpPr>
        <p:spPr>
          <a:xfrm>
            <a:off x="6199632" y="3364992"/>
            <a:ext cx="868680" cy="246888"/>
          </a:xfrm>
          <a:prstGeom prst="rect">
            <a:avLst/>
          </a:prstGeom>
          <a:noFill/>
        </p:spPr>
        <p:txBody>
          <a:bodyPr wrap="square" lIns="0" tIns="0" rIns="0" bIns="0" rtlCol="0" anchor="ctr"/>
          <a:lstStyle/>
          <a:p>
            <a:pPr marL="0" indent="0">
              <a:buNone/>
            </a:pPr>
            <a:r>
              <a:rPr lang="en-US" sz="950" b="1" dirty="0">
                <a:solidFill>
                  <a:srgbClr val="94A3B8"/>
                </a:solidFill>
              </a:rPr>
              <a:t># ops needed</a:t>
            </a:r>
            <a:endParaRPr lang="en-US" sz="950" dirty="0"/>
          </a:p>
        </p:txBody>
      </p:sp>
      <p:sp>
        <p:nvSpPr>
          <p:cNvPr id="46" name="Text 44"/>
          <p:cNvSpPr/>
          <p:nvPr/>
        </p:nvSpPr>
        <p:spPr>
          <a:xfrm>
            <a:off x="7077456" y="3364992"/>
            <a:ext cx="804672" cy="246888"/>
          </a:xfrm>
          <a:prstGeom prst="rect">
            <a:avLst/>
          </a:prstGeom>
          <a:noFill/>
        </p:spPr>
        <p:txBody>
          <a:bodyPr wrap="square" lIns="0" tIns="0" rIns="0" bIns="0" rtlCol="0" anchor="ctr"/>
          <a:lstStyle/>
          <a:p>
            <a:pPr marL="0" indent="0">
              <a:buNone/>
            </a:pPr>
            <a:r>
              <a:rPr lang="en-US" sz="900" dirty="0">
                <a:solidFill>
                  <a:srgbClr val="F59E0B"/>
                </a:solidFill>
              </a:rPr>
              <a:t>k=5 addrs</a:t>
            </a:r>
            <a:endParaRPr lang="en-US" sz="900" dirty="0"/>
          </a:p>
        </p:txBody>
      </p:sp>
      <p:sp>
        <p:nvSpPr>
          <p:cNvPr id="47" name="Text 45"/>
          <p:cNvSpPr/>
          <p:nvPr/>
        </p:nvSpPr>
        <p:spPr>
          <a:xfrm>
            <a:off x="7891272" y="3364992"/>
            <a:ext cx="914400" cy="246888"/>
          </a:xfrm>
          <a:prstGeom prst="rect">
            <a:avLst/>
          </a:prstGeom>
          <a:noFill/>
        </p:spPr>
        <p:txBody>
          <a:bodyPr wrap="square" lIns="0" tIns="0" rIns="0" bIns="0" rtlCol="0" anchor="ctr"/>
          <a:lstStyle/>
          <a:p>
            <a:pPr marL="0" indent="0">
              <a:buNone/>
            </a:pPr>
            <a:r>
              <a:rPr lang="en-US" sz="900" dirty="0">
                <a:solidFill>
                  <a:srgbClr val="8B5CF6"/>
                </a:solidFill>
              </a:rPr>
              <a:t>8-45 bit-flips</a:t>
            </a:r>
            <a:endParaRPr lang="en-US" sz="900" dirty="0"/>
          </a:p>
        </p:txBody>
      </p:sp>
      <p:sp>
        <p:nvSpPr>
          <p:cNvPr id="48" name="Shape 46"/>
          <p:cNvSpPr/>
          <p:nvPr/>
        </p:nvSpPr>
        <p:spPr>
          <a:xfrm>
            <a:off x="6172200" y="3666744"/>
            <a:ext cx="2651760" cy="320040"/>
          </a:xfrm>
          <a:prstGeom prst="rect">
            <a:avLst/>
          </a:prstGeom>
          <a:solidFill>
            <a:srgbClr val="162035"/>
          </a:solidFill>
          <a:ln w="6350">
            <a:solidFill>
              <a:srgbClr val="1E3A5F"/>
            </a:solidFill>
            <a:prstDash val="solid"/>
          </a:ln>
        </p:spPr>
        <p:txBody>
          <a:bodyPr/>
          <a:lstStyle/>
          <a:p>
            <a:endParaRPr lang="en-US"/>
          </a:p>
        </p:txBody>
      </p:sp>
      <p:sp>
        <p:nvSpPr>
          <p:cNvPr id="49" name="Text 47"/>
          <p:cNvSpPr/>
          <p:nvPr/>
        </p:nvSpPr>
        <p:spPr>
          <a:xfrm>
            <a:off x="6199632" y="3703320"/>
            <a:ext cx="868680" cy="246888"/>
          </a:xfrm>
          <a:prstGeom prst="rect">
            <a:avLst/>
          </a:prstGeom>
          <a:noFill/>
        </p:spPr>
        <p:txBody>
          <a:bodyPr wrap="square" lIns="0" tIns="0" rIns="0" bIns="0" rtlCol="0" anchor="ctr"/>
          <a:lstStyle/>
          <a:p>
            <a:pPr marL="0" indent="0">
              <a:buNone/>
            </a:pPr>
            <a:r>
              <a:rPr lang="en-US" sz="950" b="1" dirty="0">
                <a:solidFill>
                  <a:srgbClr val="94A3B8"/>
                </a:solidFill>
              </a:rPr>
              <a:t>ViT success</a:t>
            </a:r>
            <a:endParaRPr lang="en-US" sz="950" dirty="0"/>
          </a:p>
        </p:txBody>
      </p:sp>
      <p:sp>
        <p:nvSpPr>
          <p:cNvPr id="50" name="Text 48"/>
          <p:cNvSpPr/>
          <p:nvPr/>
        </p:nvSpPr>
        <p:spPr>
          <a:xfrm>
            <a:off x="7077456" y="3703320"/>
            <a:ext cx="804672" cy="246888"/>
          </a:xfrm>
          <a:prstGeom prst="rect">
            <a:avLst/>
          </a:prstGeom>
          <a:noFill/>
        </p:spPr>
        <p:txBody>
          <a:bodyPr wrap="square" lIns="0" tIns="0" rIns="0" bIns="0" rtlCol="0" anchor="ctr"/>
          <a:lstStyle/>
          <a:p>
            <a:pPr marL="0" indent="0">
              <a:buNone/>
            </a:pPr>
            <a:r>
              <a:rPr lang="en-US" sz="900" dirty="0">
                <a:solidFill>
                  <a:srgbClr val="F59E0B"/>
                </a:solidFill>
              </a:rPr>
              <a:t>100% ASR</a:t>
            </a:r>
            <a:endParaRPr lang="en-US" sz="900" dirty="0"/>
          </a:p>
        </p:txBody>
      </p:sp>
      <p:sp>
        <p:nvSpPr>
          <p:cNvPr id="51" name="Text 49"/>
          <p:cNvSpPr/>
          <p:nvPr/>
        </p:nvSpPr>
        <p:spPr>
          <a:xfrm>
            <a:off x="7891272" y="3703320"/>
            <a:ext cx="914400" cy="246888"/>
          </a:xfrm>
          <a:prstGeom prst="rect">
            <a:avLst/>
          </a:prstGeom>
          <a:noFill/>
        </p:spPr>
        <p:txBody>
          <a:bodyPr wrap="square" lIns="0" tIns="0" rIns="0" bIns="0" rtlCol="0" anchor="ctr"/>
          <a:lstStyle/>
          <a:p>
            <a:pPr marL="0" indent="0">
              <a:buNone/>
            </a:pPr>
            <a:r>
              <a:rPr lang="en-US" sz="900" dirty="0">
                <a:solidFill>
                  <a:srgbClr val="8B5CF6"/>
                </a:solidFill>
              </a:rPr>
              <a:t>13-45 flips</a:t>
            </a:r>
            <a:endParaRPr lang="en-US" sz="900" dirty="0"/>
          </a:p>
        </p:txBody>
      </p:sp>
      <p:sp>
        <p:nvSpPr>
          <p:cNvPr id="52" name="Shape 50"/>
          <p:cNvSpPr/>
          <p:nvPr/>
        </p:nvSpPr>
        <p:spPr>
          <a:xfrm>
            <a:off x="7077456" y="1188720"/>
            <a:ext cx="804672" cy="128016"/>
          </a:xfrm>
          <a:prstGeom prst="rect">
            <a:avLst/>
          </a:prstGeom>
          <a:solidFill>
            <a:srgbClr val="F59E0B"/>
          </a:solidFill>
          <a:ln w="12700">
            <a:solidFill>
              <a:srgbClr val="F59E0B"/>
            </a:solidFill>
            <a:prstDash val="solid"/>
          </a:ln>
        </p:spPr>
        <p:txBody>
          <a:bodyPr/>
          <a:lstStyle/>
          <a:p>
            <a:endParaRPr lang="en-US"/>
          </a:p>
        </p:txBody>
      </p:sp>
      <p:sp>
        <p:nvSpPr>
          <p:cNvPr id="53" name="Text 51"/>
          <p:cNvSpPr/>
          <p:nvPr/>
        </p:nvSpPr>
        <p:spPr>
          <a:xfrm>
            <a:off x="7077456" y="1188720"/>
            <a:ext cx="804672" cy="128016"/>
          </a:xfrm>
          <a:prstGeom prst="rect">
            <a:avLst/>
          </a:prstGeom>
          <a:noFill/>
        </p:spPr>
        <p:txBody>
          <a:bodyPr wrap="square" lIns="0" tIns="0" rIns="0" bIns="0" rtlCol="0" anchor="ctr"/>
          <a:lstStyle/>
          <a:p>
            <a:pPr marL="0" indent="0" algn="ctr">
              <a:buNone/>
            </a:pPr>
            <a:r>
              <a:rPr lang="en-US" sz="800" b="1" dirty="0">
                <a:solidFill>
                  <a:srgbClr val="FFFFFF"/>
                </a:solidFill>
              </a:rPr>
              <a:t>DT</a:t>
            </a:r>
            <a:endParaRPr lang="en-US" sz="800" dirty="0"/>
          </a:p>
        </p:txBody>
      </p:sp>
      <p:sp>
        <p:nvSpPr>
          <p:cNvPr id="54" name="Shape 52"/>
          <p:cNvSpPr/>
          <p:nvPr/>
        </p:nvSpPr>
        <p:spPr>
          <a:xfrm>
            <a:off x="7891272" y="1188720"/>
            <a:ext cx="914400" cy="128016"/>
          </a:xfrm>
          <a:prstGeom prst="rect">
            <a:avLst/>
          </a:prstGeom>
          <a:solidFill>
            <a:srgbClr val="8B5CF6"/>
          </a:solidFill>
          <a:ln w="12700">
            <a:solidFill>
              <a:srgbClr val="8B5CF6"/>
            </a:solidFill>
            <a:prstDash val="solid"/>
          </a:ln>
        </p:spPr>
        <p:txBody>
          <a:bodyPr/>
          <a:lstStyle/>
          <a:p>
            <a:endParaRPr lang="en-US"/>
          </a:p>
        </p:txBody>
      </p:sp>
      <p:sp>
        <p:nvSpPr>
          <p:cNvPr id="55" name="Text 53"/>
          <p:cNvSpPr/>
          <p:nvPr/>
        </p:nvSpPr>
        <p:spPr>
          <a:xfrm>
            <a:off x="7891272" y="1188720"/>
            <a:ext cx="914400" cy="128016"/>
          </a:xfrm>
          <a:prstGeom prst="rect">
            <a:avLst/>
          </a:prstGeom>
          <a:noFill/>
        </p:spPr>
        <p:txBody>
          <a:bodyPr wrap="square" lIns="0" tIns="0" rIns="0" bIns="0" rtlCol="0" anchor="ctr"/>
          <a:lstStyle/>
          <a:p>
            <a:pPr marL="0" indent="0" algn="ctr">
              <a:buNone/>
            </a:pPr>
            <a:r>
              <a:rPr lang="en-US" sz="800" b="1" dirty="0">
                <a:solidFill>
                  <a:srgbClr val="FFFFFF"/>
                </a:solidFill>
              </a:rPr>
              <a:t>RP</a:t>
            </a:r>
            <a:endParaRPr lang="en-US" sz="8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3B82F6"/>
          </a:solidFill>
          <a:ln w="12700">
            <a:solidFill>
              <a:srgbClr val="3B82F6"/>
            </a:solidFill>
            <a:prstDash val="solid"/>
          </a:ln>
        </p:spPr>
        <p:txBody>
          <a:bodyPr/>
          <a:lstStyle/>
          <a:p>
            <a:endParaRPr lang="en-US"/>
          </a:p>
        </p:txBody>
      </p:sp>
      <p:sp>
        <p:nvSpPr>
          <p:cNvPr id="4" name="Text 2"/>
          <p:cNvSpPr/>
          <p:nvPr/>
        </p:nvSpPr>
        <p:spPr>
          <a:xfrm>
            <a:off x="640080" y="182880"/>
            <a:ext cx="1828800" cy="182880"/>
          </a:xfrm>
          <a:prstGeom prst="rect">
            <a:avLst/>
          </a:prstGeom>
          <a:noFill/>
        </p:spPr>
        <p:txBody>
          <a:bodyPr wrap="square" lIns="0" tIns="0" rIns="0" bIns="0" rtlCol="0" anchor="ctr"/>
          <a:lstStyle/>
          <a:p>
            <a:pPr marL="0" indent="0">
              <a:buNone/>
            </a:pPr>
            <a:r>
              <a:rPr lang="en-US" sz="900" b="1" kern="0" spc="200" dirty="0">
                <a:solidFill>
                  <a:srgbClr val="3B82F6"/>
                </a:solidFill>
              </a:rPr>
              <a:t>TAKEAWAYS</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Key Findings from Both Papers</a:t>
            </a:r>
            <a:endParaRPr lang="en-US" sz="2600" dirty="0"/>
          </a:p>
        </p:txBody>
      </p:sp>
      <p:sp>
        <p:nvSpPr>
          <p:cNvPr id="6" name="Shape 4"/>
          <p:cNvSpPr/>
          <p:nvPr/>
        </p:nvSpPr>
        <p:spPr>
          <a:xfrm>
            <a:off x="365760" y="886968"/>
            <a:ext cx="8412480" cy="749808"/>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365760" y="886968"/>
            <a:ext cx="64008" cy="749808"/>
          </a:xfrm>
          <a:prstGeom prst="rect">
            <a:avLst/>
          </a:prstGeom>
          <a:solidFill>
            <a:srgbClr val="F59E0B"/>
          </a:solidFill>
          <a:ln w="12700">
            <a:solidFill>
              <a:srgbClr val="F59E0B"/>
            </a:solidFill>
            <a:prstDash val="solid"/>
          </a:ln>
        </p:spPr>
        <p:txBody>
          <a:bodyPr/>
          <a:lstStyle/>
          <a:p>
            <a:endParaRPr lang="en-US"/>
          </a:p>
        </p:txBody>
      </p:sp>
      <p:sp>
        <p:nvSpPr>
          <p:cNvPr id="8" name="Shape 6"/>
          <p:cNvSpPr/>
          <p:nvPr/>
        </p:nvSpPr>
        <p:spPr>
          <a:xfrm>
            <a:off x="512064" y="1042416"/>
            <a:ext cx="457200" cy="438912"/>
          </a:xfrm>
          <a:prstGeom prst="rect">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512064" y="1042416"/>
            <a:ext cx="457200" cy="438912"/>
          </a:xfrm>
          <a:prstGeom prst="rect">
            <a:avLst/>
          </a:prstGeom>
          <a:noFill/>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10" name="Text 8"/>
          <p:cNvSpPr/>
          <p:nvPr/>
        </p:nvSpPr>
        <p:spPr>
          <a:xfrm>
            <a:off x="1097280" y="941832"/>
            <a:ext cx="7498080" cy="274320"/>
          </a:xfrm>
          <a:prstGeom prst="rect">
            <a:avLst/>
          </a:prstGeom>
          <a:noFill/>
        </p:spPr>
        <p:txBody>
          <a:bodyPr wrap="square" lIns="0" tIns="0" rIns="0" bIns="0" rtlCol="0" anchor="ctr"/>
          <a:lstStyle/>
          <a:p>
            <a:pPr marL="0" indent="0">
              <a:buNone/>
            </a:pPr>
            <a:r>
              <a:rPr lang="en-US" sz="1300" b="1" dirty="0">
                <a:solidFill>
                  <a:srgbClr val="F59E0B"/>
                </a:solidFill>
              </a:rPr>
              <a:t>Inference-stage Trojans are practical without training access</a:t>
            </a:r>
            <a:endParaRPr lang="en-US" sz="1300" dirty="0"/>
          </a:p>
        </p:txBody>
      </p:sp>
      <p:sp>
        <p:nvSpPr>
          <p:cNvPr id="11" name="Text 9"/>
          <p:cNvSpPr/>
          <p:nvPr/>
        </p:nvSpPr>
        <p:spPr>
          <a:xfrm>
            <a:off x="1097280" y="1234440"/>
            <a:ext cx="7498080" cy="347472"/>
          </a:xfrm>
          <a:prstGeom prst="rect">
            <a:avLst/>
          </a:prstGeom>
          <a:noFill/>
        </p:spPr>
        <p:txBody>
          <a:bodyPr wrap="square" lIns="0" tIns="0" rIns="0" bIns="0" rtlCol="0" anchor="ctr"/>
          <a:lstStyle/>
          <a:p>
            <a:pPr marL="0" indent="0">
              <a:buNone/>
            </a:pPr>
            <a:r>
              <a:rPr lang="en-US" sz="1050" dirty="0">
                <a:solidFill>
                  <a:srgbClr val="E2E8F0"/>
                </a:solidFill>
              </a:rPr>
              <a:t>Deep-TROJ achieves &gt;97% ASR (CNN) and 100% ASR (ViT) using only k=5 memory address changes via PFN bit-flips — no training data, no hyperparameters required.</a:t>
            </a:r>
            <a:endParaRPr lang="en-US" sz="1050" dirty="0"/>
          </a:p>
        </p:txBody>
      </p:sp>
      <p:sp>
        <p:nvSpPr>
          <p:cNvPr id="12" name="Shape 10"/>
          <p:cNvSpPr/>
          <p:nvPr/>
        </p:nvSpPr>
        <p:spPr>
          <a:xfrm>
            <a:off x="365760" y="1709928"/>
            <a:ext cx="8412480" cy="749808"/>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1"/>
          <p:cNvSpPr/>
          <p:nvPr/>
        </p:nvSpPr>
        <p:spPr>
          <a:xfrm>
            <a:off x="365760" y="1709928"/>
            <a:ext cx="64008" cy="749808"/>
          </a:xfrm>
          <a:prstGeom prst="rect">
            <a:avLst/>
          </a:prstGeom>
          <a:solidFill>
            <a:srgbClr val="8B5CF6"/>
          </a:solidFill>
          <a:ln w="12700">
            <a:solidFill>
              <a:srgbClr val="8B5CF6"/>
            </a:solidFill>
            <a:prstDash val="solid"/>
          </a:ln>
        </p:spPr>
        <p:txBody>
          <a:bodyPr/>
          <a:lstStyle/>
          <a:p>
            <a:endParaRPr lang="en-US"/>
          </a:p>
        </p:txBody>
      </p:sp>
      <p:sp>
        <p:nvSpPr>
          <p:cNvPr id="14" name="Shape 12"/>
          <p:cNvSpPr/>
          <p:nvPr/>
        </p:nvSpPr>
        <p:spPr>
          <a:xfrm>
            <a:off x="512064" y="1865376"/>
            <a:ext cx="457200" cy="438912"/>
          </a:xfrm>
          <a:prstGeom prst="rect">
            <a:avLst/>
          </a:prstGeom>
          <a:solidFill>
            <a:srgbClr val="8B5CF6"/>
          </a:solidFill>
          <a:ln w="12700">
            <a:solidFill>
              <a:srgbClr val="8B5CF6"/>
            </a:solidFill>
            <a:prstDash val="solid"/>
          </a:ln>
        </p:spPr>
        <p:txBody>
          <a:bodyPr/>
          <a:lstStyle/>
          <a:p>
            <a:endParaRPr lang="en-US"/>
          </a:p>
        </p:txBody>
      </p:sp>
      <p:sp>
        <p:nvSpPr>
          <p:cNvPr id="15" name="Text 13"/>
          <p:cNvSpPr/>
          <p:nvPr/>
        </p:nvSpPr>
        <p:spPr>
          <a:xfrm>
            <a:off x="512064" y="1865376"/>
            <a:ext cx="457200" cy="438912"/>
          </a:xfrm>
          <a:prstGeom prst="rect">
            <a:avLst/>
          </a:prstGeom>
          <a:noFill/>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6" name="Text 14"/>
          <p:cNvSpPr/>
          <p:nvPr/>
        </p:nvSpPr>
        <p:spPr>
          <a:xfrm>
            <a:off x="1097280" y="1764792"/>
            <a:ext cx="7498080" cy="274320"/>
          </a:xfrm>
          <a:prstGeom prst="rect">
            <a:avLst/>
          </a:prstGeom>
          <a:noFill/>
        </p:spPr>
        <p:txBody>
          <a:bodyPr wrap="square" lIns="0" tIns="0" rIns="0" bIns="0" rtlCol="0" anchor="ctr"/>
          <a:lstStyle/>
          <a:p>
            <a:pPr marL="0" indent="0">
              <a:buNone/>
            </a:pPr>
            <a:r>
              <a:rPr lang="en-US" sz="1300" b="1" dirty="0">
                <a:solidFill>
                  <a:srgbClr val="8B5CF6"/>
                </a:solidFill>
              </a:rPr>
              <a:t>RowPress is a dramatically more potent DRAM attack than RowHammer</a:t>
            </a:r>
            <a:endParaRPr lang="en-US" sz="1300" dirty="0"/>
          </a:p>
        </p:txBody>
      </p:sp>
      <p:sp>
        <p:nvSpPr>
          <p:cNvPr id="17" name="Text 15"/>
          <p:cNvSpPr/>
          <p:nvPr/>
        </p:nvSpPr>
        <p:spPr>
          <a:xfrm>
            <a:off x="1097280" y="2057400"/>
            <a:ext cx="7498080" cy="347472"/>
          </a:xfrm>
          <a:prstGeom prst="rect">
            <a:avLst/>
          </a:prstGeom>
          <a:noFill/>
        </p:spPr>
        <p:txBody>
          <a:bodyPr wrap="square" lIns="0" tIns="0" rIns="0" bIns="0" rtlCol="0" anchor="ctr"/>
          <a:lstStyle/>
          <a:p>
            <a:pPr marL="0" indent="0">
              <a:buNone/>
            </a:pPr>
            <a:r>
              <a:rPr lang="en-US" sz="1050" dirty="0">
                <a:solidFill>
                  <a:srgbClr val="E2E8F0"/>
                </a:solidFill>
              </a:rPr>
              <a:t>RowPress produces 20× more bit-flips per unit time, bypasses all counter-based defenses, and requires only 3.6× fewer bit-flips on average to destroy DNN intelligence.</a:t>
            </a:r>
            <a:endParaRPr lang="en-US" sz="1050" dirty="0"/>
          </a:p>
        </p:txBody>
      </p:sp>
      <p:sp>
        <p:nvSpPr>
          <p:cNvPr id="18" name="Shape 16"/>
          <p:cNvSpPr/>
          <p:nvPr/>
        </p:nvSpPr>
        <p:spPr>
          <a:xfrm>
            <a:off x="365760" y="2532888"/>
            <a:ext cx="8412480" cy="749808"/>
          </a:xfrm>
          <a:prstGeom prst="rect">
            <a:avLst/>
          </a:prstGeom>
          <a:solidFill>
            <a:srgbClr val="162035"/>
          </a:solidFill>
          <a:ln w="1905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19" name="Shape 17"/>
          <p:cNvSpPr/>
          <p:nvPr/>
        </p:nvSpPr>
        <p:spPr>
          <a:xfrm>
            <a:off x="365760" y="2532888"/>
            <a:ext cx="64008" cy="749808"/>
          </a:xfrm>
          <a:prstGeom prst="rect">
            <a:avLst/>
          </a:prstGeom>
          <a:solidFill>
            <a:srgbClr val="3B82F6"/>
          </a:solidFill>
          <a:ln w="12700">
            <a:solidFill>
              <a:srgbClr val="3B82F6"/>
            </a:solidFill>
            <a:prstDash val="solid"/>
          </a:ln>
        </p:spPr>
        <p:txBody>
          <a:bodyPr/>
          <a:lstStyle/>
          <a:p>
            <a:endParaRPr lang="en-US"/>
          </a:p>
        </p:txBody>
      </p:sp>
      <p:sp>
        <p:nvSpPr>
          <p:cNvPr id="20" name="Shape 18"/>
          <p:cNvSpPr/>
          <p:nvPr/>
        </p:nvSpPr>
        <p:spPr>
          <a:xfrm>
            <a:off x="512064" y="2688336"/>
            <a:ext cx="457200" cy="438912"/>
          </a:xfrm>
          <a:prstGeom prst="rect">
            <a:avLst/>
          </a:prstGeom>
          <a:solidFill>
            <a:srgbClr val="3B82F6"/>
          </a:solidFill>
          <a:ln w="12700">
            <a:solidFill>
              <a:srgbClr val="3B82F6"/>
            </a:solidFill>
            <a:prstDash val="solid"/>
          </a:ln>
        </p:spPr>
        <p:txBody>
          <a:bodyPr/>
          <a:lstStyle/>
          <a:p>
            <a:endParaRPr lang="en-US"/>
          </a:p>
        </p:txBody>
      </p:sp>
      <p:sp>
        <p:nvSpPr>
          <p:cNvPr id="21" name="Text 19"/>
          <p:cNvSpPr/>
          <p:nvPr/>
        </p:nvSpPr>
        <p:spPr>
          <a:xfrm>
            <a:off x="512064" y="2688336"/>
            <a:ext cx="457200" cy="438912"/>
          </a:xfrm>
          <a:prstGeom prst="rect">
            <a:avLst/>
          </a:prstGeom>
          <a:noFill/>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2" name="Text 20"/>
          <p:cNvSpPr/>
          <p:nvPr/>
        </p:nvSpPr>
        <p:spPr>
          <a:xfrm>
            <a:off x="1097280" y="2587752"/>
            <a:ext cx="7498080" cy="274320"/>
          </a:xfrm>
          <a:prstGeom prst="rect">
            <a:avLst/>
          </a:prstGeom>
          <a:noFill/>
        </p:spPr>
        <p:txBody>
          <a:bodyPr wrap="square" lIns="0" tIns="0" rIns="0" bIns="0" rtlCol="0" anchor="ctr"/>
          <a:lstStyle/>
          <a:p>
            <a:pPr marL="0" indent="0">
              <a:buNone/>
            </a:pPr>
            <a:r>
              <a:rPr lang="en-US" sz="1300" b="1" dirty="0">
                <a:solidFill>
                  <a:srgbClr val="3B82F6"/>
                </a:solidFill>
              </a:rPr>
              <a:t>Full-model targeting is far harder to defend than last-layer attacks</a:t>
            </a:r>
            <a:endParaRPr lang="en-US" sz="1300" dirty="0"/>
          </a:p>
        </p:txBody>
      </p:sp>
      <p:sp>
        <p:nvSpPr>
          <p:cNvPr id="23" name="Text 21"/>
          <p:cNvSpPr/>
          <p:nvPr/>
        </p:nvSpPr>
        <p:spPr>
          <a:xfrm>
            <a:off x="1097280" y="2880360"/>
            <a:ext cx="7498080" cy="347472"/>
          </a:xfrm>
          <a:prstGeom prst="rect">
            <a:avLst/>
          </a:prstGeom>
          <a:noFill/>
        </p:spPr>
        <p:txBody>
          <a:bodyPr wrap="square" lIns="0" tIns="0" rIns="0" bIns="0" rtlCol="0" anchor="ctr"/>
          <a:lstStyle/>
          <a:p>
            <a:pPr marL="0" indent="0">
              <a:buNone/>
            </a:pPr>
            <a:r>
              <a:rPr lang="en-US" sz="1050" dirty="0">
                <a:solidFill>
                  <a:srgbClr val="E2E8F0"/>
                </a:solidFill>
              </a:rPr>
              <a:t>By targeting the last 5 layers (not just the classification head), Deep-TROJ defeats fine-tuning-based defenses that only examine the final layer.</a:t>
            </a:r>
            <a:endParaRPr lang="en-US" sz="1050" dirty="0"/>
          </a:p>
        </p:txBody>
      </p:sp>
      <p:sp>
        <p:nvSpPr>
          <p:cNvPr id="24" name="Shape 22"/>
          <p:cNvSpPr/>
          <p:nvPr/>
        </p:nvSpPr>
        <p:spPr>
          <a:xfrm>
            <a:off x="365760" y="3355848"/>
            <a:ext cx="8412480" cy="749808"/>
          </a:xfrm>
          <a:prstGeom prst="rect">
            <a:avLst/>
          </a:prstGeom>
          <a:solidFill>
            <a:srgbClr val="162035"/>
          </a:solidFill>
          <a:ln w="19050">
            <a:solidFill>
              <a:srgbClr val="EF4444"/>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365760" y="3355848"/>
            <a:ext cx="64008" cy="749808"/>
          </a:xfrm>
          <a:prstGeom prst="rect">
            <a:avLst/>
          </a:prstGeom>
          <a:solidFill>
            <a:srgbClr val="EF4444"/>
          </a:solidFill>
          <a:ln w="12700">
            <a:solidFill>
              <a:srgbClr val="EF4444"/>
            </a:solidFill>
            <a:prstDash val="solid"/>
          </a:ln>
        </p:spPr>
        <p:txBody>
          <a:bodyPr/>
          <a:lstStyle/>
          <a:p>
            <a:endParaRPr lang="en-US"/>
          </a:p>
        </p:txBody>
      </p:sp>
      <p:sp>
        <p:nvSpPr>
          <p:cNvPr id="26" name="Shape 24"/>
          <p:cNvSpPr/>
          <p:nvPr/>
        </p:nvSpPr>
        <p:spPr>
          <a:xfrm>
            <a:off x="512064" y="3511296"/>
            <a:ext cx="457200" cy="438912"/>
          </a:xfrm>
          <a:prstGeom prst="rect">
            <a:avLst/>
          </a:prstGeom>
          <a:solidFill>
            <a:srgbClr val="EF4444"/>
          </a:solidFill>
          <a:ln w="12700">
            <a:solidFill>
              <a:srgbClr val="EF4444"/>
            </a:solidFill>
            <a:prstDash val="solid"/>
          </a:ln>
        </p:spPr>
        <p:txBody>
          <a:bodyPr/>
          <a:lstStyle/>
          <a:p>
            <a:endParaRPr lang="en-US"/>
          </a:p>
        </p:txBody>
      </p:sp>
      <p:sp>
        <p:nvSpPr>
          <p:cNvPr id="27" name="Text 25"/>
          <p:cNvSpPr/>
          <p:nvPr/>
        </p:nvSpPr>
        <p:spPr>
          <a:xfrm>
            <a:off x="512064" y="3511296"/>
            <a:ext cx="457200" cy="438912"/>
          </a:xfrm>
          <a:prstGeom prst="rect">
            <a:avLst/>
          </a:prstGeom>
          <a:noFill/>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8" name="Text 26"/>
          <p:cNvSpPr/>
          <p:nvPr/>
        </p:nvSpPr>
        <p:spPr>
          <a:xfrm>
            <a:off x="1097280" y="3410712"/>
            <a:ext cx="7498080" cy="274320"/>
          </a:xfrm>
          <a:prstGeom prst="rect">
            <a:avLst/>
          </a:prstGeom>
          <a:noFill/>
        </p:spPr>
        <p:txBody>
          <a:bodyPr wrap="square" lIns="0" tIns="0" rIns="0" bIns="0" rtlCol="0" anchor="ctr"/>
          <a:lstStyle/>
          <a:p>
            <a:pPr marL="0" indent="0">
              <a:buNone/>
            </a:pPr>
            <a:r>
              <a:rPr lang="en-US" sz="1300" b="1" dirty="0">
                <a:solidFill>
                  <a:srgbClr val="EF4444"/>
                </a:solidFill>
              </a:rPr>
              <a:t>All existing defenses fail against inference-stage hardware attacks</a:t>
            </a:r>
            <a:endParaRPr lang="en-US" sz="1300" dirty="0"/>
          </a:p>
        </p:txBody>
      </p:sp>
      <p:sp>
        <p:nvSpPr>
          <p:cNvPr id="29" name="Text 27"/>
          <p:cNvSpPr/>
          <p:nvPr/>
        </p:nvSpPr>
        <p:spPr>
          <a:xfrm>
            <a:off x="1097280" y="3703320"/>
            <a:ext cx="7498080" cy="347472"/>
          </a:xfrm>
          <a:prstGeom prst="rect">
            <a:avLst/>
          </a:prstGeom>
          <a:noFill/>
        </p:spPr>
        <p:txBody>
          <a:bodyPr wrap="square" lIns="0" tIns="0" rIns="0" bIns="0" rtlCol="0" anchor="ctr"/>
          <a:lstStyle/>
          <a:p>
            <a:pPr marL="0" indent="0">
              <a:buNone/>
            </a:pPr>
            <a:r>
              <a:rPr lang="en-US" sz="1050" dirty="0">
                <a:solidFill>
                  <a:srgbClr val="E2E8F0"/>
                </a:solidFill>
              </a:rPr>
              <a:t>Training-based defenses are N/A; CLP destroys accuracy; TRR is invisible to RowPress; ECC is insufficient for large DNNs with many weight bits.</a:t>
            </a:r>
            <a:endParaRPr lang="en-US" sz="1050" dirty="0"/>
          </a:p>
        </p:txBody>
      </p:sp>
      <p:sp>
        <p:nvSpPr>
          <p:cNvPr id="30" name="Shape 28"/>
          <p:cNvSpPr/>
          <p:nvPr/>
        </p:nvSpPr>
        <p:spPr>
          <a:xfrm>
            <a:off x="365760" y="4178808"/>
            <a:ext cx="8412480" cy="749808"/>
          </a:xfrm>
          <a:prstGeom prst="rect">
            <a:avLst/>
          </a:prstGeom>
          <a:solidFill>
            <a:srgbClr val="162035"/>
          </a:solidFill>
          <a:ln w="1905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31" name="Shape 29"/>
          <p:cNvSpPr/>
          <p:nvPr/>
        </p:nvSpPr>
        <p:spPr>
          <a:xfrm>
            <a:off x="365760" y="4178808"/>
            <a:ext cx="64008" cy="749808"/>
          </a:xfrm>
          <a:prstGeom prst="rect">
            <a:avLst/>
          </a:prstGeom>
          <a:solidFill>
            <a:srgbClr val="22C55E"/>
          </a:solidFill>
          <a:ln w="12700">
            <a:solidFill>
              <a:srgbClr val="22C55E"/>
            </a:solidFill>
            <a:prstDash val="solid"/>
          </a:ln>
        </p:spPr>
        <p:txBody>
          <a:bodyPr/>
          <a:lstStyle/>
          <a:p>
            <a:endParaRPr lang="en-US"/>
          </a:p>
        </p:txBody>
      </p:sp>
      <p:sp>
        <p:nvSpPr>
          <p:cNvPr id="32" name="Shape 30"/>
          <p:cNvSpPr/>
          <p:nvPr/>
        </p:nvSpPr>
        <p:spPr>
          <a:xfrm>
            <a:off x="512064" y="4334256"/>
            <a:ext cx="457200" cy="438912"/>
          </a:xfrm>
          <a:prstGeom prst="rect">
            <a:avLst/>
          </a:prstGeom>
          <a:solidFill>
            <a:srgbClr val="22C55E"/>
          </a:solidFill>
          <a:ln w="12700">
            <a:solidFill>
              <a:srgbClr val="22C55E"/>
            </a:solidFill>
            <a:prstDash val="solid"/>
          </a:ln>
        </p:spPr>
        <p:txBody>
          <a:bodyPr/>
          <a:lstStyle/>
          <a:p>
            <a:endParaRPr lang="en-US"/>
          </a:p>
        </p:txBody>
      </p:sp>
      <p:sp>
        <p:nvSpPr>
          <p:cNvPr id="33" name="Text 31"/>
          <p:cNvSpPr/>
          <p:nvPr/>
        </p:nvSpPr>
        <p:spPr>
          <a:xfrm>
            <a:off x="512064" y="4334256"/>
            <a:ext cx="457200" cy="438912"/>
          </a:xfrm>
          <a:prstGeom prst="rect">
            <a:avLst/>
          </a:prstGeom>
          <a:noFill/>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34" name="Text 32"/>
          <p:cNvSpPr/>
          <p:nvPr/>
        </p:nvSpPr>
        <p:spPr>
          <a:xfrm>
            <a:off x="1097280" y="4233672"/>
            <a:ext cx="7498080" cy="274320"/>
          </a:xfrm>
          <a:prstGeom prst="rect">
            <a:avLst/>
          </a:prstGeom>
          <a:noFill/>
        </p:spPr>
        <p:txBody>
          <a:bodyPr wrap="square" lIns="0" tIns="0" rIns="0" bIns="0" rtlCol="0" anchor="ctr"/>
          <a:lstStyle/>
          <a:p>
            <a:pPr marL="0" indent="0">
              <a:buNone/>
            </a:pPr>
            <a:r>
              <a:rPr lang="en-US" sz="1300" b="1" dirty="0">
                <a:solidFill>
                  <a:srgbClr val="22C55E"/>
                </a:solidFill>
              </a:rPr>
              <a:t>Vision Transformers are extremely vulnerable</a:t>
            </a:r>
            <a:endParaRPr lang="en-US" sz="1300" dirty="0"/>
          </a:p>
        </p:txBody>
      </p:sp>
      <p:sp>
        <p:nvSpPr>
          <p:cNvPr id="35" name="Text 33"/>
          <p:cNvSpPr/>
          <p:nvPr/>
        </p:nvSpPr>
        <p:spPr>
          <a:xfrm>
            <a:off x="1097280" y="4526280"/>
            <a:ext cx="7498080" cy="347472"/>
          </a:xfrm>
          <a:prstGeom prst="rect">
            <a:avLst/>
          </a:prstGeom>
          <a:noFill/>
        </p:spPr>
        <p:txBody>
          <a:bodyPr wrap="square" lIns="0" tIns="0" rIns="0" bIns="0" rtlCol="0" anchor="ctr"/>
          <a:lstStyle/>
          <a:p>
            <a:pPr marL="0" indent="0">
              <a:buNone/>
            </a:pPr>
            <a:r>
              <a:rPr lang="en-US" sz="1050" dirty="0">
                <a:solidFill>
                  <a:srgbClr val="E2E8F0"/>
                </a:solidFill>
              </a:rPr>
              <a:t>DeiT-S yields 100% ASR (Deep-TROJ, 5 iters) and requires only 13-45 bit-flips (RowPress) to collapse — indicating ViTs as high-priority targets.</a:t>
            </a:r>
            <a:endParaRPr lang="en-US" sz="1050"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0" y="5065776"/>
            <a:ext cx="9144000" cy="73152"/>
          </a:xfrm>
          <a:prstGeom prst="rect">
            <a:avLst/>
          </a:prstGeom>
          <a:solidFill>
            <a:srgbClr val="2563EB"/>
          </a:solidFill>
          <a:ln w="12700">
            <a:solidFill>
              <a:srgbClr val="2563EB"/>
            </a:solidFill>
            <a:prstDash val="solid"/>
          </a:ln>
        </p:spPr>
        <p:txBody>
          <a:bodyPr/>
          <a:lstStyle/>
          <a:p>
            <a:endParaRPr lang="en-US"/>
          </a:p>
        </p:txBody>
      </p:sp>
      <p:sp>
        <p:nvSpPr>
          <p:cNvPr id="4" name="Text 2"/>
          <p:cNvSpPr/>
          <p:nvPr/>
        </p:nvSpPr>
        <p:spPr>
          <a:xfrm>
            <a:off x="457200" y="201168"/>
            <a:ext cx="8229600" cy="475488"/>
          </a:xfrm>
          <a:prstGeom prst="rect">
            <a:avLst/>
          </a:prstGeom>
          <a:noFill/>
        </p:spPr>
        <p:txBody>
          <a:bodyPr wrap="square" rtlCol="0" anchor="ctr"/>
          <a:lstStyle/>
          <a:p>
            <a:pPr marL="0" indent="0">
              <a:buNone/>
            </a:pPr>
            <a:r>
              <a:rPr lang="en-US" sz="3000" b="1" dirty="0">
                <a:solidFill>
                  <a:srgbClr val="FFFFFF"/>
                </a:solidFill>
              </a:rPr>
              <a:t>Conclusions</a:t>
            </a:r>
            <a:endParaRPr lang="en-US" sz="3000" dirty="0"/>
          </a:p>
        </p:txBody>
      </p:sp>
      <p:sp>
        <p:nvSpPr>
          <p:cNvPr id="5" name="Shape 3"/>
          <p:cNvSpPr/>
          <p:nvPr/>
        </p:nvSpPr>
        <p:spPr>
          <a:xfrm>
            <a:off x="365760" y="804672"/>
            <a:ext cx="4114800" cy="4041648"/>
          </a:xfrm>
          <a:prstGeom prst="rect">
            <a:avLst/>
          </a:prstGeom>
          <a:solidFill>
            <a:srgbClr val="162035"/>
          </a:solidFill>
          <a:ln w="1905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65760" y="804672"/>
            <a:ext cx="4114800" cy="347472"/>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457200" y="822960"/>
            <a:ext cx="3931920" cy="310896"/>
          </a:xfrm>
          <a:prstGeom prst="rect">
            <a:avLst/>
          </a:prstGeom>
          <a:noFill/>
        </p:spPr>
        <p:txBody>
          <a:bodyPr wrap="square" lIns="0" tIns="0" rIns="0" bIns="0" rtlCol="0" anchor="ctr"/>
          <a:lstStyle/>
          <a:p>
            <a:pPr marL="0" indent="0">
              <a:buNone/>
            </a:pPr>
            <a:r>
              <a:rPr lang="en-US" sz="1300" b="1" dirty="0">
                <a:solidFill>
                  <a:srgbClr val="FFFFFF"/>
                </a:solidFill>
              </a:rPr>
              <a:t>Deep-TROJ  (CVPR 2024)</a:t>
            </a:r>
            <a:endParaRPr lang="en-US" sz="1300" dirty="0"/>
          </a:p>
        </p:txBody>
      </p:sp>
      <p:sp>
        <p:nvSpPr>
          <p:cNvPr id="8" name="Shape 6"/>
          <p:cNvSpPr/>
          <p:nvPr/>
        </p:nvSpPr>
        <p:spPr>
          <a:xfrm>
            <a:off x="530352" y="1307592"/>
            <a:ext cx="201168" cy="201168"/>
          </a:xfrm>
          <a:prstGeom prst="ellipse">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822960" y="1261872"/>
            <a:ext cx="3520440" cy="420624"/>
          </a:xfrm>
          <a:prstGeom prst="rect">
            <a:avLst/>
          </a:prstGeom>
          <a:noFill/>
        </p:spPr>
        <p:txBody>
          <a:bodyPr wrap="square" lIns="0" tIns="0" rIns="0" bIns="0" rtlCol="0" anchor="ctr"/>
          <a:lstStyle/>
          <a:p>
            <a:pPr marL="0" indent="0">
              <a:buNone/>
            </a:pPr>
            <a:r>
              <a:rPr lang="en-US" sz="1050" dirty="0">
                <a:solidFill>
                  <a:srgbClr val="E2E8F0"/>
                </a:solidFill>
              </a:rPr>
              <a:t>First inference-stage Trojan using weight block replacement via PFN bit-flip manipulation</a:t>
            </a:r>
            <a:endParaRPr lang="en-US" sz="1050" dirty="0"/>
          </a:p>
        </p:txBody>
      </p:sp>
      <p:sp>
        <p:nvSpPr>
          <p:cNvPr id="10" name="Shape 8"/>
          <p:cNvSpPr/>
          <p:nvPr/>
        </p:nvSpPr>
        <p:spPr>
          <a:xfrm>
            <a:off x="530352" y="1810512"/>
            <a:ext cx="201168" cy="201168"/>
          </a:xfrm>
          <a:prstGeom prst="ellipse">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822960" y="1764792"/>
            <a:ext cx="3520440" cy="420624"/>
          </a:xfrm>
          <a:prstGeom prst="rect">
            <a:avLst/>
          </a:prstGeom>
          <a:noFill/>
        </p:spPr>
        <p:txBody>
          <a:bodyPr wrap="square" lIns="0" tIns="0" rIns="0" bIns="0" rtlCol="0" anchor="ctr"/>
          <a:lstStyle/>
          <a:p>
            <a:pPr marL="0" indent="0">
              <a:buNone/>
            </a:pPr>
            <a:r>
              <a:rPr lang="en-US" sz="1050" dirty="0">
                <a:solidFill>
                  <a:srgbClr val="E2E8F0"/>
                </a:solidFill>
              </a:rPr>
              <a:t>Three-strategy algorithm: gradient ranking + constraint optimization + joint trigger learning</a:t>
            </a:r>
            <a:endParaRPr lang="en-US" sz="1050" dirty="0"/>
          </a:p>
        </p:txBody>
      </p:sp>
      <p:sp>
        <p:nvSpPr>
          <p:cNvPr id="12" name="Shape 10"/>
          <p:cNvSpPr/>
          <p:nvPr/>
        </p:nvSpPr>
        <p:spPr>
          <a:xfrm>
            <a:off x="530352" y="2313432"/>
            <a:ext cx="201168" cy="201168"/>
          </a:xfrm>
          <a:prstGeom prst="ellipse">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822960" y="2267712"/>
            <a:ext cx="3520440" cy="420624"/>
          </a:xfrm>
          <a:prstGeom prst="rect">
            <a:avLst/>
          </a:prstGeom>
          <a:noFill/>
        </p:spPr>
        <p:txBody>
          <a:bodyPr wrap="square" lIns="0" tIns="0" rIns="0" bIns="0" rtlCol="0" anchor="ctr"/>
          <a:lstStyle/>
          <a:p>
            <a:pPr marL="0" indent="0">
              <a:buNone/>
            </a:pPr>
            <a:r>
              <a:rPr lang="en-US" sz="1050" dirty="0">
                <a:solidFill>
                  <a:srgbClr val="E2E8F0"/>
                </a:solidFill>
              </a:rPr>
              <a:t>k=5 address changes sufficient for &gt;97% ASR across 15 architectures on 3 datasets</a:t>
            </a:r>
            <a:endParaRPr lang="en-US" sz="1050" dirty="0"/>
          </a:p>
        </p:txBody>
      </p:sp>
      <p:sp>
        <p:nvSpPr>
          <p:cNvPr id="14" name="Shape 12"/>
          <p:cNvSpPr/>
          <p:nvPr/>
        </p:nvSpPr>
        <p:spPr>
          <a:xfrm>
            <a:off x="530352" y="2816352"/>
            <a:ext cx="201168" cy="201168"/>
          </a:xfrm>
          <a:prstGeom prst="ellipse">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822960" y="2770632"/>
            <a:ext cx="3520440" cy="420624"/>
          </a:xfrm>
          <a:prstGeom prst="rect">
            <a:avLst/>
          </a:prstGeom>
          <a:noFill/>
        </p:spPr>
        <p:txBody>
          <a:bodyPr wrap="square" lIns="0" tIns="0" rIns="0" bIns="0" rtlCol="0" anchor="ctr"/>
          <a:lstStyle/>
          <a:p>
            <a:pPr marL="0" indent="0">
              <a:buNone/>
            </a:pPr>
            <a:r>
              <a:rPr lang="en-US" sz="1050" dirty="0">
                <a:solidFill>
                  <a:srgbClr val="E2E8F0"/>
                </a:solidFill>
              </a:rPr>
              <a:t>Achieves 100% ASR on Vision Transformer (DeiT-S) on ImageNet</a:t>
            </a:r>
            <a:endParaRPr lang="en-US" sz="1050" dirty="0"/>
          </a:p>
        </p:txBody>
      </p:sp>
      <p:sp>
        <p:nvSpPr>
          <p:cNvPr id="16" name="Shape 14"/>
          <p:cNvSpPr/>
          <p:nvPr/>
        </p:nvSpPr>
        <p:spPr>
          <a:xfrm>
            <a:off x="530352" y="3319272"/>
            <a:ext cx="201168" cy="201168"/>
          </a:xfrm>
          <a:prstGeom prst="ellipse">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822960" y="3273552"/>
            <a:ext cx="3520440" cy="420624"/>
          </a:xfrm>
          <a:prstGeom prst="rect">
            <a:avLst/>
          </a:prstGeom>
          <a:noFill/>
        </p:spPr>
        <p:txBody>
          <a:bodyPr wrap="square" lIns="0" tIns="0" rIns="0" bIns="0" rtlCol="0" anchor="ctr"/>
          <a:lstStyle/>
          <a:p>
            <a:pPr marL="0" indent="0">
              <a:buNone/>
            </a:pPr>
            <a:r>
              <a:rPr lang="en-US" sz="1050" dirty="0">
                <a:solidFill>
                  <a:srgbClr val="E2E8F0"/>
                </a:solidFill>
              </a:rPr>
              <a:t>Bypasses all training-based and detection-based defenses</a:t>
            </a:r>
            <a:endParaRPr lang="en-US" sz="1050" dirty="0"/>
          </a:p>
        </p:txBody>
      </p:sp>
      <p:sp>
        <p:nvSpPr>
          <p:cNvPr id="18" name="Shape 16"/>
          <p:cNvSpPr/>
          <p:nvPr/>
        </p:nvSpPr>
        <p:spPr>
          <a:xfrm>
            <a:off x="530352" y="3822192"/>
            <a:ext cx="201168" cy="201168"/>
          </a:xfrm>
          <a:prstGeom prst="ellipse">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822960" y="3776472"/>
            <a:ext cx="3520440" cy="420624"/>
          </a:xfrm>
          <a:prstGeom prst="rect">
            <a:avLst/>
          </a:prstGeom>
          <a:noFill/>
        </p:spPr>
        <p:txBody>
          <a:bodyPr wrap="square" lIns="0" tIns="0" rIns="0" bIns="0" rtlCol="0" anchor="ctr"/>
          <a:lstStyle/>
          <a:p>
            <a:pPr marL="0" indent="0">
              <a:buNone/>
            </a:pPr>
            <a:r>
              <a:rPr lang="en-US" sz="1050" dirty="0">
                <a:solidFill>
                  <a:srgbClr val="E2E8F0"/>
                </a:solidFill>
              </a:rPr>
              <a:t>New benchmark for inference-stage Trojan insertion</a:t>
            </a:r>
            <a:endParaRPr lang="en-US" sz="1050" dirty="0"/>
          </a:p>
        </p:txBody>
      </p:sp>
      <p:sp>
        <p:nvSpPr>
          <p:cNvPr id="20" name="Shape 18"/>
          <p:cNvSpPr/>
          <p:nvPr/>
        </p:nvSpPr>
        <p:spPr>
          <a:xfrm>
            <a:off x="4663440" y="804672"/>
            <a:ext cx="4114800" cy="4041648"/>
          </a:xfrm>
          <a:prstGeom prst="rect">
            <a:avLst/>
          </a:prstGeom>
          <a:solidFill>
            <a:srgbClr val="162035"/>
          </a:solidFill>
          <a:ln w="1905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4663440" y="804672"/>
            <a:ext cx="4114800" cy="347472"/>
          </a:xfrm>
          <a:prstGeom prst="rect">
            <a:avLst/>
          </a:prstGeom>
          <a:solidFill>
            <a:srgbClr val="8B5CF6"/>
          </a:solidFill>
          <a:ln w="12700">
            <a:solidFill>
              <a:srgbClr val="8B5CF6"/>
            </a:solidFill>
            <a:prstDash val="solid"/>
          </a:ln>
        </p:spPr>
        <p:txBody>
          <a:bodyPr/>
          <a:lstStyle/>
          <a:p>
            <a:endParaRPr lang="en-US"/>
          </a:p>
        </p:txBody>
      </p:sp>
      <p:sp>
        <p:nvSpPr>
          <p:cNvPr id="22" name="Text 20"/>
          <p:cNvSpPr/>
          <p:nvPr/>
        </p:nvSpPr>
        <p:spPr>
          <a:xfrm>
            <a:off x="4754880" y="822960"/>
            <a:ext cx="3931920" cy="310896"/>
          </a:xfrm>
          <a:prstGeom prst="rect">
            <a:avLst/>
          </a:prstGeom>
          <a:noFill/>
        </p:spPr>
        <p:txBody>
          <a:bodyPr wrap="square" lIns="0" tIns="0" rIns="0" bIns="0" rtlCol="0" anchor="ctr"/>
          <a:lstStyle/>
          <a:p>
            <a:pPr marL="0" indent="0">
              <a:buNone/>
            </a:pPr>
            <a:r>
              <a:rPr lang="en-US" sz="1300" b="1" dirty="0">
                <a:solidFill>
                  <a:srgbClr val="FFFFFF"/>
                </a:solidFill>
              </a:rPr>
              <a:t>RowPress on DNNs  (DATE 2025)</a:t>
            </a:r>
            <a:endParaRPr lang="en-US" sz="1300" dirty="0"/>
          </a:p>
        </p:txBody>
      </p:sp>
      <p:sp>
        <p:nvSpPr>
          <p:cNvPr id="23" name="Shape 21"/>
          <p:cNvSpPr/>
          <p:nvPr/>
        </p:nvSpPr>
        <p:spPr>
          <a:xfrm>
            <a:off x="4828032" y="1307592"/>
            <a:ext cx="201168" cy="201168"/>
          </a:xfrm>
          <a:prstGeom prst="ellipse">
            <a:avLst/>
          </a:prstGeom>
          <a:solidFill>
            <a:srgbClr val="8B5CF6"/>
          </a:solidFill>
          <a:ln w="12700">
            <a:solidFill>
              <a:srgbClr val="8B5CF6"/>
            </a:solidFill>
            <a:prstDash val="solid"/>
          </a:ln>
        </p:spPr>
        <p:txBody>
          <a:bodyPr/>
          <a:lstStyle/>
          <a:p>
            <a:endParaRPr lang="en-US"/>
          </a:p>
        </p:txBody>
      </p:sp>
      <p:sp>
        <p:nvSpPr>
          <p:cNvPr id="24" name="Text 22"/>
          <p:cNvSpPr/>
          <p:nvPr/>
        </p:nvSpPr>
        <p:spPr>
          <a:xfrm>
            <a:off x="5120640" y="1261872"/>
            <a:ext cx="3520440" cy="420624"/>
          </a:xfrm>
          <a:prstGeom prst="rect">
            <a:avLst/>
          </a:prstGeom>
          <a:noFill/>
        </p:spPr>
        <p:txBody>
          <a:bodyPr wrap="square" lIns="0" tIns="0" rIns="0" bIns="0" rtlCol="0" anchor="ctr"/>
          <a:lstStyle/>
          <a:p>
            <a:pPr marL="0" indent="0">
              <a:buNone/>
            </a:pPr>
            <a:r>
              <a:rPr lang="en-US" sz="1050" dirty="0">
                <a:solidFill>
                  <a:srgbClr val="E2E8F0"/>
                </a:solidFill>
              </a:rPr>
              <a:t>First systematic study of RowPress impact on DNN applications</a:t>
            </a:r>
            <a:endParaRPr lang="en-US" sz="1050" dirty="0"/>
          </a:p>
        </p:txBody>
      </p:sp>
      <p:sp>
        <p:nvSpPr>
          <p:cNvPr id="25" name="Shape 23"/>
          <p:cNvSpPr/>
          <p:nvPr/>
        </p:nvSpPr>
        <p:spPr>
          <a:xfrm>
            <a:off x="4828032" y="1810512"/>
            <a:ext cx="201168" cy="201168"/>
          </a:xfrm>
          <a:prstGeom prst="ellipse">
            <a:avLst/>
          </a:prstGeom>
          <a:solidFill>
            <a:srgbClr val="8B5CF6"/>
          </a:solidFill>
          <a:ln w="12700">
            <a:solidFill>
              <a:srgbClr val="8B5CF6"/>
            </a:solidFill>
            <a:prstDash val="solid"/>
          </a:ln>
        </p:spPr>
        <p:txBody>
          <a:bodyPr/>
          <a:lstStyle/>
          <a:p>
            <a:endParaRPr lang="en-US"/>
          </a:p>
        </p:txBody>
      </p:sp>
      <p:sp>
        <p:nvSpPr>
          <p:cNvPr id="26" name="Text 24"/>
          <p:cNvSpPr/>
          <p:nvPr/>
        </p:nvSpPr>
        <p:spPr>
          <a:xfrm>
            <a:off x="5120640" y="1764792"/>
            <a:ext cx="3520440" cy="420624"/>
          </a:xfrm>
          <a:prstGeom prst="rect">
            <a:avLst/>
          </a:prstGeom>
          <a:noFill/>
        </p:spPr>
        <p:txBody>
          <a:bodyPr wrap="square" lIns="0" tIns="0" rIns="0" bIns="0" rtlCol="0" anchor="ctr"/>
          <a:lstStyle/>
          <a:p>
            <a:pPr marL="0" indent="0">
              <a:buNone/>
            </a:pPr>
            <a:r>
              <a:rPr lang="en-US" sz="1050" dirty="0">
                <a:solidFill>
                  <a:srgbClr val="E2E8F0"/>
                </a:solidFill>
              </a:rPr>
              <a:t>DRAM-profile-aware attack incorporates chip-specific C_RH and C_RP vulnerability maps</a:t>
            </a:r>
            <a:endParaRPr lang="en-US" sz="1050" dirty="0"/>
          </a:p>
        </p:txBody>
      </p:sp>
      <p:sp>
        <p:nvSpPr>
          <p:cNvPr id="27" name="Shape 25"/>
          <p:cNvSpPr/>
          <p:nvPr/>
        </p:nvSpPr>
        <p:spPr>
          <a:xfrm>
            <a:off x="4828032" y="2313432"/>
            <a:ext cx="201168" cy="201168"/>
          </a:xfrm>
          <a:prstGeom prst="ellipse">
            <a:avLst/>
          </a:prstGeom>
          <a:solidFill>
            <a:srgbClr val="8B5CF6"/>
          </a:solidFill>
          <a:ln w="12700">
            <a:solidFill>
              <a:srgbClr val="8B5CF6"/>
            </a:solidFill>
            <a:prstDash val="solid"/>
          </a:ln>
        </p:spPr>
        <p:txBody>
          <a:bodyPr/>
          <a:lstStyle/>
          <a:p>
            <a:endParaRPr lang="en-US"/>
          </a:p>
        </p:txBody>
      </p:sp>
      <p:sp>
        <p:nvSpPr>
          <p:cNvPr id="28" name="Text 26"/>
          <p:cNvSpPr/>
          <p:nvPr/>
        </p:nvSpPr>
        <p:spPr>
          <a:xfrm>
            <a:off x="5120640" y="2267712"/>
            <a:ext cx="3520440" cy="420624"/>
          </a:xfrm>
          <a:prstGeom prst="rect">
            <a:avLst/>
          </a:prstGeom>
          <a:noFill/>
        </p:spPr>
        <p:txBody>
          <a:bodyPr wrap="square" lIns="0" tIns="0" rIns="0" bIns="0" rtlCol="0" anchor="ctr"/>
          <a:lstStyle/>
          <a:p>
            <a:pPr marL="0" indent="0">
              <a:buNone/>
            </a:pPr>
            <a:r>
              <a:rPr lang="en-US" sz="1050" dirty="0">
                <a:solidFill>
                  <a:srgbClr val="E2E8F0"/>
                </a:solidFill>
              </a:rPr>
              <a:t>RowPress produces 20× more bit-flips in same time — 3.6× fewer flips needed on average</a:t>
            </a:r>
            <a:endParaRPr lang="en-US" sz="1050" dirty="0"/>
          </a:p>
        </p:txBody>
      </p:sp>
      <p:sp>
        <p:nvSpPr>
          <p:cNvPr id="29" name="Shape 27"/>
          <p:cNvSpPr/>
          <p:nvPr/>
        </p:nvSpPr>
        <p:spPr>
          <a:xfrm>
            <a:off x="4828032" y="2816352"/>
            <a:ext cx="201168" cy="201168"/>
          </a:xfrm>
          <a:prstGeom prst="ellipse">
            <a:avLst/>
          </a:prstGeom>
          <a:solidFill>
            <a:srgbClr val="8B5CF6"/>
          </a:solidFill>
          <a:ln w="12700">
            <a:solidFill>
              <a:srgbClr val="8B5CF6"/>
            </a:solidFill>
            <a:prstDash val="solid"/>
          </a:ln>
        </p:spPr>
        <p:txBody>
          <a:bodyPr/>
          <a:lstStyle/>
          <a:p>
            <a:endParaRPr lang="en-US"/>
          </a:p>
        </p:txBody>
      </p:sp>
      <p:sp>
        <p:nvSpPr>
          <p:cNvPr id="30" name="Text 28"/>
          <p:cNvSpPr/>
          <p:nvPr/>
        </p:nvSpPr>
        <p:spPr>
          <a:xfrm>
            <a:off x="5120640" y="2770632"/>
            <a:ext cx="3520440" cy="420624"/>
          </a:xfrm>
          <a:prstGeom prst="rect">
            <a:avLst/>
          </a:prstGeom>
          <a:noFill/>
        </p:spPr>
        <p:txBody>
          <a:bodyPr wrap="square" lIns="0" tIns="0" rIns="0" bIns="0" rtlCol="0" anchor="ctr"/>
          <a:lstStyle/>
          <a:p>
            <a:pPr marL="0" indent="0">
              <a:buNone/>
            </a:pPr>
            <a:r>
              <a:rPr lang="en-US" sz="1050" dirty="0">
                <a:solidFill>
                  <a:srgbClr val="E2E8F0"/>
                </a:solidFill>
              </a:rPr>
              <a:t>All 11 tested DNNs (CNNs, ViTs, VMamba, audio) collapsed within ≤45 bit-flips</a:t>
            </a:r>
            <a:endParaRPr lang="en-US" sz="1050" dirty="0"/>
          </a:p>
        </p:txBody>
      </p:sp>
      <p:sp>
        <p:nvSpPr>
          <p:cNvPr id="31" name="Shape 29"/>
          <p:cNvSpPr/>
          <p:nvPr/>
        </p:nvSpPr>
        <p:spPr>
          <a:xfrm>
            <a:off x="4828032" y="3319272"/>
            <a:ext cx="201168" cy="201168"/>
          </a:xfrm>
          <a:prstGeom prst="ellipse">
            <a:avLst/>
          </a:prstGeom>
          <a:solidFill>
            <a:srgbClr val="8B5CF6"/>
          </a:solidFill>
          <a:ln w="12700">
            <a:solidFill>
              <a:srgbClr val="8B5CF6"/>
            </a:solidFill>
            <a:prstDash val="solid"/>
          </a:ln>
        </p:spPr>
        <p:txBody>
          <a:bodyPr/>
          <a:lstStyle/>
          <a:p>
            <a:endParaRPr lang="en-US"/>
          </a:p>
        </p:txBody>
      </p:sp>
      <p:sp>
        <p:nvSpPr>
          <p:cNvPr id="32" name="Text 30"/>
          <p:cNvSpPr/>
          <p:nvPr/>
        </p:nvSpPr>
        <p:spPr>
          <a:xfrm>
            <a:off x="5120640" y="3273552"/>
            <a:ext cx="3520440" cy="420624"/>
          </a:xfrm>
          <a:prstGeom prst="rect">
            <a:avLst/>
          </a:prstGeom>
          <a:noFill/>
        </p:spPr>
        <p:txBody>
          <a:bodyPr wrap="square" lIns="0" tIns="0" rIns="0" bIns="0" rtlCol="0" anchor="ctr"/>
          <a:lstStyle/>
          <a:p>
            <a:pPr marL="0" indent="0">
              <a:buNone/>
            </a:pPr>
            <a:r>
              <a:rPr lang="en-US" sz="1050" dirty="0">
                <a:solidFill>
                  <a:srgbClr val="E2E8F0"/>
                </a:solidFill>
              </a:rPr>
              <a:t>RowPress completely bypasses counter-based TRR defenses</a:t>
            </a:r>
            <a:endParaRPr lang="en-US" sz="1050" dirty="0"/>
          </a:p>
        </p:txBody>
      </p:sp>
      <p:sp>
        <p:nvSpPr>
          <p:cNvPr id="33" name="Shape 31"/>
          <p:cNvSpPr/>
          <p:nvPr/>
        </p:nvSpPr>
        <p:spPr>
          <a:xfrm>
            <a:off x="4828032" y="3822192"/>
            <a:ext cx="201168" cy="201168"/>
          </a:xfrm>
          <a:prstGeom prst="ellipse">
            <a:avLst/>
          </a:prstGeom>
          <a:solidFill>
            <a:srgbClr val="8B5CF6"/>
          </a:solidFill>
          <a:ln w="12700">
            <a:solidFill>
              <a:srgbClr val="8B5CF6"/>
            </a:solidFill>
            <a:prstDash val="solid"/>
          </a:ln>
        </p:spPr>
        <p:txBody>
          <a:bodyPr/>
          <a:lstStyle/>
          <a:p>
            <a:endParaRPr lang="en-US"/>
          </a:p>
        </p:txBody>
      </p:sp>
      <p:sp>
        <p:nvSpPr>
          <p:cNvPr id="34" name="Text 32"/>
          <p:cNvSpPr/>
          <p:nvPr/>
        </p:nvSpPr>
        <p:spPr>
          <a:xfrm>
            <a:off x="5120640" y="3776472"/>
            <a:ext cx="3520440" cy="420624"/>
          </a:xfrm>
          <a:prstGeom prst="rect">
            <a:avLst/>
          </a:prstGeom>
          <a:noFill/>
        </p:spPr>
        <p:txBody>
          <a:bodyPr wrap="square" lIns="0" tIns="0" rIns="0" bIns="0" rtlCol="0" anchor="ctr"/>
          <a:lstStyle/>
          <a:p>
            <a:pPr marL="0" indent="0">
              <a:buNone/>
            </a:pPr>
            <a:r>
              <a:rPr lang="en-US" sz="1050" dirty="0">
                <a:solidFill>
                  <a:srgbClr val="E2E8F0"/>
                </a:solidFill>
              </a:rPr>
              <a:t>Urgent call for new DRAM protection standards monitoring activation duration</a:t>
            </a:r>
            <a:endParaRPr lang="en-US" sz="105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20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600" b="1" dirty="0">
                <a:solidFill>
                  <a:srgbClr val="FFFFFF"/>
                </a:solidFill>
              </a:rPr>
              <a:t>References &amp; Resources</a:t>
            </a:r>
            <a:endParaRPr lang="en-US" sz="2600" dirty="0"/>
          </a:p>
        </p:txBody>
      </p:sp>
      <p:sp>
        <p:nvSpPr>
          <p:cNvPr id="4" name="Shape 2"/>
          <p:cNvSpPr/>
          <p:nvPr/>
        </p:nvSpPr>
        <p:spPr>
          <a:xfrm>
            <a:off x="365760" y="777240"/>
            <a:ext cx="8412480" cy="1691640"/>
          </a:xfrm>
          <a:prstGeom prst="rect">
            <a:avLst/>
          </a:prstGeom>
          <a:solidFill>
            <a:srgbClr val="162035"/>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365760" y="777240"/>
            <a:ext cx="64008" cy="1691640"/>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548640" y="822960"/>
            <a:ext cx="1828800" cy="256032"/>
          </a:xfrm>
          <a:prstGeom prst="rect">
            <a:avLst/>
          </a:prstGeom>
          <a:noFill/>
        </p:spPr>
        <p:txBody>
          <a:bodyPr wrap="square" lIns="0" tIns="0" rIns="0" bIns="0" rtlCol="0" anchor="ctr"/>
          <a:lstStyle/>
          <a:p>
            <a:pPr marL="0" indent="0">
              <a:buNone/>
            </a:pPr>
            <a:r>
              <a:rPr lang="en-US" sz="1200" b="1" dirty="0">
                <a:solidFill>
                  <a:srgbClr val="F59E0B"/>
                </a:solidFill>
              </a:rPr>
              <a:t>Primary Papers</a:t>
            </a:r>
            <a:endParaRPr lang="en-US" sz="1200" dirty="0"/>
          </a:p>
        </p:txBody>
      </p:sp>
      <p:sp>
        <p:nvSpPr>
          <p:cNvPr id="7" name="Text 5"/>
          <p:cNvSpPr/>
          <p:nvPr/>
        </p:nvSpPr>
        <p:spPr>
          <a:xfrm>
            <a:off x="548640" y="1115568"/>
            <a:ext cx="8138160" cy="475488"/>
          </a:xfrm>
          <a:prstGeom prst="rect">
            <a:avLst/>
          </a:prstGeom>
          <a:noFill/>
        </p:spPr>
        <p:txBody>
          <a:bodyPr wrap="square" lIns="0" tIns="0" rIns="0" bIns="0" rtlCol="0" anchor="ctr"/>
          <a:lstStyle/>
          <a:p>
            <a:pPr marL="0" indent="0">
              <a:buNone/>
            </a:pPr>
            <a:r>
              <a:rPr lang="en-US" sz="1100" dirty="0">
                <a:solidFill>
                  <a:srgbClr val="E2E8F0"/>
                </a:solidFill>
              </a:rPr>
              <a:t>[P1]  S. Ahmed, R. Zhou, S. Angizi, A. S. Rakin.  "Deep-TROJ: An Inference Stage Trojan Insertion Algorithm through Efficient Weight Replacement Attack."  CVPR 2024.</a:t>
            </a:r>
            <a:endParaRPr lang="en-US" sz="1100" dirty="0"/>
          </a:p>
        </p:txBody>
      </p:sp>
      <p:sp>
        <p:nvSpPr>
          <p:cNvPr id="8" name="Text 6"/>
          <p:cNvSpPr/>
          <p:nvPr/>
        </p:nvSpPr>
        <p:spPr>
          <a:xfrm>
            <a:off x="548640" y="1664208"/>
            <a:ext cx="8138160" cy="475488"/>
          </a:xfrm>
          <a:prstGeom prst="rect">
            <a:avLst/>
          </a:prstGeom>
          <a:noFill/>
        </p:spPr>
        <p:txBody>
          <a:bodyPr wrap="square" lIns="0" tIns="0" rIns="0" bIns="0" rtlCol="0" anchor="ctr"/>
          <a:lstStyle/>
          <a:p>
            <a:pPr marL="0" indent="0">
              <a:buNone/>
            </a:pPr>
            <a:r>
              <a:rPr lang="en-US" sz="1100" dirty="0">
                <a:solidFill>
                  <a:srgbClr val="E2E8F0"/>
                </a:solidFill>
              </a:rPr>
              <a:t>[P2]  R. Zhou, J. T. Liu, S. Ahmed, S. Angizi, A. S. Rakin.  "Compromising the Intelligence of Modern DNNs: On the Effectiveness of Targeted RowPress."  DATE 2025.</a:t>
            </a:r>
            <a:endParaRPr lang="en-US" sz="1100" dirty="0"/>
          </a:p>
        </p:txBody>
      </p:sp>
      <p:sp>
        <p:nvSpPr>
          <p:cNvPr id="9" name="Shape 7"/>
          <p:cNvSpPr/>
          <p:nvPr/>
        </p:nvSpPr>
        <p:spPr>
          <a:xfrm>
            <a:off x="365760" y="2578608"/>
            <a:ext cx="4114800" cy="2377440"/>
          </a:xfrm>
          <a:prstGeom prst="rect">
            <a:avLst/>
          </a:prstGeom>
          <a:solidFill>
            <a:srgbClr val="162035"/>
          </a:solidFill>
          <a:ln w="1270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502920" y="2651760"/>
            <a:ext cx="3840480" cy="256032"/>
          </a:xfrm>
          <a:prstGeom prst="rect">
            <a:avLst/>
          </a:prstGeom>
          <a:noFill/>
        </p:spPr>
        <p:txBody>
          <a:bodyPr wrap="square" lIns="0" tIns="0" rIns="0" bIns="0" rtlCol="0" anchor="ctr"/>
          <a:lstStyle/>
          <a:p>
            <a:pPr marL="0" indent="0">
              <a:buNone/>
            </a:pPr>
            <a:r>
              <a:rPr lang="en-US" sz="1200" b="1" dirty="0">
                <a:solidFill>
                  <a:srgbClr val="06B6D4"/>
                </a:solidFill>
              </a:rPr>
              <a:t>Key Related Works</a:t>
            </a:r>
            <a:endParaRPr lang="en-US" sz="1200" dirty="0"/>
          </a:p>
        </p:txBody>
      </p:sp>
      <p:sp>
        <p:nvSpPr>
          <p:cNvPr id="11" name="Text 9"/>
          <p:cNvSpPr/>
          <p:nvPr/>
        </p:nvSpPr>
        <p:spPr>
          <a:xfrm>
            <a:off x="502920" y="2971800"/>
            <a:ext cx="3840480" cy="310896"/>
          </a:xfrm>
          <a:prstGeom prst="rect">
            <a:avLst/>
          </a:prstGeom>
          <a:noFill/>
        </p:spPr>
        <p:txBody>
          <a:bodyPr wrap="square" lIns="0" tIns="0" rIns="0" bIns="0" rtlCol="0" anchor="ctr"/>
          <a:lstStyle/>
          <a:p>
            <a:pPr marL="0" indent="0">
              <a:buNone/>
            </a:pPr>
            <a:r>
              <a:rPr lang="en-US" sz="1000" dirty="0">
                <a:solidFill>
                  <a:srgbClr val="E2E8F0"/>
                </a:solidFill>
              </a:rPr>
              <a:t>[TBT]  Rakin et al., CVPR 2020 — First inference-stage Trojan via RowHammer</a:t>
            </a:r>
            <a:endParaRPr lang="en-US" sz="1000" dirty="0"/>
          </a:p>
        </p:txBody>
      </p:sp>
      <p:sp>
        <p:nvSpPr>
          <p:cNvPr id="12" name="Text 10"/>
          <p:cNvSpPr/>
          <p:nvPr/>
        </p:nvSpPr>
        <p:spPr>
          <a:xfrm>
            <a:off x="502920" y="3310128"/>
            <a:ext cx="3840480" cy="310896"/>
          </a:xfrm>
          <a:prstGeom prst="rect">
            <a:avLst/>
          </a:prstGeom>
          <a:noFill/>
        </p:spPr>
        <p:txBody>
          <a:bodyPr wrap="square" lIns="0" tIns="0" rIns="0" bIns="0" rtlCol="0" anchor="ctr"/>
          <a:lstStyle/>
          <a:p>
            <a:pPr marL="0" indent="0">
              <a:buNone/>
            </a:pPr>
            <a:r>
              <a:rPr lang="en-US" sz="1000" dirty="0">
                <a:solidFill>
                  <a:srgbClr val="E2E8F0"/>
                </a:solidFill>
              </a:rPr>
              <a:t>[ProFlip]  Chen et al., ICCV 2021 — Progressive bit-flip Trojan attack</a:t>
            </a:r>
            <a:endParaRPr lang="en-US" sz="1000" dirty="0"/>
          </a:p>
        </p:txBody>
      </p:sp>
      <p:sp>
        <p:nvSpPr>
          <p:cNvPr id="13" name="Text 11"/>
          <p:cNvSpPr/>
          <p:nvPr/>
        </p:nvSpPr>
        <p:spPr>
          <a:xfrm>
            <a:off x="502920" y="3648456"/>
            <a:ext cx="3840480" cy="310896"/>
          </a:xfrm>
          <a:prstGeom prst="rect">
            <a:avLst/>
          </a:prstGeom>
          <a:noFill/>
        </p:spPr>
        <p:txBody>
          <a:bodyPr wrap="square" lIns="0" tIns="0" rIns="0" bIns="0" rtlCol="0" anchor="ctr"/>
          <a:lstStyle/>
          <a:p>
            <a:pPr marL="0" indent="0">
              <a:buNone/>
            </a:pPr>
            <a:r>
              <a:rPr lang="en-US" sz="1000" dirty="0">
                <a:solidFill>
                  <a:srgbClr val="E2E8F0"/>
                </a:solidFill>
              </a:rPr>
              <a:t>[TrojViT]  Zheng et al., CVPR 2023 — Trojan insertion for Vision Transformers</a:t>
            </a:r>
            <a:endParaRPr lang="en-US" sz="1000" dirty="0"/>
          </a:p>
        </p:txBody>
      </p:sp>
      <p:sp>
        <p:nvSpPr>
          <p:cNvPr id="14" name="Text 12"/>
          <p:cNvSpPr/>
          <p:nvPr/>
        </p:nvSpPr>
        <p:spPr>
          <a:xfrm>
            <a:off x="502920" y="3986784"/>
            <a:ext cx="3840480" cy="310896"/>
          </a:xfrm>
          <a:prstGeom prst="rect">
            <a:avLst/>
          </a:prstGeom>
          <a:noFill/>
        </p:spPr>
        <p:txBody>
          <a:bodyPr wrap="square" lIns="0" tIns="0" rIns="0" bIns="0" rtlCol="0" anchor="ctr"/>
          <a:lstStyle/>
          <a:p>
            <a:pPr marL="0" indent="0">
              <a:buNone/>
            </a:pPr>
            <a:r>
              <a:rPr lang="en-US" sz="1000" dirty="0">
                <a:solidFill>
                  <a:srgbClr val="E2E8F0"/>
                </a:solidFill>
              </a:rPr>
              <a:t>[DeepHammer]  Yao et al., USENIX Security 2020 — Targeted bit-flip chain</a:t>
            </a:r>
            <a:endParaRPr lang="en-US" sz="1000" dirty="0"/>
          </a:p>
        </p:txBody>
      </p:sp>
      <p:sp>
        <p:nvSpPr>
          <p:cNvPr id="15" name="Text 13"/>
          <p:cNvSpPr/>
          <p:nvPr/>
        </p:nvSpPr>
        <p:spPr>
          <a:xfrm>
            <a:off x="502920" y="4325112"/>
            <a:ext cx="3840480" cy="310896"/>
          </a:xfrm>
          <a:prstGeom prst="rect">
            <a:avLst/>
          </a:prstGeom>
          <a:noFill/>
        </p:spPr>
        <p:txBody>
          <a:bodyPr wrap="square" lIns="0" tIns="0" rIns="0" bIns="0" rtlCol="0" anchor="ctr"/>
          <a:lstStyle/>
          <a:p>
            <a:pPr marL="0" indent="0">
              <a:buNone/>
            </a:pPr>
            <a:r>
              <a:rPr lang="en-US" sz="1000" dirty="0">
                <a:solidFill>
                  <a:srgbClr val="E2E8F0"/>
                </a:solidFill>
              </a:rPr>
              <a:t>[BFA]  Rakin et al., ICCV 2019 — Bit-flip attack via progressive search</a:t>
            </a:r>
            <a:endParaRPr lang="en-US" sz="1000" dirty="0"/>
          </a:p>
        </p:txBody>
      </p:sp>
      <p:sp>
        <p:nvSpPr>
          <p:cNvPr id="16" name="Text 14"/>
          <p:cNvSpPr/>
          <p:nvPr/>
        </p:nvSpPr>
        <p:spPr>
          <a:xfrm>
            <a:off x="502920" y="4663440"/>
            <a:ext cx="3840480" cy="310896"/>
          </a:xfrm>
          <a:prstGeom prst="rect">
            <a:avLst/>
          </a:prstGeom>
          <a:noFill/>
        </p:spPr>
        <p:txBody>
          <a:bodyPr wrap="square" lIns="0" tIns="0" rIns="0" bIns="0" rtlCol="0" anchor="ctr"/>
          <a:lstStyle/>
          <a:p>
            <a:pPr marL="0" indent="0">
              <a:buNone/>
            </a:pPr>
            <a:r>
              <a:rPr lang="en-US" sz="1000" dirty="0">
                <a:solidFill>
                  <a:srgbClr val="E2E8F0"/>
                </a:solidFill>
              </a:rPr>
              <a:t>[RowPress]  Luo et al., ISCA 2023 — Original RowPress DRAM vulnerability</a:t>
            </a:r>
            <a:endParaRPr lang="en-US" sz="1000" dirty="0"/>
          </a:p>
        </p:txBody>
      </p:sp>
      <p:sp>
        <p:nvSpPr>
          <p:cNvPr id="17" name="Shape 15"/>
          <p:cNvSpPr/>
          <p:nvPr/>
        </p:nvSpPr>
        <p:spPr>
          <a:xfrm>
            <a:off x="4663440" y="2578608"/>
            <a:ext cx="4114800" cy="2377440"/>
          </a:xfrm>
          <a:prstGeom prst="rect">
            <a:avLst/>
          </a:prstGeom>
          <a:solidFill>
            <a:srgbClr val="162035"/>
          </a:solidFill>
          <a:ln w="1270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4800600" y="2651760"/>
            <a:ext cx="3840480" cy="256032"/>
          </a:xfrm>
          <a:prstGeom prst="rect">
            <a:avLst/>
          </a:prstGeom>
          <a:noFill/>
        </p:spPr>
        <p:txBody>
          <a:bodyPr wrap="square" lIns="0" tIns="0" rIns="0" bIns="0" rtlCol="0" anchor="ctr"/>
          <a:lstStyle/>
          <a:p>
            <a:pPr marL="0" indent="0">
              <a:buNone/>
            </a:pPr>
            <a:r>
              <a:rPr lang="en-US" sz="1200" b="1" dirty="0">
                <a:solidFill>
                  <a:srgbClr val="22C55E"/>
                </a:solidFill>
              </a:rPr>
              <a:t>Code &amp; Resources</a:t>
            </a:r>
            <a:endParaRPr lang="en-US" sz="1200" dirty="0"/>
          </a:p>
        </p:txBody>
      </p:sp>
      <p:sp>
        <p:nvSpPr>
          <p:cNvPr id="19" name="Shape 17"/>
          <p:cNvSpPr/>
          <p:nvPr/>
        </p:nvSpPr>
        <p:spPr>
          <a:xfrm>
            <a:off x="4800600" y="2990088"/>
            <a:ext cx="3840480" cy="502920"/>
          </a:xfrm>
          <a:prstGeom prst="rect">
            <a:avLst/>
          </a:prstGeom>
          <a:solidFill>
            <a:srgbClr val="0F2040"/>
          </a:solidFill>
          <a:ln w="12700">
            <a:solidFill>
              <a:srgbClr val="22C55E"/>
            </a:solidFill>
            <a:prstDash val="solid"/>
          </a:ln>
        </p:spPr>
        <p:txBody>
          <a:bodyPr/>
          <a:lstStyle/>
          <a:p>
            <a:endParaRPr lang="en-US"/>
          </a:p>
        </p:txBody>
      </p:sp>
      <p:sp>
        <p:nvSpPr>
          <p:cNvPr id="20" name="Text 18"/>
          <p:cNvSpPr/>
          <p:nvPr/>
        </p:nvSpPr>
        <p:spPr>
          <a:xfrm>
            <a:off x="4892040" y="3017520"/>
            <a:ext cx="3657600" cy="201168"/>
          </a:xfrm>
          <a:prstGeom prst="rect">
            <a:avLst/>
          </a:prstGeom>
          <a:noFill/>
        </p:spPr>
        <p:txBody>
          <a:bodyPr wrap="square" lIns="0" tIns="0" rIns="0" bIns="0" rtlCol="0" anchor="ctr"/>
          <a:lstStyle/>
          <a:p>
            <a:pPr marL="0" indent="0">
              <a:buNone/>
            </a:pPr>
            <a:r>
              <a:rPr lang="en-US" sz="1100" b="1" dirty="0">
                <a:solidFill>
                  <a:srgbClr val="22C55E"/>
                </a:solidFill>
              </a:rPr>
              <a:t>Deep-TROJ Code:</a:t>
            </a:r>
            <a:endParaRPr lang="en-US" sz="1100" dirty="0"/>
          </a:p>
        </p:txBody>
      </p:sp>
      <p:sp>
        <p:nvSpPr>
          <p:cNvPr id="21" name="Text 19"/>
          <p:cNvSpPr/>
          <p:nvPr/>
        </p:nvSpPr>
        <p:spPr>
          <a:xfrm>
            <a:off x="4892040" y="3218688"/>
            <a:ext cx="3657600" cy="201168"/>
          </a:xfrm>
          <a:prstGeom prst="rect">
            <a:avLst/>
          </a:prstGeom>
          <a:noFill/>
        </p:spPr>
        <p:txBody>
          <a:bodyPr wrap="square" lIns="0" tIns="0" rIns="0" bIns="0" rtlCol="0" anchor="ctr"/>
          <a:lstStyle/>
          <a:p>
            <a:pPr marL="0" indent="0">
              <a:buNone/>
            </a:pPr>
            <a:r>
              <a:rPr lang="en-US" sz="1050" dirty="0">
                <a:solidFill>
                  <a:srgbClr val="06B6D4"/>
                </a:solidFill>
              </a:rPr>
              <a:t>github.com/MLSecurity-Research-LAB/Deep-TROJ</a:t>
            </a:r>
            <a:endParaRPr lang="en-US" sz="1050" dirty="0"/>
          </a:p>
        </p:txBody>
      </p:sp>
      <p:sp>
        <p:nvSpPr>
          <p:cNvPr id="22" name="Shape 20"/>
          <p:cNvSpPr/>
          <p:nvPr/>
        </p:nvSpPr>
        <p:spPr>
          <a:xfrm>
            <a:off x="4800600" y="3584448"/>
            <a:ext cx="3840480" cy="502920"/>
          </a:xfrm>
          <a:prstGeom prst="rect">
            <a:avLst/>
          </a:prstGeom>
          <a:solidFill>
            <a:srgbClr val="0F2040"/>
          </a:solidFill>
          <a:ln w="12700">
            <a:solidFill>
              <a:srgbClr val="8B5CF6"/>
            </a:solidFill>
            <a:prstDash val="solid"/>
          </a:ln>
        </p:spPr>
        <p:txBody>
          <a:bodyPr/>
          <a:lstStyle/>
          <a:p>
            <a:endParaRPr lang="en-US"/>
          </a:p>
        </p:txBody>
      </p:sp>
      <p:sp>
        <p:nvSpPr>
          <p:cNvPr id="23" name="Text 21"/>
          <p:cNvSpPr/>
          <p:nvPr/>
        </p:nvSpPr>
        <p:spPr>
          <a:xfrm>
            <a:off x="4892040" y="3611880"/>
            <a:ext cx="3657600" cy="201168"/>
          </a:xfrm>
          <a:prstGeom prst="rect">
            <a:avLst/>
          </a:prstGeom>
          <a:noFill/>
        </p:spPr>
        <p:txBody>
          <a:bodyPr wrap="square" lIns="0" tIns="0" rIns="0" bIns="0" rtlCol="0" anchor="ctr"/>
          <a:lstStyle/>
          <a:p>
            <a:pPr marL="0" indent="0">
              <a:buNone/>
            </a:pPr>
            <a:r>
              <a:rPr lang="en-US" sz="1100" b="1" dirty="0">
                <a:solidFill>
                  <a:srgbClr val="8B5CF6"/>
                </a:solidFill>
              </a:rPr>
              <a:t>DRAM-Bender Infrastructure:</a:t>
            </a:r>
            <a:endParaRPr lang="en-US" sz="1100" dirty="0"/>
          </a:p>
        </p:txBody>
      </p:sp>
      <p:sp>
        <p:nvSpPr>
          <p:cNvPr id="24" name="Text 22"/>
          <p:cNvSpPr/>
          <p:nvPr/>
        </p:nvSpPr>
        <p:spPr>
          <a:xfrm>
            <a:off x="4892040" y="3813048"/>
            <a:ext cx="3657600" cy="201168"/>
          </a:xfrm>
          <a:prstGeom prst="rect">
            <a:avLst/>
          </a:prstGeom>
          <a:noFill/>
        </p:spPr>
        <p:txBody>
          <a:bodyPr wrap="square" lIns="0" tIns="0" rIns="0" bIns="0" rtlCol="0" anchor="ctr"/>
          <a:lstStyle/>
          <a:p>
            <a:pPr marL="0" indent="0">
              <a:buNone/>
            </a:pPr>
            <a:r>
              <a:rPr lang="en-US" sz="1000" dirty="0">
                <a:solidFill>
                  <a:srgbClr val="E2E8F0"/>
                </a:solidFill>
              </a:rPr>
              <a:t>Olgun et al., TCAD 2023 — FPGA-based DRAM test framework</a:t>
            </a:r>
            <a:endParaRPr lang="en-US" sz="1000" dirty="0"/>
          </a:p>
        </p:txBody>
      </p:sp>
      <p:sp>
        <p:nvSpPr>
          <p:cNvPr id="25" name="Shape 23"/>
          <p:cNvSpPr/>
          <p:nvPr/>
        </p:nvSpPr>
        <p:spPr>
          <a:xfrm>
            <a:off x="4800600" y="4178808"/>
            <a:ext cx="3840480" cy="658368"/>
          </a:xfrm>
          <a:prstGeom prst="rect">
            <a:avLst/>
          </a:prstGeom>
          <a:solidFill>
            <a:srgbClr val="0F2040"/>
          </a:solidFill>
          <a:ln w="12700">
            <a:solidFill>
              <a:srgbClr val="F59E0B"/>
            </a:solidFill>
            <a:prstDash val="solid"/>
          </a:ln>
        </p:spPr>
        <p:txBody>
          <a:bodyPr/>
          <a:lstStyle/>
          <a:p>
            <a:endParaRPr lang="en-US"/>
          </a:p>
        </p:txBody>
      </p:sp>
      <p:sp>
        <p:nvSpPr>
          <p:cNvPr id="26" name="Text 24"/>
          <p:cNvSpPr/>
          <p:nvPr/>
        </p:nvSpPr>
        <p:spPr>
          <a:xfrm>
            <a:off x="4892040" y="4206240"/>
            <a:ext cx="3657600" cy="201168"/>
          </a:xfrm>
          <a:prstGeom prst="rect">
            <a:avLst/>
          </a:prstGeom>
          <a:noFill/>
        </p:spPr>
        <p:txBody>
          <a:bodyPr wrap="square" lIns="0" tIns="0" rIns="0" bIns="0" rtlCol="0" anchor="ctr"/>
          <a:lstStyle/>
          <a:p>
            <a:pPr marL="0" indent="0">
              <a:buNone/>
            </a:pPr>
            <a:r>
              <a:rPr lang="en-US" sz="1100" b="1" dirty="0">
                <a:solidFill>
                  <a:srgbClr val="F59E0B"/>
                </a:solidFill>
              </a:rPr>
              <a:t>Hardware Setup:</a:t>
            </a:r>
            <a:endParaRPr lang="en-US" sz="1100" dirty="0"/>
          </a:p>
        </p:txBody>
      </p:sp>
      <p:sp>
        <p:nvSpPr>
          <p:cNvPr id="27" name="Text 25"/>
          <p:cNvSpPr/>
          <p:nvPr/>
        </p:nvSpPr>
        <p:spPr>
          <a:xfrm>
            <a:off x="4892040" y="4407408"/>
            <a:ext cx="3657600" cy="384048"/>
          </a:xfrm>
          <a:prstGeom prst="rect">
            <a:avLst/>
          </a:prstGeom>
          <a:noFill/>
        </p:spPr>
        <p:txBody>
          <a:bodyPr wrap="square" lIns="0" tIns="0" rIns="0" bIns="0" rtlCol="0" anchor="ctr"/>
          <a:lstStyle/>
          <a:p>
            <a:pPr marL="0" indent="0">
              <a:buNone/>
            </a:pPr>
            <a:r>
              <a:rPr lang="en-US" sz="1000" dirty="0">
                <a:solidFill>
                  <a:srgbClr val="E2E8F0"/>
                </a:solidFill>
              </a:rPr>
              <a:t>Xilinx Alveo U200 FPGA</a:t>
            </a:r>
            <a:endParaRPr lang="en-US" sz="1000" dirty="0"/>
          </a:p>
          <a:p>
            <a:pPr marL="0" indent="0">
              <a:buNone/>
            </a:pPr>
            <a:r>
              <a:rPr lang="en-US" sz="1000" dirty="0">
                <a:solidFill>
                  <a:srgbClr val="E2E8F0"/>
                </a:solidFill>
              </a:rPr>
              <a:t>Samsung DDR4 16GB, 2400MHz</a:t>
            </a:r>
            <a:endParaRPr lang="en-US" sz="1000" dirty="0"/>
          </a:p>
          <a:p>
            <a:pPr marL="0" indent="0">
              <a:buNone/>
            </a:pPr>
            <a:r>
              <a:rPr lang="en-US" sz="1000" dirty="0">
                <a:solidFill>
                  <a:srgbClr val="E2E8F0"/>
                </a:solidFill>
              </a:rPr>
              <a:t>DDR4 module, Die Rev B, x8 org</a:t>
            </a:r>
            <a:endParaRPr lang="en-US" sz="1000" dirty="0"/>
          </a:p>
        </p:txBody>
      </p:sp>
      <p:pic>
        <p:nvPicPr>
          <p:cNvPr id="28" name="Image 0" descr="preencoded.png">
            <a:extLst>
              <a:ext uri="{FF2B5EF4-FFF2-40B4-BE49-F238E27FC236}">
                <a16:creationId xmlns:a16="http://schemas.microsoft.com/office/drawing/2014/main" id="{717A2B8F-009D-BD0A-B758-191812239A04}"/>
              </a:ext>
            </a:extLst>
          </p:cNvPr>
          <p:cNvPicPr>
            <a:picLocks noChangeAspect="1"/>
          </p:cNvPicPr>
          <p:nvPr/>
        </p:nvPicPr>
        <p:blipFill>
          <a:blip r:embed="rId3"/>
          <a:stretch>
            <a:fillRect/>
          </a:stretch>
        </p:blipFill>
        <p:spPr>
          <a:xfrm>
            <a:off x="8210608" y="1041360"/>
            <a:ext cx="476192" cy="476192"/>
          </a:xfrm>
          <a:prstGeom prst="rect">
            <a:avLst/>
          </a:prstGeom>
        </p:spPr>
      </p:pic>
      <p:pic>
        <p:nvPicPr>
          <p:cNvPr id="29" name="Image 1" descr="preencoded.png">
            <a:extLst>
              <a:ext uri="{FF2B5EF4-FFF2-40B4-BE49-F238E27FC236}">
                <a16:creationId xmlns:a16="http://schemas.microsoft.com/office/drawing/2014/main" id="{45D2CB8C-38C9-621A-9FB4-F3FA77FCC9A4}"/>
              </a:ext>
            </a:extLst>
          </p:cNvPr>
          <p:cNvPicPr>
            <a:picLocks noChangeAspect="1"/>
          </p:cNvPicPr>
          <p:nvPr/>
        </p:nvPicPr>
        <p:blipFill>
          <a:blip r:embed="rId4"/>
          <a:stretch>
            <a:fillRect/>
          </a:stretch>
        </p:blipFill>
        <p:spPr>
          <a:xfrm>
            <a:off x="8210608" y="1956464"/>
            <a:ext cx="476192" cy="476192"/>
          </a:xfrm>
          <a:prstGeom prst="rect">
            <a:avLst/>
          </a:prstGeom>
        </p:spPr>
      </p:pic>
      <p:pic>
        <p:nvPicPr>
          <p:cNvPr id="30" name="Image 7" descr="preencoded.png">
            <a:extLst>
              <a:ext uri="{FF2B5EF4-FFF2-40B4-BE49-F238E27FC236}">
                <a16:creationId xmlns:a16="http://schemas.microsoft.com/office/drawing/2014/main" id="{0826B573-158D-5454-D05E-8037A92A0D4D}"/>
              </a:ext>
            </a:extLst>
          </p:cNvPr>
          <p:cNvPicPr>
            <a:picLocks noChangeAspect="1"/>
          </p:cNvPicPr>
          <p:nvPr/>
        </p:nvPicPr>
        <p:blipFill>
          <a:blip r:embed="rId5"/>
          <a:stretch>
            <a:fillRect/>
          </a:stretch>
        </p:blipFill>
        <p:spPr>
          <a:xfrm>
            <a:off x="8174736" y="3611880"/>
            <a:ext cx="466344" cy="466344"/>
          </a:xfrm>
          <a:prstGeom prst="rect">
            <a:avLst/>
          </a:prstGeom>
        </p:spPr>
      </p:pic>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21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txBody>
          <a:bodyPr/>
          <a:lstStyle/>
          <a:p>
            <a:endParaRPr lang="en-US"/>
          </a:p>
        </p:txBody>
      </p:sp>
      <p:sp>
        <p:nvSpPr>
          <p:cNvPr id="3" name="Shape 1"/>
          <p:cNvSpPr/>
          <p:nvPr/>
        </p:nvSpPr>
        <p:spPr>
          <a:xfrm>
            <a:off x="457200" y="164592"/>
            <a:ext cx="54864" cy="384048"/>
          </a:xfrm>
          <a:prstGeom prst="rect">
            <a:avLst/>
          </a:prstGeom>
          <a:solidFill>
            <a:srgbClr val="06B6D4"/>
          </a:solidFill>
          <a:ln w="12700">
            <a:solidFill>
              <a:srgbClr val="06B6D4"/>
            </a:solidFill>
            <a:prstDash val="solid"/>
          </a:ln>
        </p:spPr>
        <p:txBody>
          <a:bodyPr/>
          <a:lstStyle/>
          <a:p>
            <a:endParaRPr lang="en-US"/>
          </a:p>
        </p:txBody>
      </p:sp>
      <p:sp>
        <p:nvSpPr>
          <p:cNvPr id="4" name="Text 2"/>
          <p:cNvSpPr/>
          <p:nvPr/>
        </p:nvSpPr>
        <p:spPr>
          <a:xfrm>
            <a:off x="640080" y="182880"/>
            <a:ext cx="2286000" cy="182880"/>
          </a:xfrm>
          <a:prstGeom prst="rect">
            <a:avLst/>
          </a:prstGeom>
          <a:noFill/>
        </p:spPr>
        <p:txBody>
          <a:bodyPr wrap="square" lIns="0" tIns="0" rIns="0" bIns="0" rtlCol="0" anchor="ctr"/>
          <a:lstStyle/>
          <a:p>
            <a:pPr marL="0" indent="0">
              <a:buNone/>
            </a:pPr>
            <a:r>
              <a:rPr lang="en-US" sz="900" b="1" kern="0" spc="200" dirty="0">
                <a:solidFill>
                  <a:srgbClr val="06B6D4"/>
                </a:solidFill>
              </a:rPr>
              <a:t>FUTURE WORK</a:t>
            </a:r>
            <a:endParaRPr lang="en-US" sz="900" dirty="0"/>
          </a:p>
        </p:txBody>
      </p:sp>
      <p:sp>
        <p:nvSpPr>
          <p:cNvPr id="5" name="Text 3"/>
          <p:cNvSpPr/>
          <p:nvPr/>
        </p:nvSpPr>
        <p:spPr>
          <a:xfrm>
            <a:off x="640080" y="338328"/>
            <a:ext cx="8046720" cy="402336"/>
          </a:xfrm>
          <a:prstGeom prst="rect">
            <a:avLst/>
          </a:prstGeom>
          <a:noFill/>
        </p:spPr>
        <p:txBody>
          <a:bodyPr wrap="square" rtlCol="0" anchor="ctr"/>
          <a:lstStyle/>
          <a:p>
            <a:pPr marL="0" indent="0">
              <a:buNone/>
            </a:pPr>
            <a:r>
              <a:rPr lang="en-US" sz="2600" b="1" dirty="0">
                <a:solidFill>
                  <a:srgbClr val="FFFFFF"/>
                </a:solidFill>
              </a:rPr>
              <a:t>Open Research Questions</a:t>
            </a:r>
            <a:endParaRPr lang="en-US" sz="2600" dirty="0"/>
          </a:p>
        </p:txBody>
      </p:sp>
      <p:sp>
        <p:nvSpPr>
          <p:cNvPr id="6" name="Shape 4"/>
          <p:cNvSpPr/>
          <p:nvPr/>
        </p:nvSpPr>
        <p:spPr>
          <a:xfrm>
            <a:off x="365760" y="914400"/>
            <a:ext cx="4114800" cy="1298448"/>
          </a:xfrm>
          <a:prstGeom prst="rect">
            <a:avLst/>
          </a:prstGeom>
          <a:solidFill>
            <a:srgbClr val="162035"/>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365760" y="914400"/>
            <a:ext cx="4114800" cy="54864"/>
          </a:xfrm>
          <a:prstGeom prst="rect">
            <a:avLst/>
          </a:prstGeom>
          <a:solidFill>
            <a:srgbClr val="8B5CF6"/>
          </a:solidFill>
          <a:ln w="12700">
            <a:solidFill>
              <a:srgbClr val="8B5CF6"/>
            </a:solidFill>
            <a:prstDash val="solid"/>
          </a:ln>
        </p:spPr>
        <p:txBody>
          <a:bodyPr/>
          <a:lstStyle/>
          <a:p>
            <a:endParaRPr lang="en-US"/>
          </a:p>
        </p:txBody>
      </p:sp>
      <p:sp>
        <p:nvSpPr>
          <p:cNvPr id="8" name="Shape 6"/>
          <p:cNvSpPr/>
          <p:nvPr/>
        </p:nvSpPr>
        <p:spPr>
          <a:xfrm>
            <a:off x="3474720" y="1005840"/>
            <a:ext cx="914400" cy="237744"/>
          </a:xfrm>
          <a:prstGeom prst="rect">
            <a:avLst/>
          </a:prstGeom>
          <a:solidFill>
            <a:srgbClr val="0F2040"/>
          </a:solidFill>
          <a:ln w="12700">
            <a:solidFill>
              <a:srgbClr val="8B5CF6"/>
            </a:solidFill>
            <a:prstDash val="solid"/>
          </a:ln>
        </p:spPr>
        <p:txBody>
          <a:bodyPr/>
          <a:lstStyle/>
          <a:p>
            <a:endParaRPr lang="en-US"/>
          </a:p>
        </p:txBody>
      </p:sp>
      <p:sp>
        <p:nvSpPr>
          <p:cNvPr id="9" name="Text 7"/>
          <p:cNvSpPr/>
          <p:nvPr/>
        </p:nvSpPr>
        <p:spPr>
          <a:xfrm>
            <a:off x="3474720" y="1005840"/>
            <a:ext cx="914400" cy="237744"/>
          </a:xfrm>
          <a:prstGeom prst="rect">
            <a:avLst/>
          </a:prstGeom>
          <a:noFill/>
        </p:spPr>
        <p:txBody>
          <a:bodyPr wrap="square" lIns="0" tIns="0" rIns="0" bIns="0" rtlCol="0" anchor="ctr"/>
          <a:lstStyle/>
          <a:p>
            <a:pPr marL="0" indent="0" algn="ctr">
              <a:buNone/>
            </a:pPr>
            <a:r>
              <a:rPr lang="en-US" sz="850" b="1" dirty="0">
                <a:solidFill>
                  <a:srgbClr val="8B5CF6"/>
                </a:solidFill>
              </a:rPr>
              <a:t>Offense</a:t>
            </a:r>
            <a:endParaRPr lang="en-US" sz="850" dirty="0"/>
          </a:p>
        </p:txBody>
      </p:sp>
      <p:sp>
        <p:nvSpPr>
          <p:cNvPr id="10" name="Text 8"/>
          <p:cNvSpPr/>
          <p:nvPr/>
        </p:nvSpPr>
        <p:spPr>
          <a:xfrm>
            <a:off x="457200" y="987552"/>
            <a:ext cx="292608" cy="310896"/>
          </a:xfrm>
          <a:prstGeom prst="rect">
            <a:avLst/>
          </a:prstGeom>
          <a:noFill/>
        </p:spPr>
        <p:txBody>
          <a:bodyPr wrap="square" lIns="0" tIns="0" rIns="0" bIns="0" rtlCol="0" anchor="ctr"/>
          <a:lstStyle/>
          <a:p>
            <a:pPr marL="0" indent="0">
              <a:buNone/>
            </a:pPr>
            <a:r>
              <a:rPr lang="en-US" sz="2200" b="1" dirty="0">
                <a:solidFill>
                  <a:srgbClr val="8B5CF6"/>
                </a:solidFill>
              </a:rPr>
              <a:t>?</a:t>
            </a:r>
            <a:endParaRPr lang="en-US" sz="2200" dirty="0"/>
          </a:p>
        </p:txBody>
      </p:sp>
      <p:sp>
        <p:nvSpPr>
          <p:cNvPr id="11" name="Text 9"/>
          <p:cNvSpPr/>
          <p:nvPr/>
        </p:nvSpPr>
        <p:spPr>
          <a:xfrm>
            <a:off x="777240" y="1005840"/>
            <a:ext cx="2606040" cy="274320"/>
          </a:xfrm>
          <a:prstGeom prst="rect">
            <a:avLst/>
          </a:prstGeom>
          <a:noFill/>
        </p:spPr>
        <p:txBody>
          <a:bodyPr wrap="square" lIns="0" tIns="0" rIns="0" bIns="0" rtlCol="0" anchor="ctr"/>
          <a:lstStyle/>
          <a:p>
            <a:pPr marL="0" indent="0">
              <a:buNone/>
            </a:pPr>
            <a:r>
              <a:rPr lang="en-US" sz="1150" b="1" dirty="0">
                <a:solidFill>
                  <a:srgbClr val="FFFFFF"/>
                </a:solidFill>
              </a:rPr>
              <a:t>Can RowPress amplify Deep-TROJ?</a:t>
            </a:r>
            <a:endParaRPr lang="en-US" sz="1150" dirty="0"/>
          </a:p>
        </p:txBody>
      </p:sp>
      <p:sp>
        <p:nvSpPr>
          <p:cNvPr id="12" name="Text 10"/>
          <p:cNvSpPr/>
          <p:nvPr/>
        </p:nvSpPr>
        <p:spPr>
          <a:xfrm>
            <a:off x="475488" y="1353312"/>
            <a:ext cx="3886200" cy="804672"/>
          </a:xfrm>
          <a:prstGeom prst="rect">
            <a:avLst/>
          </a:prstGeom>
          <a:noFill/>
        </p:spPr>
        <p:txBody>
          <a:bodyPr wrap="square" lIns="0" tIns="0" rIns="0" bIns="0" rtlCol="0" anchor="ctr"/>
          <a:lstStyle/>
          <a:p>
            <a:pPr marL="0" indent="0">
              <a:buNone/>
            </a:pPr>
            <a:r>
              <a:rPr lang="en-US" sz="1000" dirty="0">
                <a:solidFill>
                  <a:srgbClr val="E2E8F0"/>
                </a:solidFill>
              </a:rPr>
              <a:t>RowPress's 20× higher bit-flip volume could reduce PFN flip iterations below 5. Combining both attack vectors is an unexplored but high-impact direction.</a:t>
            </a:r>
            <a:endParaRPr lang="en-US" sz="1000" dirty="0"/>
          </a:p>
        </p:txBody>
      </p:sp>
      <p:sp>
        <p:nvSpPr>
          <p:cNvPr id="13" name="Shape 11"/>
          <p:cNvSpPr/>
          <p:nvPr/>
        </p:nvSpPr>
        <p:spPr>
          <a:xfrm>
            <a:off x="4754880" y="914400"/>
            <a:ext cx="4114800" cy="1298448"/>
          </a:xfrm>
          <a:prstGeom prst="rect">
            <a:avLst/>
          </a:prstGeom>
          <a:solidFill>
            <a:srgbClr val="162035"/>
          </a:solidFill>
          <a:ln w="1270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14" name="Shape 12"/>
          <p:cNvSpPr/>
          <p:nvPr/>
        </p:nvSpPr>
        <p:spPr>
          <a:xfrm>
            <a:off x="4754880" y="914400"/>
            <a:ext cx="4114800" cy="54864"/>
          </a:xfrm>
          <a:prstGeom prst="rect">
            <a:avLst/>
          </a:prstGeom>
          <a:solidFill>
            <a:srgbClr val="22C55E"/>
          </a:solidFill>
          <a:ln w="12700">
            <a:solidFill>
              <a:srgbClr val="22C55E"/>
            </a:solidFill>
            <a:prstDash val="solid"/>
          </a:ln>
        </p:spPr>
        <p:txBody>
          <a:bodyPr/>
          <a:lstStyle/>
          <a:p>
            <a:endParaRPr lang="en-US"/>
          </a:p>
        </p:txBody>
      </p:sp>
      <p:sp>
        <p:nvSpPr>
          <p:cNvPr id="15" name="Shape 13"/>
          <p:cNvSpPr/>
          <p:nvPr/>
        </p:nvSpPr>
        <p:spPr>
          <a:xfrm>
            <a:off x="7863840" y="1005840"/>
            <a:ext cx="914400" cy="237744"/>
          </a:xfrm>
          <a:prstGeom prst="rect">
            <a:avLst/>
          </a:prstGeom>
          <a:solidFill>
            <a:srgbClr val="0F2040"/>
          </a:solidFill>
          <a:ln w="12700">
            <a:solidFill>
              <a:srgbClr val="22C55E"/>
            </a:solidFill>
            <a:prstDash val="solid"/>
          </a:ln>
        </p:spPr>
        <p:txBody>
          <a:bodyPr/>
          <a:lstStyle/>
          <a:p>
            <a:endParaRPr lang="en-US"/>
          </a:p>
        </p:txBody>
      </p:sp>
      <p:sp>
        <p:nvSpPr>
          <p:cNvPr id="16" name="Text 14"/>
          <p:cNvSpPr/>
          <p:nvPr/>
        </p:nvSpPr>
        <p:spPr>
          <a:xfrm>
            <a:off x="7863840" y="1005840"/>
            <a:ext cx="914400" cy="237744"/>
          </a:xfrm>
          <a:prstGeom prst="rect">
            <a:avLst/>
          </a:prstGeom>
          <a:noFill/>
        </p:spPr>
        <p:txBody>
          <a:bodyPr wrap="square" lIns="0" tIns="0" rIns="0" bIns="0" rtlCol="0" anchor="ctr"/>
          <a:lstStyle/>
          <a:p>
            <a:pPr marL="0" indent="0" algn="ctr">
              <a:buNone/>
            </a:pPr>
            <a:r>
              <a:rPr lang="en-US" sz="850" b="1" dirty="0">
                <a:solidFill>
                  <a:srgbClr val="22C55E"/>
                </a:solidFill>
              </a:rPr>
              <a:t>Defense</a:t>
            </a:r>
            <a:endParaRPr lang="en-US" sz="850" dirty="0"/>
          </a:p>
        </p:txBody>
      </p:sp>
      <p:sp>
        <p:nvSpPr>
          <p:cNvPr id="17" name="Text 15"/>
          <p:cNvSpPr/>
          <p:nvPr/>
        </p:nvSpPr>
        <p:spPr>
          <a:xfrm>
            <a:off x="4846320" y="987552"/>
            <a:ext cx="292608" cy="310896"/>
          </a:xfrm>
          <a:prstGeom prst="rect">
            <a:avLst/>
          </a:prstGeom>
          <a:noFill/>
        </p:spPr>
        <p:txBody>
          <a:bodyPr wrap="square" lIns="0" tIns="0" rIns="0" bIns="0" rtlCol="0" anchor="ctr"/>
          <a:lstStyle/>
          <a:p>
            <a:pPr marL="0" indent="0">
              <a:buNone/>
            </a:pPr>
            <a:r>
              <a:rPr lang="en-US" sz="2200" b="1" dirty="0">
                <a:solidFill>
                  <a:srgbClr val="22C55E"/>
                </a:solidFill>
              </a:rPr>
              <a:t>?</a:t>
            </a:r>
            <a:endParaRPr lang="en-US" sz="2200" dirty="0"/>
          </a:p>
        </p:txBody>
      </p:sp>
      <p:sp>
        <p:nvSpPr>
          <p:cNvPr id="18" name="Text 16"/>
          <p:cNvSpPr/>
          <p:nvPr/>
        </p:nvSpPr>
        <p:spPr>
          <a:xfrm>
            <a:off x="5166360" y="1005840"/>
            <a:ext cx="2606040" cy="274320"/>
          </a:xfrm>
          <a:prstGeom prst="rect">
            <a:avLst/>
          </a:prstGeom>
          <a:noFill/>
        </p:spPr>
        <p:txBody>
          <a:bodyPr wrap="square" lIns="0" tIns="0" rIns="0" bIns="0" rtlCol="0" anchor="ctr"/>
          <a:lstStyle/>
          <a:p>
            <a:pPr marL="0" indent="0">
              <a:buNone/>
            </a:pPr>
            <a:r>
              <a:rPr lang="en-US" sz="1150" b="1" dirty="0">
                <a:solidFill>
                  <a:srgbClr val="FFFFFF"/>
                </a:solidFill>
              </a:rPr>
              <a:t>How to defend RowPress in DRAM?</a:t>
            </a:r>
            <a:endParaRPr lang="en-US" sz="1150" dirty="0"/>
          </a:p>
        </p:txBody>
      </p:sp>
      <p:sp>
        <p:nvSpPr>
          <p:cNvPr id="19" name="Text 17"/>
          <p:cNvSpPr/>
          <p:nvPr/>
        </p:nvSpPr>
        <p:spPr>
          <a:xfrm>
            <a:off x="4864608" y="1353312"/>
            <a:ext cx="3886200" cy="804672"/>
          </a:xfrm>
          <a:prstGeom prst="rect">
            <a:avLst/>
          </a:prstGeom>
          <a:noFill/>
        </p:spPr>
        <p:txBody>
          <a:bodyPr wrap="square" lIns="0" tIns="0" rIns="0" bIns="0" rtlCol="0" anchor="ctr"/>
          <a:lstStyle/>
          <a:p>
            <a:pPr marL="0" indent="0">
              <a:buNone/>
            </a:pPr>
            <a:r>
              <a:rPr lang="en-US" sz="1000" dirty="0">
                <a:solidFill>
                  <a:srgbClr val="E2E8F0"/>
                </a:solidFill>
              </a:rPr>
              <a:t>Counter-based TRR is blind to prolonged-activation attacks. New DRAM standards must monitor activation duration, not just frequency. JEDEC standards may need revision.</a:t>
            </a:r>
            <a:endParaRPr lang="en-US" sz="1000" dirty="0"/>
          </a:p>
        </p:txBody>
      </p:sp>
      <p:sp>
        <p:nvSpPr>
          <p:cNvPr id="20" name="Shape 18"/>
          <p:cNvSpPr/>
          <p:nvPr/>
        </p:nvSpPr>
        <p:spPr>
          <a:xfrm>
            <a:off x="365760" y="2304288"/>
            <a:ext cx="4114800" cy="1298448"/>
          </a:xfrm>
          <a:prstGeom prst="rect">
            <a:avLst/>
          </a:prstGeom>
          <a:solidFill>
            <a:srgbClr val="162035"/>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365760" y="2304288"/>
            <a:ext cx="4114800" cy="54864"/>
          </a:xfrm>
          <a:prstGeom prst="rect">
            <a:avLst/>
          </a:prstGeom>
          <a:solidFill>
            <a:srgbClr val="F59E0B"/>
          </a:solidFill>
          <a:ln w="12700">
            <a:solidFill>
              <a:srgbClr val="F59E0B"/>
            </a:solidFill>
            <a:prstDash val="solid"/>
          </a:ln>
        </p:spPr>
        <p:txBody>
          <a:bodyPr/>
          <a:lstStyle/>
          <a:p>
            <a:endParaRPr lang="en-US"/>
          </a:p>
        </p:txBody>
      </p:sp>
      <p:sp>
        <p:nvSpPr>
          <p:cNvPr id="22" name="Shape 20"/>
          <p:cNvSpPr/>
          <p:nvPr/>
        </p:nvSpPr>
        <p:spPr>
          <a:xfrm>
            <a:off x="3474720" y="2395728"/>
            <a:ext cx="914400" cy="237744"/>
          </a:xfrm>
          <a:prstGeom prst="rect">
            <a:avLst/>
          </a:prstGeom>
          <a:solidFill>
            <a:srgbClr val="0F2040"/>
          </a:solidFill>
          <a:ln w="12700">
            <a:solidFill>
              <a:srgbClr val="F59E0B"/>
            </a:solidFill>
            <a:prstDash val="solid"/>
          </a:ln>
        </p:spPr>
        <p:txBody>
          <a:bodyPr/>
          <a:lstStyle/>
          <a:p>
            <a:endParaRPr lang="en-US"/>
          </a:p>
        </p:txBody>
      </p:sp>
      <p:sp>
        <p:nvSpPr>
          <p:cNvPr id="23" name="Text 21"/>
          <p:cNvSpPr/>
          <p:nvPr/>
        </p:nvSpPr>
        <p:spPr>
          <a:xfrm>
            <a:off x="3474720" y="2395728"/>
            <a:ext cx="914400" cy="237744"/>
          </a:xfrm>
          <a:prstGeom prst="rect">
            <a:avLst/>
          </a:prstGeom>
          <a:noFill/>
        </p:spPr>
        <p:txBody>
          <a:bodyPr wrap="square" lIns="0" tIns="0" rIns="0" bIns="0" rtlCol="0" anchor="ctr"/>
          <a:lstStyle/>
          <a:p>
            <a:pPr marL="0" indent="0" algn="ctr">
              <a:buNone/>
            </a:pPr>
            <a:r>
              <a:rPr lang="en-US" sz="850" b="1" dirty="0">
                <a:solidFill>
                  <a:srgbClr val="F59E0B"/>
                </a:solidFill>
              </a:rPr>
              <a:t>Threat Model</a:t>
            </a:r>
            <a:endParaRPr lang="en-US" sz="850" dirty="0"/>
          </a:p>
        </p:txBody>
      </p:sp>
      <p:sp>
        <p:nvSpPr>
          <p:cNvPr id="24" name="Text 22"/>
          <p:cNvSpPr/>
          <p:nvPr/>
        </p:nvSpPr>
        <p:spPr>
          <a:xfrm>
            <a:off x="457200" y="2377440"/>
            <a:ext cx="292608" cy="310896"/>
          </a:xfrm>
          <a:prstGeom prst="rect">
            <a:avLst/>
          </a:prstGeom>
          <a:noFill/>
        </p:spPr>
        <p:txBody>
          <a:bodyPr wrap="square" lIns="0" tIns="0" rIns="0" bIns="0" rtlCol="0" anchor="ctr"/>
          <a:lstStyle/>
          <a:p>
            <a:pPr marL="0" indent="0">
              <a:buNone/>
            </a:pPr>
            <a:r>
              <a:rPr lang="en-US" sz="2200" b="1" dirty="0">
                <a:solidFill>
                  <a:srgbClr val="F59E0B"/>
                </a:solidFill>
              </a:rPr>
              <a:t>?</a:t>
            </a:r>
            <a:endParaRPr lang="en-US" sz="2200" dirty="0"/>
          </a:p>
        </p:txBody>
      </p:sp>
      <p:sp>
        <p:nvSpPr>
          <p:cNvPr id="25" name="Text 23"/>
          <p:cNvSpPr/>
          <p:nvPr/>
        </p:nvSpPr>
        <p:spPr>
          <a:xfrm>
            <a:off x="777240" y="2395728"/>
            <a:ext cx="2606040" cy="274320"/>
          </a:xfrm>
          <a:prstGeom prst="rect">
            <a:avLst/>
          </a:prstGeom>
          <a:noFill/>
        </p:spPr>
        <p:txBody>
          <a:bodyPr wrap="square" lIns="0" tIns="0" rIns="0" bIns="0" rtlCol="0" anchor="ctr"/>
          <a:lstStyle/>
          <a:p>
            <a:pPr marL="0" indent="0">
              <a:buNone/>
            </a:pPr>
            <a:r>
              <a:rPr lang="en-US" sz="1150" b="1" dirty="0">
                <a:solidFill>
                  <a:srgbClr val="FFFFFF"/>
                </a:solidFill>
              </a:rPr>
              <a:t>Black-box inference-stage attacks?</a:t>
            </a:r>
            <a:endParaRPr lang="en-US" sz="1150" dirty="0"/>
          </a:p>
        </p:txBody>
      </p:sp>
      <p:sp>
        <p:nvSpPr>
          <p:cNvPr id="26" name="Text 24"/>
          <p:cNvSpPr/>
          <p:nvPr/>
        </p:nvSpPr>
        <p:spPr>
          <a:xfrm>
            <a:off x="475488" y="2743200"/>
            <a:ext cx="3886200" cy="804672"/>
          </a:xfrm>
          <a:prstGeom prst="rect">
            <a:avLst/>
          </a:prstGeom>
          <a:noFill/>
        </p:spPr>
        <p:txBody>
          <a:bodyPr wrap="square" lIns="0" tIns="0" rIns="0" bIns="0" rtlCol="0" anchor="ctr"/>
          <a:lstStyle/>
          <a:p>
            <a:pPr marL="0" indent="0">
              <a:buNone/>
            </a:pPr>
            <a:r>
              <a:rPr lang="en-US" sz="1000" dirty="0">
                <a:solidFill>
                  <a:srgbClr val="E2E8F0"/>
                </a:solidFill>
              </a:rPr>
              <a:t>Current models require white-box access. Remote side-channels (cache timing, EM) can now extract model structure — how close are we to a fully remote black-box attack?</a:t>
            </a:r>
            <a:endParaRPr lang="en-US" sz="1000" dirty="0"/>
          </a:p>
        </p:txBody>
      </p:sp>
      <p:sp>
        <p:nvSpPr>
          <p:cNvPr id="27" name="Shape 25"/>
          <p:cNvSpPr/>
          <p:nvPr/>
        </p:nvSpPr>
        <p:spPr>
          <a:xfrm>
            <a:off x="4754880" y="2304288"/>
            <a:ext cx="4114800" cy="1298448"/>
          </a:xfrm>
          <a:prstGeom prst="rect">
            <a:avLst/>
          </a:prstGeom>
          <a:solidFill>
            <a:srgbClr val="162035"/>
          </a:solidFill>
          <a:ln w="1270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28" name="Shape 26"/>
          <p:cNvSpPr/>
          <p:nvPr/>
        </p:nvSpPr>
        <p:spPr>
          <a:xfrm>
            <a:off x="4754880" y="2304288"/>
            <a:ext cx="4114800" cy="54864"/>
          </a:xfrm>
          <a:prstGeom prst="rect">
            <a:avLst/>
          </a:prstGeom>
          <a:solidFill>
            <a:srgbClr val="3B82F6"/>
          </a:solidFill>
          <a:ln w="12700">
            <a:solidFill>
              <a:srgbClr val="3B82F6"/>
            </a:solidFill>
            <a:prstDash val="solid"/>
          </a:ln>
        </p:spPr>
        <p:txBody>
          <a:bodyPr/>
          <a:lstStyle/>
          <a:p>
            <a:endParaRPr lang="en-US"/>
          </a:p>
        </p:txBody>
      </p:sp>
      <p:sp>
        <p:nvSpPr>
          <p:cNvPr id="29" name="Shape 27"/>
          <p:cNvSpPr/>
          <p:nvPr/>
        </p:nvSpPr>
        <p:spPr>
          <a:xfrm>
            <a:off x="7863840" y="2395728"/>
            <a:ext cx="914400" cy="237744"/>
          </a:xfrm>
          <a:prstGeom prst="rect">
            <a:avLst/>
          </a:prstGeom>
          <a:solidFill>
            <a:srgbClr val="0F2040"/>
          </a:solidFill>
          <a:ln w="12700">
            <a:solidFill>
              <a:srgbClr val="3B82F6"/>
            </a:solidFill>
            <a:prstDash val="solid"/>
          </a:ln>
        </p:spPr>
        <p:txBody>
          <a:bodyPr/>
          <a:lstStyle/>
          <a:p>
            <a:endParaRPr lang="en-US"/>
          </a:p>
        </p:txBody>
      </p:sp>
      <p:sp>
        <p:nvSpPr>
          <p:cNvPr id="30" name="Text 28"/>
          <p:cNvSpPr/>
          <p:nvPr/>
        </p:nvSpPr>
        <p:spPr>
          <a:xfrm>
            <a:off x="7863840" y="2395728"/>
            <a:ext cx="914400" cy="237744"/>
          </a:xfrm>
          <a:prstGeom prst="rect">
            <a:avLst/>
          </a:prstGeom>
          <a:noFill/>
        </p:spPr>
        <p:txBody>
          <a:bodyPr wrap="square" lIns="0" tIns="0" rIns="0" bIns="0" rtlCol="0" anchor="ctr"/>
          <a:lstStyle/>
          <a:p>
            <a:pPr marL="0" indent="0" algn="ctr">
              <a:buNone/>
            </a:pPr>
            <a:r>
              <a:rPr lang="en-US" sz="850" b="1" dirty="0">
                <a:solidFill>
                  <a:srgbClr val="3B82F6"/>
                </a:solidFill>
              </a:rPr>
              <a:t>Quantization</a:t>
            </a:r>
            <a:endParaRPr lang="en-US" sz="850" dirty="0"/>
          </a:p>
        </p:txBody>
      </p:sp>
      <p:sp>
        <p:nvSpPr>
          <p:cNvPr id="31" name="Text 29"/>
          <p:cNvSpPr/>
          <p:nvPr/>
        </p:nvSpPr>
        <p:spPr>
          <a:xfrm>
            <a:off x="4846320" y="2377440"/>
            <a:ext cx="292608" cy="310896"/>
          </a:xfrm>
          <a:prstGeom prst="rect">
            <a:avLst/>
          </a:prstGeom>
          <a:noFill/>
        </p:spPr>
        <p:txBody>
          <a:bodyPr wrap="square" lIns="0" tIns="0" rIns="0" bIns="0" rtlCol="0" anchor="ctr"/>
          <a:lstStyle/>
          <a:p>
            <a:pPr marL="0" indent="0">
              <a:buNone/>
            </a:pPr>
            <a:r>
              <a:rPr lang="en-US" sz="2200" b="1" dirty="0">
                <a:solidFill>
                  <a:srgbClr val="3B82F6"/>
                </a:solidFill>
              </a:rPr>
              <a:t>?</a:t>
            </a:r>
            <a:endParaRPr lang="en-US" sz="2200" dirty="0"/>
          </a:p>
        </p:txBody>
      </p:sp>
      <p:sp>
        <p:nvSpPr>
          <p:cNvPr id="32" name="Text 30"/>
          <p:cNvSpPr/>
          <p:nvPr/>
        </p:nvSpPr>
        <p:spPr>
          <a:xfrm>
            <a:off x="5166360" y="2395728"/>
            <a:ext cx="2606040" cy="274320"/>
          </a:xfrm>
          <a:prstGeom prst="rect">
            <a:avLst/>
          </a:prstGeom>
          <a:noFill/>
        </p:spPr>
        <p:txBody>
          <a:bodyPr wrap="square" lIns="0" tIns="0" rIns="0" bIns="0" rtlCol="0" anchor="ctr"/>
          <a:lstStyle/>
          <a:p>
            <a:pPr marL="0" indent="0">
              <a:buNone/>
            </a:pPr>
            <a:r>
              <a:rPr lang="en-US" sz="1150" b="1" dirty="0">
                <a:solidFill>
                  <a:srgbClr val="FFFFFF"/>
                </a:solidFill>
              </a:rPr>
              <a:t>Are larger quantization widths safer?</a:t>
            </a:r>
            <a:endParaRPr lang="en-US" sz="1150" dirty="0"/>
          </a:p>
        </p:txBody>
      </p:sp>
      <p:sp>
        <p:nvSpPr>
          <p:cNvPr id="33" name="Text 31"/>
          <p:cNvSpPr/>
          <p:nvPr/>
        </p:nvSpPr>
        <p:spPr>
          <a:xfrm>
            <a:off x="4864608" y="2743200"/>
            <a:ext cx="3886200" cy="804672"/>
          </a:xfrm>
          <a:prstGeom prst="rect">
            <a:avLst/>
          </a:prstGeom>
          <a:noFill/>
        </p:spPr>
        <p:txBody>
          <a:bodyPr wrap="square" lIns="0" tIns="0" rIns="0" bIns="0" rtlCol="0" anchor="ctr"/>
          <a:lstStyle/>
          <a:p>
            <a:pPr marL="0" indent="0">
              <a:buNone/>
            </a:pPr>
            <a:r>
              <a:rPr lang="en-US" sz="1000" dirty="0">
                <a:solidFill>
                  <a:srgbClr val="E2E8F0"/>
                </a:solidFill>
              </a:rPr>
              <a:t>All results use 8-bit quantization. Fewer bits per weight means each flip has larger magnitude — how do 4-bit and 2-bit quantized models compare in vulnerability?</a:t>
            </a:r>
            <a:endParaRPr lang="en-US" sz="1000" dirty="0"/>
          </a:p>
        </p:txBody>
      </p:sp>
      <p:sp>
        <p:nvSpPr>
          <p:cNvPr id="34" name="Shape 32"/>
          <p:cNvSpPr/>
          <p:nvPr/>
        </p:nvSpPr>
        <p:spPr>
          <a:xfrm>
            <a:off x="365760" y="3694176"/>
            <a:ext cx="4114800" cy="1298448"/>
          </a:xfrm>
          <a:prstGeom prst="rect">
            <a:avLst/>
          </a:prstGeom>
          <a:solidFill>
            <a:srgbClr val="162035"/>
          </a:solidFill>
          <a:ln w="12700">
            <a:solidFill>
              <a:srgbClr val="EC4899"/>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33"/>
          <p:cNvSpPr/>
          <p:nvPr/>
        </p:nvSpPr>
        <p:spPr>
          <a:xfrm>
            <a:off x="365760" y="3694176"/>
            <a:ext cx="4114800" cy="54864"/>
          </a:xfrm>
          <a:prstGeom prst="rect">
            <a:avLst/>
          </a:prstGeom>
          <a:solidFill>
            <a:srgbClr val="EC4899"/>
          </a:solidFill>
          <a:ln w="12700">
            <a:solidFill>
              <a:srgbClr val="EC4899"/>
            </a:solidFill>
            <a:prstDash val="solid"/>
          </a:ln>
        </p:spPr>
        <p:txBody>
          <a:bodyPr/>
          <a:lstStyle/>
          <a:p>
            <a:endParaRPr lang="en-US"/>
          </a:p>
        </p:txBody>
      </p:sp>
      <p:sp>
        <p:nvSpPr>
          <p:cNvPr id="36" name="Shape 34"/>
          <p:cNvSpPr/>
          <p:nvPr/>
        </p:nvSpPr>
        <p:spPr>
          <a:xfrm>
            <a:off x="3474720" y="3785616"/>
            <a:ext cx="914400" cy="237744"/>
          </a:xfrm>
          <a:prstGeom prst="rect">
            <a:avLst/>
          </a:prstGeom>
          <a:solidFill>
            <a:srgbClr val="0F2040"/>
          </a:solidFill>
          <a:ln w="12700">
            <a:solidFill>
              <a:srgbClr val="EC4899"/>
            </a:solidFill>
            <a:prstDash val="solid"/>
          </a:ln>
        </p:spPr>
        <p:txBody>
          <a:bodyPr/>
          <a:lstStyle/>
          <a:p>
            <a:endParaRPr lang="en-US"/>
          </a:p>
        </p:txBody>
      </p:sp>
      <p:sp>
        <p:nvSpPr>
          <p:cNvPr id="37" name="Text 35"/>
          <p:cNvSpPr/>
          <p:nvPr/>
        </p:nvSpPr>
        <p:spPr>
          <a:xfrm>
            <a:off x="3474720" y="3785616"/>
            <a:ext cx="914400" cy="237744"/>
          </a:xfrm>
          <a:prstGeom prst="rect">
            <a:avLst/>
          </a:prstGeom>
          <a:noFill/>
        </p:spPr>
        <p:txBody>
          <a:bodyPr wrap="square" lIns="0" tIns="0" rIns="0" bIns="0" rtlCol="0" anchor="ctr"/>
          <a:lstStyle/>
          <a:p>
            <a:pPr marL="0" indent="0" algn="ctr">
              <a:buNone/>
            </a:pPr>
            <a:r>
              <a:rPr lang="en-US" sz="850" b="1" dirty="0">
                <a:solidFill>
                  <a:srgbClr val="EC4899"/>
                </a:solidFill>
              </a:rPr>
              <a:t>New Targets</a:t>
            </a:r>
            <a:endParaRPr lang="en-US" sz="850" dirty="0"/>
          </a:p>
        </p:txBody>
      </p:sp>
      <p:sp>
        <p:nvSpPr>
          <p:cNvPr id="38" name="Text 36"/>
          <p:cNvSpPr/>
          <p:nvPr/>
        </p:nvSpPr>
        <p:spPr>
          <a:xfrm>
            <a:off x="457200" y="3767328"/>
            <a:ext cx="292608" cy="310896"/>
          </a:xfrm>
          <a:prstGeom prst="rect">
            <a:avLst/>
          </a:prstGeom>
          <a:noFill/>
        </p:spPr>
        <p:txBody>
          <a:bodyPr wrap="square" lIns="0" tIns="0" rIns="0" bIns="0" rtlCol="0" anchor="ctr"/>
          <a:lstStyle/>
          <a:p>
            <a:pPr marL="0" indent="0">
              <a:buNone/>
            </a:pPr>
            <a:r>
              <a:rPr lang="en-US" sz="2200" b="1" dirty="0">
                <a:solidFill>
                  <a:srgbClr val="EC4899"/>
                </a:solidFill>
              </a:rPr>
              <a:t>?</a:t>
            </a:r>
            <a:endParaRPr lang="en-US" sz="2200" dirty="0"/>
          </a:p>
        </p:txBody>
      </p:sp>
      <p:sp>
        <p:nvSpPr>
          <p:cNvPr id="39" name="Text 37"/>
          <p:cNvSpPr/>
          <p:nvPr/>
        </p:nvSpPr>
        <p:spPr>
          <a:xfrm>
            <a:off x="777240" y="3785616"/>
            <a:ext cx="2606040" cy="274320"/>
          </a:xfrm>
          <a:prstGeom prst="rect">
            <a:avLst/>
          </a:prstGeom>
          <a:noFill/>
        </p:spPr>
        <p:txBody>
          <a:bodyPr wrap="square" lIns="0" tIns="0" rIns="0" bIns="0" rtlCol="0" anchor="ctr"/>
          <a:lstStyle/>
          <a:p>
            <a:pPr marL="0" indent="0">
              <a:buNone/>
            </a:pPr>
            <a:r>
              <a:rPr lang="en-US" sz="1150" b="1" dirty="0">
                <a:solidFill>
                  <a:srgbClr val="FFFFFF"/>
                </a:solidFill>
              </a:rPr>
              <a:t>LLM / Generative model vulnerability?</a:t>
            </a:r>
            <a:endParaRPr lang="en-US" sz="1150" dirty="0"/>
          </a:p>
        </p:txBody>
      </p:sp>
      <p:sp>
        <p:nvSpPr>
          <p:cNvPr id="40" name="Text 38"/>
          <p:cNvSpPr/>
          <p:nvPr/>
        </p:nvSpPr>
        <p:spPr>
          <a:xfrm>
            <a:off x="475488" y="4133088"/>
            <a:ext cx="3886200" cy="804672"/>
          </a:xfrm>
          <a:prstGeom prst="rect">
            <a:avLst/>
          </a:prstGeom>
          <a:noFill/>
        </p:spPr>
        <p:txBody>
          <a:bodyPr wrap="square" lIns="0" tIns="0" rIns="0" bIns="0" rtlCol="0" anchor="ctr"/>
          <a:lstStyle/>
          <a:p>
            <a:pPr marL="0" indent="0">
              <a:buNone/>
            </a:pPr>
            <a:r>
              <a:rPr lang="en-US" sz="1000" dirty="0">
                <a:solidFill>
                  <a:srgbClr val="E2E8F0"/>
                </a:solidFill>
              </a:rPr>
              <a:t>Results cover CNNs and ViTs. Large language models and diffusion models store billions of weights in DRAM. Their vulnerability to weight block replacement is unstudied.</a:t>
            </a:r>
            <a:endParaRPr lang="en-US" sz="1000" dirty="0"/>
          </a:p>
        </p:txBody>
      </p:sp>
      <p:sp>
        <p:nvSpPr>
          <p:cNvPr id="41" name="Shape 39"/>
          <p:cNvSpPr/>
          <p:nvPr/>
        </p:nvSpPr>
        <p:spPr>
          <a:xfrm>
            <a:off x="4754880" y="3694176"/>
            <a:ext cx="4114800" cy="1298448"/>
          </a:xfrm>
          <a:prstGeom prst="rect">
            <a:avLst/>
          </a:prstGeom>
          <a:solidFill>
            <a:srgbClr val="162035"/>
          </a:solidFill>
          <a:ln w="12700">
            <a:solidFill>
              <a:srgbClr val="0D9488"/>
            </a:solidFill>
            <a:prstDash val="solid"/>
          </a:ln>
          <a:effectLst>
            <a:outerShdw blurRad="101600" dist="38100" dir="8100000" algn="bl" rotWithShape="0">
              <a:srgbClr val="000000">
                <a:alpha val="25000"/>
              </a:srgbClr>
            </a:outerShdw>
          </a:effectLst>
        </p:spPr>
        <p:txBody>
          <a:bodyPr/>
          <a:lstStyle/>
          <a:p>
            <a:endParaRPr lang="en-US"/>
          </a:p>
        </p:txBody>
      </p:sp>
      <p:sp>
        <p:nvSpPr>
          <p:cNvPr id="42" name="Shape 40"/>
          <p:cNvSpPr/>
          <p:nvPr/>
        </p:nvSpPr>
        <p:spPr>
          <a:xfrm>
            <a:off x="4754880" y="3694176"/>
            <a:ext cx="4114800" cy="54864"/>
          </a:xfrm>
          <a:prstGeom prst="rect">
            <a:avLst/>
          </a:prstGeom>
          <a:solidFill>
            <a:srgbClr val="0D9488"/>
          </a:solidFill>
          <a:ln w="12700">
            <a:solidFill>
              <a:srgbClr val="0D9488"/>
            </a:solidFill>
            <a:prstDash val="solid"/>
          </a:ln>
        </p:spPr>
        <p:txBody>
          <a:bodyPr/>
          <a:lstStyle/>
          <a:p>
            <a:endParaRPr lang="en-US"/>
          </a:p>
        </p:txBody>
      </p:sp>
      <p:sp>
        <p:nvSpPr>
          <p:cNvPr id="43" name="Shape 41"/>
          <p:cNvSpPr/>
          <p:nvPr/>
        </p:nvSpPr>
        <p:spPr>
          <a:xfrm>
            <a:off x="7863840" y="3785616"/>
            <a:ext cx="914400" cy="237744"/>
          </a:xfrm>
          <a:prstGeom prst="rect">
            <a:avLst/>
          </a:prstGeom>
          <a:solidFill>
            <a:srgbClr val="0F2040"/>
          </a:solidFill>
          <a:ln w="12700">
            <a:solidFill>
              <a:srgbClr val="0D9488"/>
            </a:solidFill>
            <a:prstDash val="solid"/>
          </a:ln>
        </p:spPr>
        <p:txBody>
          <a:bodyPr/>
          <a:lstStyle/>
          <a:p>
            <a:endParaRPr lang="en-US"/>
          </a:p>
        </p:txBody>
      </p:sp>
      <p:sp>
        <p:nvSpPr>
          <p:cNvPr id="44" name="Text 42"/>
          <p:cNvSpPr/>
          <p:nvPr/>
        </p:nvSpPr>
        <p:spPr>
          <a:xfrm>
            <a:off x="7863840" y="3785616"/>
            <a:ext cx="914400" cy="237744"/>
          </a:xfrm>
          <a:prstGeom prst="rect">
            <a:avLst/>
          </a:prstGeom>
          <a:noFill/>
        </p:spPr>
        <p:txBody>
          <a:bodyPr wrap="square" lIns="0" tIns="0" rIns="0" bIns="0" rtlCol="0" anchor="ctr"/>
          <a:lstStyle/>
          <a:p>
            <a:pPr marL="0" indent="0" algn="ctr">
              <a:buNone/>
            </a:pPr>
            <a:r>
              <a:rPr lang="en-US" sz="850" b="1" dirty="0">
                <a:solidFill>
                  <a:srgbClr val="0D9488"/>
                </a:solidFill>
              </a:rPr>
              <a:t>System Design</a:t>
            </a:r>
            <a:endParaRPr lang="en-US" sz="850" dirty="0"/>
          </a:p>
        </p:txBody>
      </p:sp>
      <p:sp>
        <p:nvSpPr>
          <p:cNvPr id="45" name="Text 43"/>
          <p:cNvSpPr/>
          <p:nvPr/>
        </p:nvSpPr>
        <p:spPr>
          <a:xfrm>
            <a:off x="4846320" y="3767328"/>
            <a:ext cx="292608" cy="310896"/>
          </a:xfrm>
          <a:prstGeom prst="rect">
            <a:avLst/>
          </a:prstGeom>
          <a:noFill/>
        </p:spPr>
        <p:txBody>
          <a:bodyPr wrap="square" lIns="0" tIns="0" rIns="0" bIns="0" rtlCol="0" anchor="ctr"/>
          <a:lstStyle/>
          <a:p>
            <a:pPr marL="0" indent="0">
              <a:buNone/>
            </a:pPr>
            <a:r>
              <a:rPr lang="en-US" sz="2200" b="1" dirty="0">
                <a:solidFill>
                  <a:srgbClr val="0D9488"/>
                </a:solidFill>
              </a:rPr>
              <a:t>?</a:t>
            </a:r>
            <a:endParaRPr lang="en-US" sz="2200" dirty="0"/>
          </a:p>
        </p:txBody>
      </p:sp>
      <p:sp>
        <p:nvSpPr>
          <p:cNvPr id="46" name="Text 44"/>
          <p:cNvSpPr/>
          <p:nvPr/>
        </p:nvSpPr>
        <p:spPr>
          <a:xfrm>
            <a:off x="5166360" y="3785616"/>
            <a:ext cx="2606040" cy="274320"/>
          </a:xfrm>
          <a:prstGeom prst="rect">
            <a:avLst/>
          </a:prstGeom>
          <a:noFill/>
        </p:spPr>
        <p:txBody>
          <a:bodyPr wrap="square" lIns="0" tIns="0" rIns="0" bIns="0" rtlCol="0" anchor="ctr"/>
          <a:lstStyle/>
          <a:p>
            <a:pPr marL="0" indent="0">
              <a:buNone/>
            </a:pPr>
            <a:r>
              <a:rPr lang="en-US" sz="1150" b="1" dirty="0">
                <a:solidFill>
                  <a:srgbClr val="FFFFFF"/>
                </a:solidFill>
              </a:rPr>
              <a:t>Hardware-level countermeasures?</a:t>
            </a:r>
            <a:endParaRPr lang="en-US" sz="1150" dirty="0"/>
          </a:p>
        </p:txBody>
      </p:sp>
      <p:sp>
        <p:nvSpPr>
          <p:cNvPr id="47" name="Text 45"/>
          <p:cNvSpPr/>
          <p:nvPr/>
        </p:nvSpPr>
        <p:spPr>
          <a:xfrm>
            <a:off x="4864608" y="4133088"/>
            <a:ext cx="3886200" cy="804672"/>
          </a:xfrm>
          <a:prstGeom prst="rect">
            <a:avLst/>
          </a:prstGeom>
          <a:noFill/>
        </p:spPr>
        <p:txBody>
          <a:bodyPr wrap="square" lIns="0" tIns="0" rIns="0" bIns="0" rtlCol="0" anchor="ctr"/>
          <a:lstStyle/>
          <a:p>
            <a:pPr marL="0" indent="0">
              <a:buNone/>
            </a:pPr>
            <a:r>
              <a:rPr lang="en-US" sz="1000" dirty="0">
                <a:solidFill>
                  <a:srgbClr val="E2E8F0"/>
                </a:solidFill>
              </a:rPr>
              <a:t>Can in-DRAM cryptographic signing or periodic weight-hash verification detect memory tampering at inference time with acceptable overhead?</a:t>
            </a:r>
            <a:endParaRPr lang="en-US" sz="10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22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0" y="5065776"/>
            <a:ext cx="9144000" cy="73152"/>
          </a:xfrm>
          <a:prstGeom prst="rect">
            <a:avLst/>
          </a:prstGeom>
          <a:solidFill>
            <a:srgbClr val="2563EB"/>
          </a:solidFill>
          <a:ln w="12700">
            <a:solidFill>
              <a:srgbClr val="2563EB"/>
            </a:solidFill>
            <a:prstDash val="solid"/>
          </a:ln>
        </p:spPr>
        <p:txBody>
          <a:bodyPr/>
          <a:lstStyle/>
          <a:p>
            <a:endParaRPr lang="en-US"/>
          </a:p>
        </p:txBody>
      </p:sp>
      <p:sp>
        <p:nvSpPr>
          <p:cNvPr id="4" name="Shape 2"/>
          <p:cNvSpPr/>
          <p:nvPr/>
        </p:nvSpPr>
        <p:spPr>
          <a:xfrm>
            <a:off x="5029200" y="0"/>
            <a:ext cx="0" cy="5143500"/>
          </a:xfrm>
          <a:prstGeom prst="line">
            <a:avLst/>
          </a:prstGeom>
          <a:noFill/>
          <a:ln w="6350">
            <a:solidFill>
              <a:srgbClr val="1E3A5F"/>
            </a:solidFill>
            <a:prstDash val="dash"/>
          </a:ln>
        </p:spPr>
        <p:txBody>
          <a:bodyPr/>
          <a:lstStyle/>
          <a:p>
            <a:endParaRPr lang="en-US"/>
          </a:p>
        </p:txBody>
      </p:sp>
      <p:sp>
        <p:nvSpPr>
          <p:cNvPr id="5" name="Shape 3"/>
          <p:cNvSpPr/>
          <p:nvPr/>
        </p:nvSpPr>
        <p:spPr>
          <a:xfrm>
            <a:off x="5376672" y="0"/>
            <a:ext cx="0" cy="5143500"/>
          </a:xfrm>
          <a:prstGeom prst="line">
            <a:avLst/>
          </a:prstGeom>
          <a:noFill/>
          <a:ln w="6350">
            <a:solidFill>
              <a:srgbClr val="1E3A5F"/>
            </a:solidFill>
            <a:prstDash val="dash"/>
          </a:ln>
        </p:spPr>
        <p:txBody>
          <a:bodyPr/>
          <a:lstStyle/>
          <a:p>
            <a:endParaRPr lang="en-US"/>
          </a:p>
        </p:txBody>
      </p:sp>
      <p:sp>
        <p:nvSpPr>
          <p:cNvPr id="6" name="Shape 4"/>
          <p:cNvSpPr/>
          <p:nvPr/>
        </p:nvSpPr>
        <p:spPr>
          <a:xfrm>
            <a:off x="5724144" y="0"/>
            <a:ext cx="0" cy="5143500"/>
          </a:xfrm>
          <a:prstGeom prst="line">
            <a:avLst/>
          </a:prstGeom>
          <a:noFill/>
          <a:ln w="6350">
            <a:solidFill>
              <a:srgbClr val="1E3A5F"/>
            </a:solidFill>
            <a:prstDash val="dash"/>
          </a:ln>
        </p:spPr>
        <p:txBody>
          <a:bodyPr/>
          <a:lstStyle/>
          <a:p>
            <a:endParaRPr lang="en-US"/>
          </a:p>
        </p:txBody>
      </p:sp>
      <p:sp>
        <p:nvSpPr>
          <p:cNvPr id="7" name="Shape 5"/>
          <p:cNvSpPr/>
          <p:nvPr/>
        </p:nvSpPr>
        <p:spPr>
          <a:xfrm>
            <a:off x="6071616" y="0"/>
            <a:ext cx="0" cy="5143500"/>
          </a:xfrm>
          <a:prstGeom prst="line">
            <a:avLst/>
          </a:prstGeom>
          <a:noFill/>
          <a:ln w="6350">
            <a:solidFill>
              <a:srgbClr val="1E3A5F"/>
            </a:solidFill>
            <a:prstDash val="dash"/>
          </a:ln>
        </p:spPr>
        <p:txBody>
          <a:bodyPr/>
          <a:lstStyle/>
          <a:p>
            <a:endParaRPr lang="en-US"/>
          </a:p>
        </p:txBody>
      </p:sp>
      <p:sp>
        <p:nvSpPr>
          <p:cNvPr id="8" name="Shape 6"/>
          <p:cNvSpPr/>
          <p:nvPr/>
        </p:nvSpPr>
        <p:spPr>
          <a:xfrm>
            <a:off x="6419088" y="0"/>
            <a:ext cx="0" cy="5143500"/>
          </a:xfrm>
          <a:prstGeom prst="line">
            <a:avLst/>
          </a:prstGeom>
          <a:noFill/>
          <a:ln w="6350">
            <a:solidFill>
              <a:srgbClr val="1E3A5F"/>
            </a:solidFill>
            <a:prstDash val="dash"/>
          </a:ln>
        </p:spPr>
        <p:txBody>
          <a:bodyPr/>
          <a:lstStyle/>
          <a:p>
            <a:endParaRPr lang="en-US"/>
          </a:p>
        </p:txBody>
      </p:sp>
      <p:sp>
        <p:nvSpPr>
          <p:cNvPr id="9" name="Shape 7"/>
          <p:cNvSpPr/>
          <p:nvPr/>
        </p:nvSpPr>
        <p:spPr>
          <a:xfrm>
            <a:off x="6766560" y="0"/>
            <a:ext cx="0" cy="5143500"/>
          </a:xfrm>
          <a:prstGeom prst="line">
            <a:avLst/>
          </a:prstGeom>
          <a:noFill/>
          <a:ln w="6350">
            <a:solidFill>
              <a:srgbClr val="1E3A5F"/>
            </a:solidFill>
            <a:prstDash val="dash"/>
          </a:ln>
        </p:spPr>
        <p:txBody>
          <a:bodyPr/>
          <a:lstStyle/>
          <a:p>
            <a:endParaRPr lang="en-US"/>
          </a:p>
        </p:txBody>
      </p:sp>
      <p:sp>
        <p:nvSpPr>
          <p:cNvPr id="10" name="Shape 8"/>
          <p:cNvSpPr/>
          <p:nvPr/>
        </p:nvSpPr>
        <p:spPr>
          <a:xfrm>
            <a:off x="7114032" y="0"/>
            <a:ext cx="0" cy="5143500"/>
          </a:xfrm>
          <a:prstGeom prst="line">
            <a:avLst/>
          </a:prstGeom>
          <a:noFill/>
          <a:ln w="6350">
            <a:solidFill>
              <a:srgbClr val="1E3A5F"/>
            </a:solidFill>
            <a:prstDash val="dash"/>
          </a:ln>
        </p:spPr>
        <p:txBody>
          <a:bodyPr/>
          <a:lstStyle/>
          <a:p>
            <a:endParaRPr lang="en-US"/>
          </a:p>
        </p:txBody>
      </p:sp>
      <p:sp>
        <p:nvSpPr>
          <p:cNvPr id="11" name="Shape 9"/>
          <p:cNvSpPr/>
          <p:nvPr/>
        </p:nvSpPr>
        <p:spPr>
          <a:xfrm>
            <a:off x="7461504" y="0"/>
            <a:ext cx="0" cy="5143500"/>
          </a:xfrm>
          <a:prstGeom prst="line">
            <a:avLst/>
          </a:prstGeom>
          <a:noFill/>
          <a:ln w="6350">
            <a:solidFill>
              <a:srgbClr val="1E3A5F"/>
            </a:solidFill>
            <a:prstDash val="dash"/>
          </a:ln>
        </p:spPr>
        <p:txBody>
          <a:bodyPr/>
          <a:lstStyle/>
          <a:p>
            <a:endParaRPr lang="en-US"/>
          </a:p>
        </p:txBody>
      </p:sp>
      <p:sp>
        <p:nvSpPr>
          <p:cNvPr id="12" name="Shape 10"/>
          <p:cNvSpPr/>
          <p:nvPr/>
        </p:nvSpPr>
        <p:spPr>
          <a:xfrm>
            <a:off x="7808976" y="0"/>
            <a:ext cx="0" cy="5143500"/>
          </a:xfrm>
          <a:prstGeom prst="line">
            <a:avLst/>
          </a:prstGeom>
          <a:noFill/>
          <a:ln w="6350">
            <a:solidFill>
              <a:srgbClr val="1E3A5F"/>
            </a:solidFill>
            <a:prstDash val="dash"/>
          </a:ln>
        </p:spPr>
        <p:txBody>
          <a:bodyPr/>
          <a:lstStyle/>
          <a:p>
            <a:endParaRPr lang="en-US"/>
          </a:p>
        </p:txBody>
      </p:sp>
      <p:sp>
        <p:nvSpPr>
          <p:cNvPr id="13" name="Shape 11"/>
          <p:cNvSpPr/>
          <p:nvPr/>
        </p:nvSpPr>
        <p:spPr>
          <a:xfrm>
            <a:off x="8156448" y="0"/>
            <a:ext cx="0" cy="5143500"/>
          </a:xfrm>
          <a:prstGeom prst="line">
            <a:avLst/>
          </a:prstGeom>
          <a:noFill/>
          <a:ln w="6350">
            <a:solidFill>
              <a:srgbClr val="1E3A5F"/>
            </a:solidFill>
            <a:prstDash val="dash"/>
          </a:ln>
        </p:spPr>
        <p:txBody>
          <a:bodyPr/>
          <a:lstStyle/>
          <a:p>
            <a:endParaRPr lang="en-US"/>
          </a:p>
        </p:txBody>
      </p:sp>
      <p:sp>
        <p:nvSpPr>
          <p:cNvPr id="14" name="Shape 12"/>
          <p:cNvSpPr/>
          <p:nvPr/>
        </p:nvSpPr>
        <p:spPr>
          <a:xfrm>
            <a:off x="8503920" y="0"/>
            <a:ext cx="0" cy="5143500"/>
          </a:xfrm>
          <a:prstGeom prst="line">
            <a:avLst/>
          </a:prstGeom>
          <a:noFill/>
          <a:ln w="6350">
            <a:solidFill>
              <a:srgbClr val="1E3A5F"/>
            </a:solidFill>
            <a:prstDash val="dash"/>
          </a:ln>
        </p:spPr>
        <p:txBody>
          <a:bodyPr/>
          <a:lstStyle/>
          <a:p>
            <a:endParaRPr lang="en-US"/>
          </a:p>
        </p:txBody>
      </p:sp>
      <p:sp>
        <p:nvSpPr>
          <p:cNvPr id="15" name="Shape 13"/>
          <p:cNvSpPr/>
          <p:nvPr/>
        </p:nvSpPr>
        <p:spPr>
          <a:xfrm>
            <a:off x="8851392" y="0"/>
            <a:ext cx="0" cy="5143500"/>
          </a:xfrm>
          <a:prstGeom prst="line">
            <a:avLst/>
          </a:prstGeom>
          <a:noFill/>
          <a:ln w="6350">
            <a:solidFill>
              <a:srgbClr val="1E3A5F"/>
            </a:solidFill>
            <a:prstDash val="dash"/>
          </a:ln>
        </p:spPr>
        <p:txBody>
          <a:bodyPr/>
          <a:lstStyle/>
          <a:p>
            <a:endParaRPr lang="en-US"/>
          </a:p>
        </p:txBody>
      </p:sp>
      <p:sp>
        <p:nvSpPr>
          <p:cNvPr id="16" name="Shape 14"/>
          <p:cNvSpPr/>
          <p:nvPr/>
        </p:nvSpPr>
        <p:spPr>
          <a:xfrm>
            <a:off x="5029200" y="91440"/>
            <a:ext cx="4114800" cy="0"/>
          </a:xfrm>
          <a:prstGeom prst="line">
            <a:avLst/>
          </a:prstGeom>
          <a:noFill/>
          <a:ln w="6350">
            <a:solidFill>
              <a:srgbClr val="1E3A5F"/>
            </a:solidFill>
            <a:prstDash val="dash"/>
          </a:ln>
        </p:spPr>
        <p:txBody>
          <a:bodyPr/>
          <a:lstStyle/>
          <a:p>
            <a:endParaRPr lang="en-US"/>
          </a:p>
        </p:txBody>
      </p:sp>
      <p:sp>
        <p:nvSpPr>
          <p:cNvPr id="17" name="Shape 15"/>
          <p:cNvSpPr/>
          <p:nvPr/>
        </p:nvSpPr>
        <p:spPr>
          <a:xfrm>
            <a:off x="5029200" y="603504"/>
            <a:ext cx="4114800" cy="0"/>
          </a:xfrm>
          <a:prstGeom prst="line">
            <a:avLst/>
          </a:prstGeom>
          <a:noFill/>
          <a:ln w="6350">
            <a:solidFill>
              <a:srgbClr val="1E3A5F"/>
            </a:solidFill>
            <a:prstDash val="dash"/>
          </a:ln>
        </p:spPr>
        <p:txBody>
          <a:bodyPr/>
          <a:lstStyle/>
          <a:p>
            <a:endParaRPr lang="en-US"/>
          </a:p>
        </p:txBody>
      </p:sp>
      <p:sp>
        <p:nvSpPr>
          <p:cNvPr id="18" name="Shape 16"/>
          <p:cNvSpPr/>
          <p:nvPr/>
        </p:nvSpPr>
        <p:spPr>
          <a:xfrm>
            <a:off x="5029200" y="1115568"/>
            <a:ext cx="4114800" cy="0"/>
          </a:xfrm>
          <a:prstGeom prst="line">
            <a:avLst/>
          </a:prstGeom>
          <a:noFill/>
          <a:ln w="6350">
            <a:solidFill>
              <a:srgbClr val="1E3A5F"/>
            </a:solidFill>
            <a:prstDash val="dash"/>
          </a:ln>
        </p:spPr>
        <p:txBody>
          <a:bodyPr/>
          <a:lstStyle/>
          <a:p>
            <a:endParaRPr lang="en-US"/>
          </a:p>
        </p:txBody>
      </p:sp>
      <p:sp>
        <p:nvSpPr>
          <p:cNvPr id="19" name="Shape 17"/>
          <p:cNvSpPr/>
          <p:nvPr/>
        </p:nvSpPr>
        <p:spPr>
          <a:xfrm>
            <a:off x="5029200" y="1627632"/>
            <a:ext cx="4114800" cy="0"/>
          </a:xfrm>
          <a:prstGeom prst="line">
            <a:avLst/>
          </a:prstGeom>
          <a:noFill/>
          <a:ln w="6350">
            <a:solidFill>
              <a:srgbClr val="1E3A5F"/>
            </a:solidFill>
            <a:prstDash val="dash"/>
          </a:ln>
        </p:spPr>
        <p:txBody>
          <a:bodyPr/>
          <a:lstStyle/>
          <a:p>
            <a:endParaRPr lang="en-US"/>
          </a:p>
        </p:txBody>
      </p:sp>
      <p:sp>
        <p:nvSpPr>
          <p:cNvPr id="20" name="Shape 18"/>
          <p:cNvSpPr/>
          <p:nvPr/>
        </p:nvSpPr>
        <p:spPr>
          <a:xfrm>
            <a:off x="5029200" y="2139696"/>
            <a:ext cx="4114800" cy="0"/>
          </a:xfrm>
          <a:prstGeom prst="line">
            <a:avLst/>
          </a:prstGeom>
          <a:noFill/>
          <a:ln w="6350">
            <a:solidFill>
              <a:srgbClr val="1E3A5F"/>
            </a:solidFill>
            <a:prstDash val="dash"/>
          </a:ln>
        </p:spPr>
        <p:txBody>
          <a:bodyPr/>
          <a:lstStyle/>
          <a:p>
            <a:endParaRPr lang="en-US"/>
          </a:p>
        </p:txBody>
      </p:sp>
      <p:sp>
        <p:nvSpPr>
          <p:cNvPr id="21" name="Shape 19"/>
          <p:cNvSpPr/>
          <p:nvPr/>
        </p:nvSpPr>
        <p:spPr>
          <a:xfrm>
            <a:off x="5029200" y="2651760"/>
            <a:ext cx="4114800" cy="0"/>
          </a:xfrm>
          <a:prstGeom prst="line">
            <a:avLst/>
          </a:prstGeom>
          <a:noFill/>
          <a:ln w="6350">
            <a:solidFill>
              <a:srgbClr val="1E3A5F"/>
            </a:solidFill>
            <a:prstDash val="dash"/>
          </a:ln>
        </p:spPr>
        <p:txBody>
          <a:bodyPr/>
          <a:lstStyle/>
          <a:p>
            <a:endParaRPr lang="en-US"/>
          </a:p>
        </p:txBody>
      </p:sp>
      <p:sp>
        <p:nvSpPr>
          <p:cNvPr id="22" name="Shape 20"/>
          <p:cNvSpPr/>
          <p:nvPr/>
        </p:nvSpPr>
        <p:spPr>
          <a:xfrm>
            <a:off x="5029200" y="3163824"/>
            <a:ext cx="4114800" cy="0"/>
          </a:xfrm>
          <a:prstGeom prst="line">
            <a:avLst/>
          </a:prstGeom>
          <a:noFill/>
          <a:ln w="6350">
            <a:solidFill>
              <a:srgbClr val="1E3A5F"/>
            </a:solidFill>
            <a:prstDash val="dash"/>
          </a:ln>
        </p:spPr>
        <p:txBody>
          <a:bodyPr/>
          <a:lstStyle/>
          <a:p>
            <a:endParaRPr lang="en-US"/>
          </a:p>
        </p:txBody>
      </p:sp>
      <p:sp>
        <p:nvSpPr>
          <p:cNvPr id="23" name="Shape 21"/>
          <p:cNvSpPr/>
          <p:nvPr/>
        </p:nvSpPr>
        <p:spPr>
          <a:xfrm>
            <a:off x="5029200" y="3675888"/>
            <a:ext cx="4114800" cy="0"/>
          </a:xfrm>
          <a:prstGeom prst="line">
            <a:avLst/>
          </a:prstGeom>
          <a:noFill/>
          <a:ln w="6350">
            <a:solidFill>
              <a:srgbClr val="1E3A5F"/>
            </a:solidFill>
            <a:prstDash val="dash"/>
          </a:ln>
        </p:spPr>
        <p:txBody>
          <a:bodyPr/>
          <a:lstStyle/>
          <a:p>
            <a:endParaRPr lang="en-US"/>
          </a:p>
        </p:txBody>
      </p:sp>
      <p:sp>
        <p:nvSpPr>
          <p:cNvPr id="24" name="Shape 22"/>
          <p:cNvSpPr/>
          <p:nvPr/>
        </p:nvSpPr>
        <p:spPr>
          <a:xfrm>
            <a:off x="5029200" y="4187952"/>
            <a:ext cx="4114800" cy="0"/>
          </a:xfrm>
          <a:prstGeom prst="line">
            <a:avLst/>
          </a:prstGeom>
          <a:noFill/>
          <a:ln w="6350">
            <a:solidFill>
              <a:srgbClr val="1E3A5F"/>
            </a:solidFill>
            <a:prstDash val="dash"/>
          </a:ln>
        </p:spPr>
        <p:txBody>
          <a:bodyPr/>
          <a:lstStyle/>
          <a:p>
            <a:endParaRPr lang="en-US"/>
          </a:p>
        </p:txBody>
      </p:sp>
      <p:sp>
        <p:nvSpPr>
          <p:cNvPr id="25" name="Shape 23"/>
          <p:cNvSpPr/>
          <p:nvPr/>
        </p:nvSpPr>
        <p:spPr>
          <a:xfrm>
            <a:off x="5029200" y="4700016"/>
            <a:ext cx="4114800" cy="0"/>
          </a:xfrm>
          <a:prstGeom prst="line">
            <a:avLst/>
          </a:prstGeom>
          <a:noFill/>
          <a:ln w="6350">
            <a:solidFill>
              <a:srgbClr val="1E3A5F"/>
            </a:solidFill>
            <a:prstDash val="dash"/>
          </a:ln>
        </p:spPr>
        <p:txBody>
          <a:bodyPr/>
          <a:lstStyle/>
          <a:p>
            <a:endParaRPr lang="en-US"/>
          </a:p>
        </p:txBody>
      </p:sp>
      <p:sp>
        <p:nvSpPr>
          <p:cNvPr id="26" name="Shape 24"/>
          <p:cNvSpPr/>
          <p:nvPr/>
        </p:nvSpPr>
        <p:spPr>
          <a:xfrm>
            <a:off x="5577840" y="822960"/>
            <a:ext cx="182880" cy="182880"/>
          </a:xfrm>
          <a:prstGeom prst="ellipse">
            <a:avLst/>
          </a:prstGeom>
          <a:solidFill>
            <a:srgbClr val="06B6D4"/>
          </a:solidFill>
          <a:ln w="12700">
            <a:solidFill>
              <a:srgbClr val="06B6D4"/>
            </a:solidFill>
            <a:prstDash val="solid"/>
          </a:ln>
        </p:spPr>
        <p:txBody>
          <a:bodyPr/>
          <a:lstStyle/>
          <a:p>
            <a:endParaRPr lang="en-US"/>
          </a:p>
        </p:txBody>
      </p:sp>
      <p:sp>
        <p:nvSpPr>
          <p:cNvPr id="27" name="Shape 25"/>
          <p:cNvSpPr/>
          <p:nvPr/>
        </p:nvSpPr>
        <p:spPr>
          <a:xfrm>
            <a:off x="6675120" y="1554480"/>
            <a:ext cx="182880" cy="182880"/>
          </a:xfrm>
          <a:prstGeom prst="ellipse">
            <a:avLst/>
          </a:prstGeom>
          <a:solidFill>
            <a:srgbClr val="06B6D4"/>
          </a:solidFill>
          <a:ln w="12700">
            <a:solidFill>
              <a:srgbClr val="06B6D4"/>
            </a:solidFill>
            <a:prstDash val="solid"/>
          </a:ln>
        </p:spPr>
        <p:txBody>
          <a:bodyPr/>
          <a:lstStyle/>
          <a:p>
            <a:endParaRPr lang="en-US"/>
          </a:p>
        </p:txBody>
      </p:sp>
      <p:sp>
        <p:nvSpPr>
          <p:cNvPr id="28" name="Shape 26"/>
          <p:cNvSpPr/>
          <p:nvPr/>
        </p:nvSpPr>
        <p:spPr>
          <a:xfrm>
            <a:off x="7772400" y="1097280"/>
            <a:ext cx="182880" cy="182880"/>
          </a:xfrm>
          <a:prstGeom prst="ellipse">
            <a:avLst/>
          </a:prstGeom>
          <a:solidFill>
            <a:srgbClr val="06B6D4"/>
          </a:solidFill>
          <a:ln w="12700">
            <a:solidFill>
              <a:srgbClr val="06B6D4"/>
            </a:solidFill>
            <a:prstDash val="solid"/>
          </a:ln>
        </p:spPr>
        <p:txBody>
          <a:bodyPr/>
          <a:lstStyle/>
          <a:p>
            <a:endParaRPr lang="en-US"/>
          </a:p>
        </p:txBody>
      </p:sp>
      <p:sp>
        <p:nvSpPr>
          <p:cNvPr id="29" name="Shape 27"/>
          <p:cNvSpPr/>
          <p:nvPr/>
        </p:nvSpPr>
        <p:spPr>
          <a:xfrm>
            <a:off x="6126480" y="2651760"/>
            <a:ext cx="182880" cy="182880"/>
          </a:xfrm>
          <a:prstGeom prst="ellipse">
            <a:avLst/>
          </a:prstGeom>
          <a:solidFill>
            <a:srgbClr val="06B6D4"/>
          </a:solidFill>
          <a:ln w="12700">
            <a:solidFill>
              <a:srgbClr val="06B6D4"/>
            </a:solidFill>
            <a:prstDash val="solid"/>
          </a:ln>
        </p:spPr>
        <p:txBody>
          <a:bodyPr/>
          <a:lstStyle/>
          <a:p>
            <a:endParaRPr lang="en-US"/>
          </a:p>
        </p:txBody>
      </p:sp>
      <p:sp>
        <p:nvSpPr>
          <p:cNvPr id="30" name="Shape 28"/>
          <p:cNvSpPr/>
          <p:nvPr/>
        </p:nvSpPr>
        <p:spPr>
          <a:xfrm>
            <a:off x="7315200" y="3291840"/>
            <a:ext cx="182880" cy="182880"/>
          </a:xfrm>
          <a:prstGeom prst="ellipse">
            <a:avLst/>
          </a:prstGeom>
          <a:solidFill>
            <a:srgbClr val="06B6D4"/>
          </a:solidFill>
          <a:ln w="12700">
            <a:solidFill>
              <a:srgbClr val="06B6D4"/>
            </a:solidFill>
            <a:prstDash val="solid"/>
          </a:ln>
        </p:spPr>
        <p:txBody>
          <a:bodyPr/>
          <a:lstStyle/>
          <a:p>
            <a:endParaRPr lang="en-US"/>
          </a:p>
        </p:txBody>
      </p:sp>
      <p:sp>
        <p:nvSpPr>
          <p:cNvPr id="31" name="Shape 29"/>
          <p:cNvSpPr/>
          <p:nvPr/>
        </p:nvSpPr>
        <p:spPr>
          <a:xfrm>
            <a:off x="8321040" y="2194560"/>
            <a:ext cx="182880" cy="182880"/>
          </a:xfrm>
          <a:prstGeom prst="ellipse">
            <a:avLst/>
          </a:prstGeom>
          <a:solidFill>
            <a:srgbClr val="06B6D4"/>
          </a:solidFill>
          <a:ln w="12700">
            <a:solidFill>
              <a:srgbClr val="06B6D4"/>
            </a:solidFill>
            <a:prstDash val="solid"/>
          </a:ln>
        </p:spPr>
        <p:txBody>
          <a:bodyPr/>
          <a:lstStyle/>
          <a:p>
            <a:endParaRPr lang="en-US"/>
          </a:p>
        </p:txBody>
      </p:sp>
      <p:sp>
        <p:nvSpPr>
          <p:cNvPr id="32" name="Shape 30"/>
          <p:cNvSpPr/>
          <p:nvPr/>
        </p:nvSpPr>
        <p:spPr>
          <a:xfrm>
            <a:off x="6309360" y="4023360"/>
            <a:ext cx="182880" cy="182880"/>
          </a:xfrm>
          <a:prstGeom prst="ellipse">
            <a:avLst/>
          </a:prstGeom>
          <a:solidFill>
            <a:srgbClr val="06B6D4"/>
          </a:solidFill>
          <a:ln w="12700">
            <a:solidFill>
              <a:srgbClr val="06B6D4"/>
            </a:solidFill>
            <a:prstDash val="solid"/>
          </a:ln>
        </p:spPr>
        <p:txBody>
          <a:bodyPr/>
          <a:lstStyle/>
          <a:p>
            <a:endParaRPr lang="en-US"/>
          </a:p>
        </p:txBody>
      </p:sp>
      <p:sp>
        <p:nvSpPr>
          <p:cNvPr id="33" name="Shape 31"/>
          <p:cNvSpPr/>
          <p:nvPr/>
        </p:nvSpPr>
        <p:spPr>
          <a:xfrm>
            <a:off x="8595360" y="3749040"/>
            <a:ext cx="182880" cy="182880"/>
          </a:xfrm>
          <a:prstGeom prst="ellipse">
            <a:avLst/>
          </a:prstGeom>
          <a:solidFill>
            <a:srgbClr val="06B6D4"/>
          </a:solidFill>
          <a:ln w="12700">
            <a:solidFill>
              <a:srgbClr val="06B6D4"/>
            </a:solidFill>
            <a:prstDash val="solid"/>
          </a:ln>
        </p:spPr>
        <p:txBody>
          <a:bodyPr/>
          <a:lstStyle/>
          <a:p>
            <a:endParaRPr lang="en-US"/>
          </a:p>
        </p:txBody>
      </p:sp>
      <p:sp>
        <p:nvSpPr>
          <p:cNvPr id="34" name="Text 32"/>
          <p:cNvSpPr/>
          <p:nvPr/>
        </p:nvSpPr>
        <p:spPr>
          <a:xfrm>
            <a:off x="457200" y="914400"/>
            <a:ext cx="5029200" cy="914400"/>
          </a:xfrm>
          <a:prstGeom prst="rect">
            <a:avLst/>
          </a:prstGeom>
          <a:noFill/>
        </p:spPr>
        <p:txBody>
          <a:bodyPr wrap="square" rtlCol="0" anchor="ctr"/>
          <a:lstStyle/>
          <a:p>
            <a:pPr marL="0" indent="0">
              <a:buNone/>
            </a:pPr>
            <a:r>
              <a:rPr lang="en-US" sz="5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5200" dirty="0"/>
          </a:p>
        </p:txBody>
      </p:sp>
      <p:sp>
        <p:nvSpPr>
          <p:cNvPr id="35" name="Text 33"/>
          <p:cNvSpPr/>
          <p:nvPr/>
        </p:nvSpPr>
        <p:spPr>
          <a:xfrm>
            <a:off x="457200" y="1920240"/>
            <a:ext cx="5029200" cy="457200"/>
          </a:xfrm>
          <a:prstGeom prst="rect">
            <a:avLst/>
          </a:prstGeom>
          <a:noFill/>
        </p:spPr>
        <p:txBody>
          <a:bodyPr wrap="square" rtlCol="0" anchor="ctr"/>
          <a:lstStyle/>
          <a:p>
            <a:pPr marL="0" indent="0">
              <a:buNone/>
            </a:pPr>
            <a:r>
              <a:rPr lang="en-US" sz="2200" dirty="0">
                <a:solidFill>
                  <a:srgbClr val="3B82F6"/>
                </a:solidFill>
                <a:latin typeface="Calibri" panose="020F0502020204030204" pitchFamily="34" charset="0"/>
                <a:ea typeface="Calibri" panose="020F0502020204030204" pitchFamily="34" charset="-122"/>
                <a:cs typeface="Calibri" panose="020F0502020204030204" pitchFamily="34" charset="-120"/>
              </a:rPr>
              <a:t>Questions &amp; Discussion</a:t>
            </a:r>
            <a:endParaRPr lang="en-US" sz="2200" dirty="0"/>
          </a:p>
        </p:txBody>
      </p:sp>
      <p:sp>
        <p:nvSpPr>
          <p:cNvPr id="36" name="Shape 34"/>
          <p:cNvSpPr/>
          <p:nvPr/>
        </p:nvSpPr>
        <p:spPr>
          <a:xfrm>
            <a:off x="457200" y="2487168"/>
            <a:ext cx="4114800" cy="0"/>
          </a:xfrm>
          <a:prstGeom prst="line">
            <a:avLst/>
          </a:prstGeom>
          <a:noFill/>
          <a:ln w="12700">
            <a:solidFill>
              <a:srgbClr val="1E3A5F"/>
            </a:solidFill>
            <a:prstDash val="solid"/>
          </a:ln>
        </p:spPr>
        <p:txBody>
          <a:bodyPr/>
          <a:lstStyle/>
          <a:p>
            <a:endParaRPr lang="en-US"/>
          </a:p>
        </p:txBody>
      </p:sp>
      <p:sp>
        <p:nvSpPr>
          <p:cNvPr id="38" name="Text 36"/>
          <p:cNvSpPr/>
          <p:nvPr/>
        </p:nvSpPr>
        <p:spPr>
          <a:xfrm>
            <a:off x="420625" y="2651760"/>
            <a:ext cx="4572000" cy="256032"/>
          </a:xfrm>
          <a:prstGeom prst="rect">
            <a:avLst/>
          </a:prstGeom>
          <a:noFill/>
        </p:spPr>
        <p:txBody>
          <a:bodyPr wrap="square" rtlCol="0" anchor="ctr"/>
          <a:lstStyle/>
          <a:p>
            <a:pPr marL="0" indent="0">
              <a:buNone/>
            </a:pPr>
            <a:r>
              <a:rPr lang="en-US" sz="1150" dirty="0">
                <a:solidFill>
                  <a:srgbClr val="94A3B8"/>
                </a:solidFill>
              </a:rPr>
              <a:t>rz26@njit.edu  ·  shaahin.angizi@njit.edu</a:t>
            </a:r>
            <a:endParaRPr lang="en-US" sz="1150" dirty="0"/>
          </a:p>
        </p:txBody>
      </p:sp>
      <p:sp>
        <p:nvSpPr>
          <p:cNvPr id="39" name="Shape 37"/>
          <p:cNvSpPr/>
          <p:nvPr/>
        </p:nvSpPr>
        <p:spPr>
          <a:xfrm>
            <a:off x="457200" y="3291840"/>
            <a:ext cx="4389120" cy="502920"/>
          </a:xfrm>
          <a:prstGeom prst="rect">
            <a:avLst/>
          </a:prstGeom>
          <a:solidFill>
            <a:srgbClr val="162035"/>
          </a:solidFill>
          <a:ln w="19050">
            <a:solidFill>
              <a:srgbClr val="06B6D4"/>
            </a:solidFill>
            <a:prstDash val="solid"/>
          </a:ln>
          <a:effectLst>
            <a:outerShdw blurRad="101600" dist="38100" dir="8100000" algn="bl" rotWithShape="0">
              <a:srgbClr val="000000">
                <a:alpha val="25000"/>
              </a:srgbClr>
            </a:outerShdw>
          </a:effectLst>
        </p:spPr>
        <p:txBody>
          <a:bodyPr/>
          <a:lstStyle/>
          <a:p>
            <a:endParaRPr lang="en-US"/>
          </a:p>
        </p:txBody>
      </p:sp>
      <p:sp>
        <p:nvSpPr>
          <p:cNvPr id="40" name="Text 38"/>
          <p:cNvSpPr/>
          <p:nvPr/>
        </p:nvSpPr>
        <p:spPr>
          <a:xfrm>
            <a:off x="548640" y="3337560"/>
            <a:ext cx="4206240" cy="256032"/>
          </a:xfrm>
          <a:prstGeom prst="rect">
            <a:avLst/>
          </a:prstGeom>
          <a:noFill/>
        </p:spPr>
        <p:txBody>
          <a:bodyPr wrap="square" lIns="0" tIns="0" rIns="0" bIns="0" rtlCol="0" anchor="ctr"/>
          <a:lstStyle/>
          <a:p>
            <a:r>
              <a:rPr lang="en-US" sz="1200" b="1" dirty="0">
                <a:solidFill>
                  <a:srgbClr val="06B6D4"/>
                </a:solidFill>
              </a:rPr>
              <a:t>https://github.com/CMU-SAFARI/DRAM-Bender</a:t>
            </a:r>
            <a:endParaRPr lang="en-US" sz="1200" dirty="0"/>
          </a:p>
        </p:txBody>
      </p:sp>
      <p:sp>
        <p:nvSpPr>
          <p:cNvPr id="41" name="Text 39"/>
          <p:cNvSpPr/>
          <p:nvPr/>
        </p:nvSpPr>
        <p:spPr>
          <a:xfrm>
            <a:off x="548640" y="3593592"/>
            <a:ext cx="4206240" cy="182880"/>
          </a:xfrm>
          <a:prstGeom prst="rect">
            <a:avLst/>
          </a:prstGeom>
          <a:noFill/>
        </p:spPr>
        <p:txBody>
          <a:bodyPr wrap="square" lIns="0" tIns="0" rIns="0" bIns="0" rtlCol="0" anchor="ctr"/>
          <a:lstStyle/>
          <a:p>
            <a:pPr marL="0" indent="0">
              <a:buNone/>
            </a:pPr>
            <a:r>
              <a:rPr lang="en-US" sz="1000" dirty="0">
                <a:solidFill>
                  <a:srgbClr val="94A3B8"/>
                </a:solidFill>
              </a:rPr>
              <a:t>DRAM Bender source code &amp; experiments</a:t>
            </a:r>
            <a:endParaRPr lang="en-US" sz="1000" dirty="0"/>
          </a:p>
        </p:txBody>
      </p:sp>
      <p:sp>
        <p:nvSpPr>
          <p:cNvPr id="42" name="Shape 40"/>
          <p:cNvSpPr/>
          <p:nvPr/>
        </p:nvSpPr>
        <p:spPr>
          <a:xfrm>
            <a:off x="457200" y="4041648"/>
            <a:ext cx="1024128" cy="804672"/>
          </a:xfrm>
          <a:prstGeom prst="rect">
            <a:avLst/>
          </a:prstGeom>
          <a:solidFill>
            <a:srgbClr val="162035"/>
          </a:solidFill>
          <a:ln w="12700">
            <a:solidFill>
              <a:srgbClr val="3B82F6"/>
            </a:solidFill>
            <a:prstDash val="solid"/>
          </a:ln>
          <a:effectLst>
            <a:outerShdw blurRad="101600" dist="38100" dir="8100000" algn="bl" rotWithShape="0">
              <a:srgbClr val="000000">
                <a:alpha val="25000"/>
              </a:srgbClr>
            </a:outerShdw>
          </a:effectLst>
        </p:spPr>
        <p:txBody>
          <a:bodyPr/>
          <a:lstStyle/>
          <a:p>
            <a:endParaRPr lang="en-US"/>
          </a:p>
        </p:txBody>
      </p:sp>
      <p:sp>
        <p:nvSpPr>
          <p:cNvPr id="43" name="Text 41"/>
          <p:cNvSpPr/>
          <p:nvPr/>
        </p:nvSpPr>
        <p:spPr>
          <a:xfrm>
            <a:off x="457200" y="4078224"/>
            <a:ext cx="1024128" cy="384048"/>
          </a:xfrm>
          <a:prstGeom prst="rect">
            <a:avLst/>
          </a:prstGeom>
          <a:noFill/>
        </p:spPr>
        <p:txBody>
          <a:bodyPr wrap="square" lIns="0" tIns="0" rIns="0" bIns="0" rtlCol="0" anchor="ctr"/>
          <a:lstStyle/>
          <a:p>
            <a:pPr marL="0" indent="0" algn="ctr">
              <a:buNone/>
            </a:pPr>
            <a:r>
              <a:rPr lang="en-US" sz="2200" b="1" dirty="0">
                <a:solidFill>
                  <a:srgbClr val="3B82F6"/>
                </a:solidFill>
              </a:rPr>
              <a:t>23</a:t>
            </a:r>
            <a:endParaRPr lang="en-US" sz="2200" dirty="0"/>
          </a:p>
        </p:txBody>
      </p:sp>
      <p:sp>
        <p:nvSpPr>
          <p:cNvPr id="44" name="Text 42"/>
          <p:cNvSpPr/>
          <p:nvPr/>
        </p:nvSpPr>
        <p:spPr>
          <a:xfrm>
            <a:off x="457200" y="4480560"/>
            <a:ext cx="1024128" cy="201168"/>
          </a:xfrm>
          <a:prstGeom prst="rect">
            <a:avLst/>
          </a:prstGeom>
          <a:noFill/>
        </p:spPr>
        <p:txBody>
          <a:bodyPr wrap="square" lIns="0" tIns="0" rIns="0" bIns="0" rtlCol="0" anchor="ctr"/>
          <a:lstStyle/>
          <a:p>
            <a:pPr marL="0" indent="0" algn="ctr">
              <a:buNone/>
            </a:pPr>
            <a:r>
              <a:rPr lang="en-US" sz="900" dirty="0">
                <a:solidFill>
                  <a:srgbClr val="94A3B8"/>
                </a:solidFill>
              </a:rPr>
              <a:t>Slides</a:t>
            </a:r>
            <a:endParaRPr lang="en-US" sz="900" dirty="0"/>
          </a:p>
        </p:txBody>
      </p:sp>
      <p:sp>
        <p:nvSpPr>
          <p:cNvPr id="45" name="Shape 43"/>
          <p:cNvSpPr/>
          <p:nvPr/>
        </p:nvSpPr>
        <p:spPr>
          <a:xfrm>
            <a:off x="1572768" y="4041648"/>
            <a:ext cx="1024128" cy="804672"/>
          </a:xfrm>
          <a:prstGeom prst="rect">
            <a:avLst/>
          </a:prstGeom>
          <a:solidFill>
            <a:srgbClr val="162035"/>
          </a:solidFill>
          <a:ln w="12700">
            <a:solidFill>
              <a:srgbClr val="F59E0B"/>
            </a:solidFill>
            <a:prstDash val="solid"/>
          </a:ln>
          <a:effectLst>
            <a:outerShdw blurRad="101600" dist="38100" dir="8100000" algn="bl" rotWithShape="0">
              <a:srgbClr val="000000">
                <a:alpha val="25000"/>
              </a:srgbClr>
            </a:outerShdw>
          </a:effectLst>
        </p:spPr>
        <p:txBody>
          <a:bodyPr/>
          <a:lstStyle/>
          <a:p>
            <a:endParaRPr lang="en-US"/>
          </a:p>
        </p:txBody>
      </p:sp>
      <p:sp>
        <p:nvSpPr>
          <p:cNvPr id="46" name="Text 44"/>
          <p:cNvSpPr/>
          <p:nvPr/>
        </p:nvSpPr>
        <p:spPr>
          <a:xfrm>
            <a:off x="1572768" y="4078224"/>
            <a:ext cx="1024128" cy="384048"/>
          </a:xfrm>
          <a:prstGeom prst="rect">
            <a:avLst/>
          </a:prstGeom>
          <a:noFill/>
        </p:spPr>
        <p:txBody>
          <a:bodyPr wrap="square" lIns="0" tIns="0" rIns="0" bIns="0" rtlCol="0" anchor="ctr"/>
          <a:lstStyle/>
          <a:p>
            <a:pPr marL="0" indent="0" algn="ctr">
              <a:buNone/>
            </a:pPr>
            <a:r>
              <a:rPr lang="en-US" sz="2200" b="1" dirty="0">
                <a:solidFill>
                  <a:srgbClr val="F59E0B"/>
                </a:solidFill>
              </a:rPr>
              <a:t>2</a:t>
            </a:r>
            <a:endParaRPr lang="en-US" sz="2200" dirty="0"/>
          </a:p>
        </p:txBody>
      </p:sp>
      <p:sp>
        <p:nvSpPr>
          <p:cNvPr id="47" name="Text 45"/>
          <p:cNvSpPr/>
          <p:nvPr/>
        </p:nvSpPr>
        <p:spPr>
          <a:xfrm>
            <a:off x="1572768" y="4480560"/>
            <a:ext cx="1024128" cy="201168"/>
          </a:xfrm>
          <a:prstGeom prst="rect">
            <a:avLst/>
          </a:prstGeom>
          <a:noFill/>
        </p:spPr>
        <p:txBody>
          <a:bodyPr wrap="square" lIns="0" tIns="0" rIns="0" bIns="0" rtlCol="0" anchor="ctr"/>
          <a:lstStyle/>
          <a:p>
            <a:pPr marL="0" indent="0" algn="ctr">
              <a:buNone/>
            </a:pPr>
            <a:r>
              <a:rPr lang="en-US" sz="900" dirty="0">
                <a:solidFill>
                  <a:srgbClr val="94A3B8"/>
                </a:solidFill>
              </a:rPr>
              <a:t>Papers</a:t>
            </a:r>
            <a:endParaRPr lang="en-US" sz="900" dirty="0"/>
          </a:p>
        </p:txBody>
      </p:sp>
      <p:sp>
        <p:nvSpPr>
          <p:cNvPr id="48" name="Shape 46"/>
          <p:cNvSpPr/>
          <p:nvPr/>
        </p:nvSpPr>
        <p:spPr>
          <a:xfrm>
            <a:off x="2688336" y="4041648"/>
            <a:ext cx="1024128" cy="804672"/>
          </a:xfrm>
          <a:prstGeom prst="rect">
            <a:avLst/>
          </a:prstGeom>
          <a:solidFill>
            <a:srgbClr val="162035"/>
          </a:solidFill>
          <a:ln w="12700">
            <a:solidFill>
              <a:srgbClr val="22C55E"/>
            </a:solidFill>
            <a:prstDash val="solid"/>
          </a:ln>
          <a:effectLst>
            <a:outerShdw blurRad="101600" dist="38100" dir="8100000" algn="bl" rotWithShape="0">
              <a:srgbClr val="000000">
                <a:alpha val="25000"/>
              </a:srgbClr>
            </a:outerShdw>
          </a:effectLst>
        </p:spPr>
        <p:txBody>
          <a:bodyPr/>
          <a:lstStyle/>
          <a:p>
            <a:endParaRPr lang="en-US"/>
          </a:p>
        </p:txBody>
      </p:sp>
      <p:sp>
        <p:nvSpPr>
          <p:cNvPr id="49" name="Text 47"/>
          <p:cNvSpPr/>
          <p:nvPr/>
        </p:nvSpPr>
        <p:spPr>
          <a:xfrm>
            <a:off x="2688336" y="4078224"/>
            <a:ext cx="1024128" cy="384048"/>
          </a:xfrm>
          <a:prstGeom prst="rect">
            <a:avLst/>
          </a:prstGeom>
          <a:noFill/>
        </p:spPr>
        <p:txBody>
          <a:bodyPr wrap="square" lIns="0" tIns="0" rIns="0" bIns="0" rtlCol="0" anchor="ctr"/>
          <a:lstStyle/>
          <a:p>
            <a:pPr marL="0" indent="0" algn="ctr">
              <a:buNone/>
            </a:pPr>
            <a:r>
              <a:rPr lang="en-US" sz="2200" b="1" dirty="0">
                <a:solidFill>
                  <a:srgbClr val="22C55E"/>
                </a:solidFill>
              </a:rPr>
              <a:t>15+</a:t>
            </a:r>
            <a:endParaRPr lang="en-US" sz="2200" dirty="0"/>
          </a:p>
        </p:txBody>
      </p:sp>
      <p:sp>
        <p:nvSpPr>
          <p:cNvPr id="50" name="Text 48"/>
          <p:cNvSpPr/>
          <p:nvPr/>
        </p:nvSpPr>
        <p:spPr>
          <a:xfrm>
            <a:off x="2688336" y="4480560"/>
            <a:ext cx="1024128" cy="201168"/>
          </a:xfrm>
          <a:prstGeom prst="rect">
            <a:avLst/>
          </a:prstGeom>
          <a:noFill/>
        </p:spPr>
        <p:txBody>
          <a:bodyPr wrap="square" lIns="0" tIns="0" rIns="0" bIns="0" rtlCol="0" anchor="ctr"/>
          <a:lstStyle/>
          <a:p>
            <a:pPr marL="0" indent="0" algn="ctr">
              <a:buNone/>
            </a:pPr>
            <a:r>
              <a:rPr lang="en-US" sz="900" dirty="0">
                <a:solidFill>
                  <a:srgbClr val="94A3B8"/>
                </a:solidFill>
              </a:rPr>
              <a:t>DNN Models</a:t>
            </a:r>
            <a:endParaRPr lang="en-US" sz="900" dirty="0"/>
          </a:p>
        </p:txBody>
      </p:sp>
      <p:sp>
        <p:nvSpPr>
          <p:cNvPr id="51" name="Shape 49"/>
          <p:cNvSpPr/>
          <p:nvPr/>
        </p:nvSpPr>
        <p:spPr>
          <a:xfrm>
            <a:off x="3803904" y="4041648"/>
            <a:ext cx="1024128" cy="804672"/>
          </a:xfrm>
          <a:prstGeom prst="rect">
            <a:avLst/>
          </a:prstGeom>
          <a:solidFill>
            <a:srgbClr val="162035"/>
          </a:solidFill>
          <a:ln w="12700">
            <a:solidFill>
              <a:srgbClr val="8B5CF6"/>
            </a:solidFill>
            <a:prstDash val="solid"/>
          </a:ln>
          <a:effectLst>
            <a:outerShdw blurRad="101600" dist="38100" dir="8100000" algn="bl" rotWithShape="0">
              <a:srgbClr val="000000">
                <a:alpha val="25000"/>
              </a:srgbClr>
            </a:outerShdw>
          </a:effectLst>
        </p:spPr>
        <p:txBody>
          <a:bodyPr/>
          <a:lstStyle/>
          <a:p>
            <a:endParaRPr lang="en-US"/>
          </a:p>
        </p:txBody>
      </p:sp>
      <p:sp>
        <p:nvSpPr>
          <p:cNvPr id="52" name="Text 50"/>
          <p:cNvSpPr/>
          <p:nvPr/>
        </p:nvSpPr>
        <p:spPr>
          <a:xfrm>
            <a:off x="3803904" y="4078224"/>
            <a:ext cx="1024128" cy="384048"/>
          </a:xfrm>
          <a:prstGeom prst="rect">
            <a:avLst/>
          </a:prstGeom>
          <a:noFill/>
        </p:spPr>
        <p:txBody>
          <a:bodyPr wrap="square" lIns="0" tIns="0" rIns="0" bIns="0" rtlCol="0" anchor="ctr"/>
          <a:lstStyle/>
          <a:p>
            <a:pPr marL="0" indent="0" algn="ctr">
              <a:buNone/>
            </a:pPr>
            <a:r>
              <a:rPr lang="en-US" sz="2200" b="1" dirty="0">
                <a:solidFill>
                  <a:srgbClr val="8B5CF6"/>
                </a:solidFill>
              </a:rPr>
              <a:t>3</a:t>
            </a:r>
            <a:endParaRPr lang="en-US" sz="2200" dirty="0"/>
          </a:p>
        </p:txBody>
      </p:sp>
      <p:sp>
        <p:nvSpPr>
          <p:cNvPr id="53" name="Text 51"/>
          <p:cNvSpPr/>
          <p:nvPr/>
        </p:nvSpPr>
        <p:spPr>
          <a:xfrm>
            <a:off x="3803904" y="4480560"/>
            <a:ext cx="1024128" cy="201168"/>
          </a:xfrm>
          <a:prstGeom prst="rect">
            <a:avLst/>
          </a:prstGeom>
          <a:noFill/>
        </p:spPr>
        <p:txBody>
          <a:bodyPr wrap="square" lIns="0" tIns="0" rIns="0" bIns="0" rtlCol="0" anchor="ctr"/>
          <a:lstStyle/>
          <a:p>
            <a:pPr marL="0" indent="0" algn="ctr">
              <a:buNone/>
            </a:pPr>
            <a:r>
              <a:rPr lang="en-US" sz="900" dirty="0">
                <a:solidFill>
                  <a:srgbClr val="94A3B8"/>
                </a:solidFill>
              </a:rPr>
              <a:t>Datasets</a:t>
            </a:r>
            <a:endParaRPr lang="en-US" sz="900" dirty="0"/>
          </a:p>
        </p:txBody>
      </p:sp>
      <p:sp>
        <p:nvSpPr>
          <p:cNvPr id="9901" name="PageNum"/>
          <p:cNvSpPr>
            <a:spLocks noGrp="1"/>
          </p:cNvSpPr>
          <p:nvPr/>
        </p:nvSpPr>
        <p:spPr>
          <a:xfrm>
            <a:off x="8400000" y="4900000"/>
            <a:ext cx="600000" cy="220000"/>
          </a:xfrm>
          <a:prstGeom prst="rect">
            <a:avLst/>
          </a:prstGeom>
          <a:noFill/>
          <a:ln>
            <a:noFill/>
          </a:ln>
        </p:spPr>
        <p:txBody>
          <a:bodyPr anchor="ctr"/>
          <a:lstStyle/>
          <a:p>
            <a:pPr algn="r">
              <a:buNone/>
            </a:pPr>
            <a:r>
              <a:rPr lang="en-US" sz="2000" b="0" dirty="0">
                <a:solidFill>
                  <a:srgbClr val="FFFFFF"/>
                </a:solidFill>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3272</TotalTime>
  <Words>6578</Words>
  <Application>Microsoft Macintosh PowerPoint</Application>
  <PresentationFormat>On-screen Show (16:9)</PresentationFormat>
  <Paragraphs>790</Paragraphs>
  <Slides>27</Slides>
  <Notes>27</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Olgun  Ataberk</cp:lastModifiedBy>
  <cp:revision>16</cp:revision>
  <dcterms:created xsi:type="dcterms:W3CDTF">2026-03-10T13:42:00Z</dcterms:created>
  <dcterms:modified xsi:type="dcterms:W3CDTF">2026-03-22T13:09:14Z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B259CAC4C0DE4B058A5E71708A03887D_12</vt:lpwstr>
  </property>
  <property fmtid="{D5CDD505-2E9C-101B-9397-08002B2CF9AE}" pid="3" name="KSOProductBuildVer">
    <vt:lpwstr>3076-12.2.0.23196</vt:lpwstr>
  </property>
</Properties>
</file>